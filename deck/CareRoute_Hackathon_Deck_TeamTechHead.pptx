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hook: in an emergency, finding ANY bed is not the problem — finding the RIGHT bed, with the right care level, through a fair and controlled process is. CareRoute is our prototype for exactly that. We are Team Tech Head: Tanay Jorihar, Puneet Kumar Verma, Shraddha Shetty and Lalit Bist. In one line: patients submit emergency bed requests, CareRoute recommends compatible hospitals, operators verify priority, and the system tracks holds, reservations and occupancy. Note upfront that this is a seeded prototype — five demo hospitals — so judges know exactly what they are seeing.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pain without inventing numbers: these are coordination problems, not statistics. Six gaps: discovery of suitable beds, different care levels for general/ICU/ventilator, capacity awareness, competing requests, unverified severity claims, and uncoordinated handling that confuses patients. Walk the journey strip left to right, then land the core insight: availability alone is insufficient — compatibility, availability and a controlled allocation workflow must come together. That sentence is the thesis of the whole deck.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six-step flow left to right: submit, capture details (patient ID, descriptive location, severity, care type), evaluate compatibility/availability/distance/capacity, operator verification, allocation with holds/reservations/rejections, then tracking and arrival confirmation. Then the three workspaces: patients submit and track; hospital operators review, verify severity, accept or reject, and manage reservation and arrival states for their hospital; administrators manage demo requests, view emergency records and reset demo data. Emphasise the bottom line: permissions are role-scoped by design.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differentiation slide. One: compatibility — General, ICU and Ventilator are first-class requirements, not an afterthought. Two: verified priority — Critical, Urgent, Stable/unverified with FIFO for ties, and crucially a self-declared Critical does not jump the queue; an operator must verify it. Three: protected reservations — five-minute expiry on temporary holds, while confirmed reservations and occupied beds cannot be reclaimed. Underneath: reclamation lets a higher verified priority take a lower-priority hold, and everything is state- and role-controlled. We are not claiming to invent bed management or clinical validation — the innovation is the combination, working together.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honest and concrete. Backend is Laravel 8 on PHP. MySQL/MariaDB stores accounts, roles, modules and legacy hospital-management records — but the emergency demo state is deliberately separate: a JSON state file protected by file locking so concurrent updates are serialized. The frontend is server-rendered Laravel Blade with Bootstrap, custom dashboard styles and JavaScript browser polling. Auth is Laravel UI session auth plus a Sanctum-protected API user route. Tooling: Composer, Laravel Mix 6, Sass and Axios. Point at the arrows: dashboards talk to Laravel; the emergency service owns matching, priority, holds, reservations and expiry; MySQL is not the emergency state store.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the demo as a story in six beats. Admin resets the seeded state. A patient submits a Critical ICU request from an accident location and asks for Hospital C; Hospital C verifies severity and accepts — Reserved. A second ICU request then arrives: because Hospital C's confirmed reservation is protected, the recommendation engine points to Hospital B, which verifies and accepts. Finally Hospital C marks the first patient arrived and the bed flips to Occupied. Show the state chain Hold → Reserved → Occupied, plus rejection and five-minute expiry as real outcomes. The mock is illustrative; the data is seeded — say so plainly.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Trust slide. Three role cards show the permission boundary: patients are limited by ownership checks to their own requests; operators are scoped to their assigned hospital; the emergency reset is admin-only. The checklist is what exists today: session auth, CSRF protection on emergency actions, ownership checks, hospital scoping, admin-only reset, decision history, file locking that serializes concurrent JSON updates, and five-second dashboard polling for fresh state. Then be candid: this is a prototype — validation, authorization, legacy endpoints, uploads, password resets and production security still need review. We do not claim penetration testing or regulatory compliance.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explicit that this is a proposed model, not revenue we have. Customers: private hospitals, multi-hospital groups, healthcare networks, emergency coordination organisations, and public-sector programs where authorization and procurement allow. Four potential streams: SaaS subscriptions, enterprise plans priced by facilities and users, setup and integration fees, and optional reporting and analytics. The value proposition is operational: structured requests, visible reservation status, better cross-facility coordination and less manual effort — subject to validation. Growth plan is deliberately conservative: pilot first, measure processing time, recommendation accuracy, conflicts, workload and adoption, then expand. No invented market sizes or traction.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Roadmap with honest phase gates. Phase 1 hardens what we have: validation, automated tests, authorization and security review, replacing fragile demo-state assumptions with robust persistence, better auditability and error handling. Phase 2 connects reality: verified hospital bed availability, accurate location and routing, push-based real-time updates, reliable notifications, and the data-sharing agreements and access controls that must come first. Phase 3 explores intelligence: demand forecasting, discharge prediction, optimization for matching, authorized reporting, and measured pilots. The bottom panels keep judges honest with us: left is exactly what exists today; right is planned only.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loop in twenty seconds. Problem: unstructured emergency bed coordination. Solution: one workflow from request to arrival. Innovation: compatibility matching, verified priority, temporary holds and protected reservations with role-based actions. Foundation: Laravel, PHP, MySQL/MariaDB and a JSON emergency state with role-based dashboards. Opportunity: a hospital-facing SaaS and integration platform, proposed and honest about validation. Vision: verified, timely information so providers can coordinate emergency capacity. Then slow down, name the team — Tanay, Puneet, Shraddha, Lalit — say the closing line, and invite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9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10241280" y="-1463040"/>
            <a:ext cx="3291840" cy="3291840"/>
          </a:xfrm>
          <a:prstGeom prst="ellipse">
            <a:avLst/>
          </a:prstGeom>
          <a:noFill/>
          <a:ln w="31750">
            <a:solidFill>
              <a:srgbClr val="683C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05840" y="5394960"/>
            <a:ext cx="2377440" cy="2377440"/>
          </a:xfrm>
          <a:prstGeom prst="ellipse">
            <a:avLst/>
          </a:prstGeom>
          <a:noFill/>
          <a:ln w="25400">
            <a:solidFill>
              <a:srgbClr val="683C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11247120" y="5532120"/>
            <a:ext cx="146304" cy="146304"/>
          </a:xfrm>
          <a:prstGeom prst="ellipse">
            <a:avLst/>
          </a:prstGeom>
          <a:solidFill>
            <a:srgbClr val="FFD2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Oval 5"/>
          <p:cNvSpPr/>
          <p:nvPr/>
        </p:nvSpPr>
        <p:spPr>
          <a:xfrm>
            <a:off x="11466576" y="5751576"/>
            <a:ext cx="82296" cy="82296"/>
          </a:xfrm>
          <a:prstGeom prst="ellipse">
            <a:avLst/>
          </a:prstGeom>
          <a:solidFill>
            <a:srgbClr val="F326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hero_norm.png"/>
          <p:cNvPicPr>
            <a:picLocks noChangeAspect="1"/>
          </p:cNvPicPr>
          <p:nvPr/>
        </p:nvPicPr>
        <p:blipFill>
          <a:blip r:embed="rId2"/>
          <a:stretch>
            <a:fillRect/>
          </a:stretch>
        </p:blipFill>
        <p:spPr>
          <a:xfrm>
            <a:off x="6446520" y="566928"/>
            <a:ext cx="5239512" cy="2926080"/>
          </a:xfrm>
          <a:prstGeom prst="rect">
            <a:avLst/>
          </a:prstGeom>
        </p:spPr>
      </p:pic>
      <p:sp>
        <p:nvSpPr>
          <p:cNvPr id="8" name="TextBox 7"/>
          <p:cNvSpPr txBox="1"/>
          <p:nvPr/>
        </p:nvSpPr>
        <p:spPr>
          <a:xfrm>
            <a:off x="6446520" y="3529584"/>
            <a:ext cx="5239512" cy="329184"/>
          </a:xfrm>
          <a:prstGeom prst="rect">
            <a:avLst/>
          </a:prstGeom>
          <a:noFill/>
        </p:spPr>
        <p:txBody>
          <a:bodyPr wrap="square" lIns="0" rIns="0" tIns="0" bIns="0" anchor="t">
            <a:spAutoFit/>
          </a:bodyPr>
          <a:lstStyle/>
          <a:p>
            <a:pPr algn="l">
              <a:lnSpc>
                <a:spcPct val="100000"/>
              </a:lnSpc>
              <a:spcBef>
                <a:spcPts val="0"/>
              </a:spcBef>
              <a:spcAft>
                <a:spcPts val="0"/>
              </a:spcAft>
            </a:pPr>
            <a:r>
              <a:rPr sz="900" b="0" i="1">
                <a:solidFill>
                  <a:srgbClr val="C9D2F7"/>
                </a:solidFill>
                <a:latin typeface="Segoe UI"/>
              </a:rPr>
              <a:t>Emergency coordination, visualised: requests, compatible beds, verified priority.</a:t>
            </a:r>
          </a:p>
        </p:txBody>
      </p:sp>
      <p:sp>
        <p:nvSpPr>
          <p:cNvPr id="9" name="Rounded Rectangle 8"/>
          <p:cNvSpPr/>
          <p:nvPr/>
        </p:nvSpPr>
        <p:spPr>
          <a:xfrm>
            <a:off x="6446520" y="3913632"/>
            <a:ext cx="1673352" cy="713232"/>
          </a:xfrm>
          <a:prstGeom prst="roundRect">
            <a:avLst>
              <a:gd name="adj" fmla="val 16000"/>
            </a:avLst>
          </a:prstGeom>
          <a:noFill/>
          <a:ln w="1778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574536" y="3986784"/>
            <a:ext cx="457200" cy="548640"/>
          </a:xfrm>
          <a:prstGeom prst="rect">
            <a:avLst/>
          </a:prstGeom>
          <a:noFill/>
        </p:spPr>
        <p:txBody>
          <a:bodyPr wrap="square" lIns="0" rIns="0" tIns="0" bIns="0" anchor="ctr">
            <a:spAutoFit/>
          </a:bodyPr>
          <a:lstStyle/>
          <a:p>
            <a:pPr algn="l">
              <a:lnSpc>
                <a:spcPct val="100000"/>
              </a:lnSpc>
              <a:spcBef>
                <a:spcPts val="0"/>
              </a:spcBef>
              <a:spcAft>
                <a:spcPts val="0"/>
              </a:spcAft>
            </a:pPr>
            <a:r>
              <a:rPr sz="2200" b="1" i="0">
                <a:solidFill>
                  <a:srgbClr val="FFFFFF"/>
                </a:solidFill>
                <a:latin typeface="Segoe UI"/>
              </a:rPr>
              <a:t>3</a:t>
            </a:r>
          </a:p>
        </p:txBody>
      </p:sp>
      <p:sp>
        <p:nvSpPr>
          <p:cNvPr id="11" name="TextBox 10"/>
          <p:cNvSpPr txBox="1"/>
          <p:nvPr/>
        </p:nvSpPr>
        <p:spPr>
          <a:xfrm>
            <a:off x="7013448" y="3968496"/>
            <a:ext cx="1060704" cy="603504"/>
          </a:xfrm>
          <a:prstGeom prst="rect">
            <a:avLst/>
          </a:prstGeom>
          <a:noFill/>
        </p:spPr>
        <p:txBody>
          <a:bodyPr wrap="square" lIns="0" rIns="0" tIns="0" bIns="0" anchor="ctr">
            <a:spAutoFit/>
          </a:bodyPr>
          <a:lstStyle/>
          <a:p>
            <a:pPr algn="l">
              <a:lnSpc>
                <a:spcPct val="100000"/>
              </a:lnSpc>
              <a:spcBef>
                <a:spcPts val="0"/>
              </a:spcBef>
              <a:spcAft>
                <a:spcPts val="0"/>
              </a:spcAft>
            </a:pPr>
            <a:r>
              <a:rPr sz="860" b="1" i="0">
                <a:solidFill>
                  <a:srgbClr val="FFFFFF"/>
                </a:solidFill>
                <a:latin typeface="Segoe UI"/>
              </a:rPr>
              <a:t>role-based workspaces</a:t>
            </a:r>
          </a:p>
        </p:txBody>
      </p:sp>
      <p:sp>
        <p:nvSpPr>
          <p:cNvPr id="12" name="Rounded Rectangle 11"/>
          <p:cNvSpPr/>
          <p:nvPr/>
        </p:nvSpPr>
        <p:spPr>
          <a:xfrm>
            <a:off x="8229600" y="3913632"/>
            <a:ext cx="1673352" cy="713232"/>
          </a:xfrm>
          <a:prstGeom prst="roundRect">
            <a:avLst>
              <a:gd name="adj" fmla="val 16000"/>
            </a:avLst>
          </a:prstGeom>
          <a:noFill/>
          <a:ln w="17780">
            <a:solidFill>
              <a:srgbClr val="FFAA1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357616" y="3986784"/>
            <a:ext cx="457200" cy="548640"/>
          </a:xfrm>
          <a:prstGeom prst="rect">
            <a:avLst/>
          </a:prstGeom>
          <a:noFill/>
        </p:spPr>
        <p:txBody>
          <a:bodyPr wrap="square" lIns="0" rIns="0" tIns="0" bIns="0" anchor="ctr">
            <a:spAutoFit/>
          </a:bodyPr>
          <a:lstStyle/>
          <a:p>
            <a:pPr algn="l">
              <a:lnSpc>
                <a:spcPct val="100000"/>
              </a:lnSpc>
              <a:spcBef>
                <a:spcPts val="0"/>
              </a:spcBef>
              <a:spcAft>
                <a:spcPts val="0"/>
              </a:spcAft>
            </a:pPr>
            <a:r>
              <a:rPr sz="2200" b="1" i="0">
                <a:solidFill>
                  <a:srgbClr val="FFAA16"/>
                </a:solidFill>
                <a:latin typeface="Segoe UI"/>
              </a:rPr>
              <a:t>5</a:t>
            </a:r>
          </a:p>
        </p:txBody>
      </p:sp>
      <p:sp>
        <p:nvSpPr>
          <p:cNvPr id="14" name="TextBox 13"/>
          <p:cNvSpPr txBox="1"/>
          <p:nvPr/>
        </p:nvSpPr>
        <p:spPr>
          <a:xfrm>
            <a:off x="8796528" y="3968496"/>
            <a:ext cx="1060704" cy="603504"/>
          </a:xfrm>
          <a:prstGeom prst="rect">
            <a:avLst/>
          </a:prstGeom>
          <a:noFill/>
        </p:spPr>
        <p:txBody>
          <a:bodyPr wrap="square" lIns="0" rIns="0" tIns="0" bIns="0" anchor="ctr">
            <a:spAutoFit/>
          </a:bodyPr>
          <a:lstStyle/>
          <a:p>
            <a:pPr algn="l">
              <a:lnSpc>
                <a:spcPct val="100000"/>
              </a:lnSpc>
              <a:spcBef>
                <a:spcPts val="0"/>
              </a:spcBef>
              <a:spcAft>
                <a:spcPts val="0"/>
              </a:spcAft>
            </a:pPr>
            <a:r>
              <a:rPr sz="860" b="1" i="0">
                <a:solidFill>
                  <a:srgbClr val="FFFFFF"/>
                </a:solidFill>
                <a:latin typeface="Segoe UI"/>
              </a:rPr>
              <a:t>seeded demo hospitals</a:t>
            </a:r>
          </a:p>
        </p:txBody>
      </p:sp>
      <p:sp>
        <p:nvSpPr>
          <p:cNvPr id="15" name="Rounded Rectangle 14"/>
          <p:cNvSpPr/>
          <p:nvPr/>
        </p:nvSpPr>
        <p:spPr>
          <a:xfrm>
            <a:off x="10012680" y="3913632"/>
            <a:ext cx="1673352" cy="713232"/>
          </a:xfrm>
          <a:prstGeom prst="roundRect">
            <a:avLst>
              <a:gd name="adj" fmla="val 16000"/>
            </a:avLst>
          </a:prstGeom>
          <a:noFill/>
          <a:ln w="17780">
            <a:solidFill>
              <a:srgbClr val="58BE9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140696" y="3986784"/>
            <a:ext cx="457200" cy="548640"/>
          </a:xfrm>
          <a:prstGeom prst="rect">
            <a:avLst/>
          </a:prstGeom>
          <a:noFill/>
        </p:spPr>
        <p:txBody>
          <a:bodyPr wrap="square" lIns="0" rIns="0" tIns="0" bIns="0" anchor="ctr">
            <a:spAutoFit/>
          </a:bodyPr>
          <a:lstStyle/>
          <a:p>
            <a:pPr algn="l">
              <a:lnSpc>
                <a:spcPct val="100000"/>
              </a:lnSpc>
              <a:spcBef>
                <a:spcPts val="0"/>
              </a:spcBef>
              <a:spcAft>
                <a:spcPts val="0"/>
              </a:spcAft>
            </a:pPr>
            <a:r>
              <a:rPr sz="2200" b="1" i="0">
                <a:solidFill>
                  <a:srgbClr val="58BE98"/>
                </a:solidFill>
                <a:latin typeface="Segoe UI"/>
              </a:rPr>
              <a:t>3</a:t>
            </a:r>
          </a:p>
        </p:txBody>
      </p:sp>
      <p:sp>
        <p:nvSpPr>
          <p:cNvPr id="17" name="TextBox 16"/>
          <p:cNvSpPr txBox="1"/>
          <p:nvPr/>
        </p:nvSpPr>
        <p:spPr>
          <a:xfrm>
            <a:off x="10579607" y="3968496"/>
            <a:ext cx="1060704" cy="603504"/>
          </a:xfrm>
          <a:prstGeom prst="rect">
            <a:avLst/>
          </a:prstGeom>
          <a:noFill/>
        </p:spPr>
        <p:txBody>
          <a:bodyPr wrap="square" lIns="0" rIns="0" tIns="0" bIns="0" anchor="ctr">
            <a:spAutoFit/>
          </a:bodyPr>
          <a:lstStyle/>
          <a:p>
            <a:pPr algn="l">
              <a:lnSpc>
                <a:spcPct val="100000"/>
              </a:lnSpc>
              <a:spcBef>
                <a:spcPts val="0"/>
              </a:spcBef>
              <a:spcAft>
                <a:spcPts val="0"/>
              </a:spcAft>
            </a:pPr>
            <a:r>
              <a:rPr sz="860" b="1" i="0">
                <a:solidFill>
                  <a:srgbClr val="FFFFFF"/>
                </a:solidFill>
                <a:latin typeface="Segoe UI"/>
              </a:rPr>
              <a:t>bed states tracked</a:t>
            </a:r>
          </a:p>
        </p:txBody>
      </p:sp>
      <p:sp>
        <p:nvSpPr>
          <p:cNvPr id="18" name="Rounded Rectangle 17"/>
          <p:cNvSpPr/>
          <p:nvPr/>
        </p:nvSpPr>
        <p:spPr>
          <a:xfrm>
            <a:off x="6446520" y="4791456"/>
            <a:ext cx="5239512" cy="310896"/>
          </a:xfrm>
          <a:prstGeom prst="roundRect">
            <a:avLst>
              <a:gd name="adj" fmla="val 50000"/>
            </a:avLst>
          </a:prstGeom>
          <a:noFill/>
          <a:ln w="15240">
            <a:solidFill>
              <a:srgbClr val="F326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Isosceles Triangle 18"/>
          <p:cNvSpPr/>
          <p:nvPr/>
        </p:nvSpPr>
        <p:spPr>
          <a:xfrm>
            <a:off x="6566123" y="4881067"/>
            <a:ext cx="144840" cy="131673"/>
          </a:xfrm>
          <a:prstGeom prst="triangle">
            <a:avLst/>
          </a:prstGeom>
          <a:solidFill>
            <a:srgbClr val="F326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631137" y="4920569"/>
            <a:ext cx="14813" cy="4937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6630314" y="4979822"/>
            <a:ext cx="16459" cy="1645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821424" y="4791456"/>
            <a:ext cx="4754880" cy="310896"/>
          </a:xfrm>
          <a:prstGeom prst="rect">
            <a:avLst/>
          </a:prstGeom>
          <a:noFill/>
        </p:spPr>
        <p:txBody>
          <a:bodyPr wrap="square" lIns="0" rIns="0" tIns="0" bIns="0" anchor="ctr">
            <a:spAutoFit/>
          </a:bodyPr>
          <a:lstStyle/>
          <a:p>
            <a:pPr algn="l">
              <a:lnSpc>
                <a:spcPct val="100000"/>
              </a:lnSpc>
              <a:spcBef>
                <a:spcPts val="0"/>
              </a:spcBef>
              <a:spcAft>
                <a:spcPts val="0"/>
              </a:spcAft>
            </a:pPr>
            <a:r>
              <a:rPr sz="919" b="1" i="0">
                <a:solidFill>
                  <a:srgbClr val="FFFFFF"/>
                </a:solidFill>
                <a:latin typeface="Segoe UI"/>
              </a:rPr>
              <a:t>Prototype on seeded demo data — not a live hospital feed</a:t>
            </a:r>
          </a:p>
        </p:txBody>
      </p:sp>
      <p:sp>
        <p:nvSpPr>
          <p:cNvPr id="23" name="Rounded Rectangle 22"/>
          <p:cNvSpPr/>
          <p:nvPr/>
        </p:nvSpPr>
        <p:spPr>
          <a:xfrm>
            <a:off x="502920" y="420624"/>
            <a:ext cx="1444752" cy="292608"/>
          </a:xfrm>
          <a:prstGeom prst="roundRect">
            <a:avLst>
              <a:gd name="adj" fmla="val 50000"/>
            </a:avLst>
          </a:prstGeom>
          <a:solidFill>
            <a:srgbClr val="FFD2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02920" y="420624"/>
            <a:ext cx="1444752" cy="292608"/>
          </a:xfrm>
          <a:prstGeom prst="rect">
            <a:avLst/>
          </a:prstGeom>
          <a:noFill/>
        </p:spPr>
        <p:txBody>
          <a:bodyPr wrap="square" lIns="0" rIns="0" tIns="0" bIns="0" anchor="ctr">
            <a:spAutoFit/>
          </a:bodyPr>
          <a:lstStyle/>
          <a:p>
            <a:pPr algn="ctr">
              <a:lnSpc>
                <a:spcPct val="100000"/>
              </a:lnSpc>
              <a:spcBef>
                <a:spcPts val="0"/>
              </a:spcBef>
              <a:spcAft>
                <a:spcPts val="0"/>
              </a:spcAft>
            </a:pPr>
            <a:r>
              <a:rPr sz="900" b="1" i="0">
                <a:solidFill>
                  <a:srgbClr val="080808"/>
                </a:solidFill>
                <a:latin typeface="Segoe UI"/>
              </a:rPr>
              <a:t>TEAM TECH HEAD</a:t>
            </a:r>
          </a:p>
        </p:txBody>
      </p:sp>
      <p:sp>
        <p:nvSpPr>
          <p:cNvPr id="25" name="TextBox 24"/>
          <p:cNvSpPr txBox="1"/>
          <p:nvPr/>
        </p:nvSpPr>
        <p:spPr>
          <a:xfrm>
            <a:off x="2066543" y="420624"/>
            <a:ext cx="4206240" cy="292608"/>
          </a:xfrm>
          <a:prstGeom prst="rect">
            <a:avLst/>
          </a:prstGeom>
          <a:noFill/>
        </p:spPr>
        <p:txBody>
          <a:bodyPr wrap="square" lIns="0" rIns="0" tIns="0" bIns="0" anchor="ctr">
            <a:spAutoFit/>
          </a:bodyPr>
          <a:lstStyle/>
          <a:p>
            <a:pPr algn="l">
              <a:lnSpc>
                <a:spcPct val="100000"/>
              </a:lnSpc>
              <a:spcBef>
                <a:spcPts val="0"/>
              </a:spcBef>
              <a:spcAft>
                <a:spcPts val="0"/>
              </a:spcAft>
            </a:pPr>
            <a:r>
              <a:rPr sz="840" b="1" i="0">
                <a:solidFill>
                  <a:srgbClr val="C9D2F7"/>
                </a:solidFill>
                <a:latin typeface="Segoe UI"/>
              </a:rPr>
              <a:t>HEALTHCARE TECHNOLOGY  ·  EMERGENCY COORDINATION  ·  HOSPITAL MANAGEMENT</a:t>
            </a:r>
          </a:p>
        </p:txBody>
      </p:sp>
      <p:sp>
        <p:nvSpPr>
          <p:cNvPr id="26" name="Rounded Rectangle 25"/>
          <p:cNvSpPr/>
          <p:nvPr/>
        </p:nvSpPr>
        <p:spPr>
          <a:xfrm>
            <a:off x="502920" y="896112"/>
            <a:ext cx="2615184" cy="347472"/>
          </a:xfrm>
          <a:prstGeom prst="roundRect">
            <a:avLst>
              <a:gd name="adj" fmla="val 50000"/>
            </a:avLst>
          </a:prstGeom>
          <a:solidFill>
            <a:srgbClr val="F326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Isosceles Triangle 26"/>
          <p:cNvSpPr/>
          <p:nvPr/>
        </p:nvSpPr>
        <p:spPr>
          <a:xfrm>
            <a:off x="641908" y="996695"/>
            <a:ext cx="160934" cy="146304"/>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714146" y="1040587"/>
            <a:ext cx="16459"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713232" y="1106424"/>
            <a:ext cx="18288" cy="182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886968" y="896112"/>
            <a:ext cx="2194560" cy="347472"/>
          </a:xfrm>
          <a:prstGeom prst="rect">
            <a:avLst/>
          </a:prstGeom>
          <a:noFill/>
        </p:spPr>
        <p:txBody>
          <a:bodyPr wrap="square" lIns="0" rIns="0" tIns="0" bIns="0" anchor="ctr">
            <a:spAutoFit/>
          </a:bodyPr>
          <a:lstStyle/>
          <a:p>
            <a:pPr algn="l">
              <a:lnSpc>
                <a:spcPct val="100000"/>
              </a:lnSpc>
              <a:spcBef>
                <a:spcPts val="0"/>
              </a:spcBef>
              <a:spcAft>
                <a:spcPts val="0"/>
              </a:spcAft>
            </a:pPr>
            <a:r>
              <a:rPr sz="960" b="1" i="0">
                <a:solidFill>
                  <a:srgbClr val="FFFFFF"/>
                </a:solidFill>
                <a:latin typeface="Segoe UI"/>
              </a:rPr>
              <a:t>EMERGENCY BED COORDINATION</a:t>
            </a:r>
          </a:p>
        </p:txBody>
      </p:sp>
      <p:sp>
        <p:nvSpPr>
          <p:cNvPr id="31" name="TextBox 30"/>
          <p:cNvSpPr txBox="1"/>
          <p:nvPr/>
        </p:nvSpPr>
        <p:spPr>
          <a:xfrm>
            <a:off x="502920" y="1335024"/>
            <a:ext cx="5852160" cy="960120"/>
          </a:xfrm>
          <a:prstGeom prst="rect">
            <a:avLst/>
          </a:prstGeom>
          <a:noFill/>
        </p:spPr>
        <p:txBody>
          <a:bodyPr wrap="square" lIns="0" rIns="0" tIns="0" bIns="0" anchor="t">
            <a:spAutoFit/>
          </a:bodyPr>
          <a:lstStyle/>
          <a:p>
            <a:pPr algn="l">
              <a:lnSpc>
                <a:spcPct val="100000"/>
              </a:lnSpc>
              <a:spcBef>
                <a:spcPts val="0"/>
              </a:spcBef>
              <a:spcAft>
                <a:spcPts val="0"/>
              </a:spcAft>
            </a:pPr>
            <a:r>
              <a:rPr sz="6200" b="1" i="0">
                <a:solidFill>
                  <a:srgbClr val="FFFFFF"/>
                </a:solidFill>
                <a:latin typeface="Segoe UI"/>
              </a:rPr>
              <a:t>CareRoute</a:t>
            </a:r>
          </a:p>
        </p:txBody>
      </p:sp>
      <p:sp>
        <p:nvSpPr>
          <p:cNvPr id="32" name="Rectangle 31"/>
          <p:cNvSpPr/>
          <p:nvPr/>
        </p:nvSpPr>
        <p:spPr>
          <a:xfrm>
            <a:off x="521208" y="2304288"/>
            <a:ext cx="1371600" cy="68580"/>
          </a:xfrm>
          <a:prstGeom prst="rect">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502920" y="2450592"/>
            <a:ext cx="5852160" cy="420624"/>
          </a:xfrm>
          <a:prstGeom prst="rect">
            <a:avLst/>
          </a:prstGeom>
          <a:noFill/>
        </p:spPr>
        <p:txBody>
          <a:bodyPr wrap="square" lIns="0" rIns="0" tIns="0" bIns="0" anchor="t">
            <a:spAutoFit/>
          </a:bodyPr>
          <a:lstStyle/>
          <a:p>
            <a:pPr algn="l">
              <a:lnSpc>
                <a:spcPct val="100000"/>
              </a:lnSpc>
              <a:spcBef>
                <a:spcPts val="0"/>
              </a:spcBef>
              <a:spcAft>
                <a:spcPts val="0"/>
              </a:spcAft>
            </a:pPr>
            <a:r>
              <a:rPr sz="2000" b="1" i="0">
                <a:solidFill>
                  <a:srgbClr val="FFAA16"/>
                </a:solidFill>
                <a:latin typeface="Segoe UI"/>
              </a:rPr>
              <a:t>Smarter Emergency Bed Coordination</a:t>
            </a:r>
          </a:p>
        </p:txBody>
      </p:sp>
      <p:sp>
        <p:nvSpPr>
          <p:cNvPr id="34" name="Rounded Rectangle 33"/>
          <p:cNvSpPr/>
          <p:nvPr/>
        </p:nvSpPr>
        <p:spPr>
          <a:xfrm>
            <a:off x="502920" y="3127248"/>
            <a:ext cx="5806440" cy="1426464"/>
          </a:xfrm>
          <a:prstGeom prst="roundRect">
            <a:avLst>
              <a:gd name="adj" fmla="val 8000"/>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704088" y="3273552"/>
            <a:ext cx="1060704" cy="256032"/>
          </a:xfrm>
          <a:prstGeom prst="roundRect">
            <a:avLst>
              <a:gd name="adj" fmla="val 50000"/>
            </a:avLst>
          </a:prstGeom>
          <a:solidFill>
            <a:srgbClr val="080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704088" y="3273552"/>
            <a:ext cx="1060704" cy="256032"/>
          </a:xfrm>
          <a:prstGeom prst="rect">
            <a:avLst/>
          </a:prstGeom>
          <a:noFill/>
        </p:spPr>
        <p:txBody>
          <a:bodyPr wrap="square" lIns="0" rIns="0" tIns="0" bIns="0" anchor="ctr">
            <a:spAutoFit/>
          </a:bodyPr>
          <a:lstStyle/>
          <a:p>
            <a:pPr algn="ctr">
              <a:lnSpc>
                <a:spcPct val="100000"/>
              </a:lnSpc>
              <a:spcBef>
                <a:spcPts val="0"/>
              </a:spcBef>
              <a:spcAft>
                <a:spcPts val="0"/>
              </a:spcAft>
            </a:pPr>
            <a:r>
              <a:rPr sz="880" b="1" i="0">
                <a:solidFill>
                  <a:srgbClr val="FFD21A"/>
                </a:solidFill>
                <a:latin typeface="Segoe UI"/>
              </a:rPr>
              <a:t>THE PROBLEM</a:t>
            </a:r>
          </a:p>
        </p:txBody>
      </p:sp>
      <p:sp>
        <p:nvSpPr>
          <p:cNvPr id="37" name="TextBox 36"/>
          <p:cNvSpPr txBox="1"/>
          <p:nvPr/>
        </p:nvSpPr>
        <p:spPr>
          <a:xfrm>
            <a:off x="704088" y="3602736"/>
            <a:ext cx="5413248" cy="859536"/>
          </a:xfrm>
          <a:prstGeom prst="rect">
            <a:avLst/>
          </a:prstGeom>
          <a:noFill/>
        </p:spPr>
        <p:txBody>
          <a:bodyPr wrap="square" lIns="0" rIns="0" tIns="0" bIns="0" anchor="t">
            <a:spAutoFit/>
          </a:bodyPr>
          <a:lstStyle/>
          <a:p>
            <a:pPr algn="l">
              <a:lnSpc>
                <a:spcPct val="106000"/>
              </a:lnSpc>
              <a:spcBef>
                <a:spcPts val="0"/>
              </a:spcBef>
              <a:spcAft>
                <a:spcPts val="0"/>
              </a:spcAft>
            </a:pPr>
            <a:r>
              <a:rPr sz="1060" b="0" i="0">
                <a:solidFill>
                  <a:srgbClr val="080808"/>
                </a:solidFill>
                <a:latin typeface="Segoe UI"/>
              </a:rPr>
              <a:t>During medical emergencies, patients and caregivers may struggle to identify suitable hospitals with available beds and the appropriate level of care. Fragmented information about availability, capacity and emergency priority makes coordination difficult.</a:t>
            </a:r>
          </a:p>
        </p:txBody>
      </p:sp>
      <p:sp>
        <p:nvSpPr>
          <p:cNvPr id="38" name="Rounded Rectangle 37"/>
          <p:cNvSpPr/>
          <p:nvPr/>
        </p:nvSpPr>
        <p:spPr>
          <a:xfrm>
            <a:off x="502920" y="4700016"/>
            <a:ext cx="2834640" cy="117043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67512" y="4809744"/>
            <a:ext cx="2523744" cy="237744"/>
          </a:xfrm>
          <a:prstGeom prst="rect">
            <a:avLst/>
          </a:prstGeom>
          <a:noFill/>
        </p:spPr>
        <p:txBody>
          <a:bodyPr wrap="square" lIns="0" rIns="0" tIns="0" bIns="0" anchor="t">
            <a:spAutoFit/>
          </a:bodyPr>
          <a:lstStyle/>
          <a:p>
            <a:pPr algn="l">
              <a:lnSpc>
                <a:spcPct val="100000"/>
              </a:lnSpc>
              <a:spcBef>
                <a:spcPts val="0"/>
              </a:spcBef>
              <a:spcAft>
                <a:spcPts val="0"/>
              </a:spcAft>
            </a:pPr>
            <a:r>
              <a:rPr sz="900" b="1" i="0">
                <a:solidFill>
                  <a:srgbClr val="0719C8"/>
                </a:solidFill>
                <a:latin typeface="Segoe UI"/>
              </a:rPr>
              <a:t>WHAT WE ARE SOLVING</a:t>
            </a:r>
          </a:p>
        </p:txBody>
      </p:sp>
      <p:sp>
        <p:nvSpPr>
          <p:cNvPr id="40" name="TextBox 39"/>
          <p:cNvSpPr txBox="1"/>
          <p:nvPr/>
        </p:nvSpPr>
        <p:spPr>
          <a:xfrm>
            <a:off x="667512" y="5065776"/>
            <a:ext cx="2523744" cy="731520"/>
          </a:xfrm>
          <a:prstGeom prst="rect">
            <a:avLst/>
          </a:prstGeom>
          <a:noFill/>
        </p:spPr>
        <p:txBody>
          <a:bodyPr wrap="square" lIns="0" rIns="0" tIns="0" bIns="0" anchor="t">
            <a:spAutoFit/>
          </a:bodyPr>
          <a:lstStyle/>
          <a:p>
            <a:pPr algn="l">
              <a:lnSpc>
                <a:spcPct val="105000"/>
              </a:lnSpc>
              <a:spcBef>
                <a:spcPts val="0"/>
              </a:spcBef>
              <a:spcAft>
                <a:spcPts val="0"/>
              </a:spcAft>
            </a:pPr>
            <a:r>
              <a:rPr sz="940" b="0" i="0">
                <a:solidFill>
                  <a:srgbClr val="3A3F52"/>
                </a:solidFill>
                <a:latin typeface="Segoe UI"/>
              </a:rPr>
              <a:t>Coordinating emergency bed requests with suitable hospital capacity, care requirements and verified priority.</a:t>
            </a:r>
          </a:p>
        </p:txBody>
      </p:sp>
      <p:sp>
        <p:nvSpPr>
          <p:cNvPr id="41" name="Rounded Rectangle 40"/>
          <p:cNvSpPr/>
          <p:nvPr/>
        </p:nvSpPr>
        <p:spPr>
          <a:xfrm>
            <a:off x="3474720" y="4700016"/>
            <a:ext cx="2834640" cy="1170432"/>
          </a:xfrm>
          <a:prstGeom prst="roundRect">
            <a:avLst>
              <a:gd name="adj" fmla="val 10000"/>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3639312" y="4809744"/>
            <a:ext cx="2523744" cy="237744"/>
          </a:xfrm>
          <a:prstGeom prst="rect">
            <a:avLst/>
          </a:prstGeom>
          <a:noFill/>
        </p:spPr>
        <p:txBody>
          <a:bodyPr wrap="square" lIns="0" rIns="0" tIns="0" bIns="0" anchor="t">
            <a:spAutoFit/>
          </a:bodyPr>
          <a:lstStyle/>
          <a:p>
            <a:pPr algn="l">
              <a:lnSpc>
                <a:spcPct val="100000"/>
              </a:lnSpc>
              <a:spcBef>
                <a:spcPts val="0"/>
              </a:spcBef>
              <a:spcAft>
                <a:spcPts val="0"/>
              </a:spcAft>
            </a:pPr>
            <a:r>
              <a:rPr sz="900" b="1" i="0">
                <a:solidFill>
                  <a:srgbClr val="080808"/>
                </a:solidFill>
                <a:latin typeface="Segoe UI"/>
              </a:rPr>
              <a:t>OUR SOLUTION</a:t>
            </a:r>
          </a:p>
        </p:txBody>
      </p:sp>
      <p:sp>
        <p:nvSpPr>
          <p:cNvPr id="43" name="TextBox 42"/>
          <p:cNvSpPr txBox="1"/>
          <p:nvPr/>
        </p:nvSpPr>
        <p:spPr>
          <a:xfrm>
            <a:off x="3639312" y="5065776"/>
            <a:ext cx="2523744" cy="731520"/>
          </a:xfrm>
          <a:prstGeom prst="rect">
            <a:avLst/>
          </a:prstGeom>
          <a:noFill/>
        </p:spPr>
        <p:txBody>
          <a:bodyPr wrap="square" lIns="0" rIns="0" tIns="0" bIns="0" anchor="t">
            <a:spAutoFit/>
          </a:bodyPr>
          <a:lstStyle/>
          <a:p>
            <a:pPr algn="l">
              <a:lnSpc>
                <a:spcPct val="105000"/>
              </a:lnSpc>
              <a:spcBef>
                <a:spcPts val="0"/>
              </a:spcBef>
              <a:spcAft>
                <a:spcPts val="0"/>
              </a:spcAft>
            </a:pPr>
            <a:r>
              <a:rPr sz="940" b="0" i="0">
                <a:solidFill>
                  <a:srgbClr val="080808"/>
                </a:solidFill>
                <a:latin typeface="Segoe UI"/>
              </a:rPr>
              <a:t>A structured workflow: emergency requests, compatible hospital recommendations, operator verification, reservations, arrival tracking.</a:t>
            </a:r>
          </a:p>
        </p:txBody>
      </p:sp>
      <p:sp>
        <p:nvSpPr>
          <p:cNvPr id="44" name="TextBox 43"/>
          <p:cNvSpPr txBox="1"/>
          <p:nvPr/>
        </p:nvSpPr>
        <p:spPr>
          <a:xfrm>
            <a:off x="502920" y="5998464"/>
            <a:ext cx="1828800" cy="274320"/>
          </a:xfrm>
          <a:prstGeom prst="rect">
            <a:avLst/>
          </a:prstGeom>
          <a:noFill/>
        </p:spPr>
        <p:txBody>
          <a:bodyPr wrap="square" lIns="0" rIns="0" tIns="0" bIns="0" anchor="ctr">
            <a:spAutoFit/>
          </a:bodyPr>
          <a:lstStyle/>
          <a:p>
            <a:pPr algn="l">
              <a:lnSpc>
                <a:spcPct val="100000"/>
              </a:lnSpc>
              <a:spcBef>
                <a:spcPts val="0"/>
              </a:spcBef>
              <a:spcAft>
                <a:spcPts val="0"/>
              </a:spcAft>
            </a:pPr>
            <a:r>
              <a:rPr sz="960" b="1" i="0">
                <a:solidFill>
                  <a:srgbClr val="FFD21A"/>
                </a:solidFill>
                <a:latin typeface="Segoe UI"/>
              </a:rPr>
              <a:t>TEAM TECH HEAD</a:t>
            </a:r>
          </a:p>
        </p:txBody>
      </p:sp>
      <p:sp>
        <p:nvSpPr>
          <p:cNvPr id="45" name="Oval 44"/>
          <p:cNvSpPr/>
          <p:nvPr/>
        </p:nvSpPr>
        <p:spPr>
          <a:xfrm>
            <a:off x="1920240" y="5961888"/>
            <a:ext cx="310896" cy="310896"/>
          </a:xfrm>
          <a:prstGeom prst="ellipse">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1920240" y="5961888"/>
            <a:ext cx="310896" cy="310896"/>
          </a:xfrm>
          <a:prstGeom prst="rect">
            <a:avLst/>
          </a:prstGeom>
          <a:noFill/>
        </p:spPr>
        <p:txBody>
          <a:bodyPr wrap="square" lIns="0" rIns="0" tIns="0" bIns="0" anchor="ctr">
            <a:spAutoFit/>
          </a:bodyPr>
          <a:lstStyle/>
          <a:p>
            <a:pPr algn="ctr">
              <a:lnSpc>
                <a:spcPct val="100000"/>
              </a:lnSpc>
              <a:spcBef>
                <a:spcPts val="0"/>
              </a:spcBef>
              <a:spcAft>
                <a:spcPts val="0"/>
              </a:spcAft>
            </a:pPr>
            <a:r>
              <a:rPr sz="950" b="1" i="0">
                <a:solidFill>
                  <a:srgbClr val="080808"/>
                </a:solidFill>
                <a:latin typeface="Segoe UI"/>
              </a:rPr>
              <a:t>TJ</a:t>
            </a:r>
          </a:p>
        </p:txBody>
      </p:sp>
      <p:sp>
        <p:nvSpPr>
          <p:cNvPr id="47" name="TextBox 46"/>
          <p:cNvSpPr txBox="1"/>
          <p:nvPr/>
        </p:nvSpPr>
        <p:spPr>
          <a:xfrm>
            <a:off x="2286000" y="5961888"/>
            <a:ext cx="1371600" cy="310896"/>
          </a:xfrm>
          <a:prstGeom prst="rect">
            <a:avLst/>
          </a:prstGeom>
          <a:noFill/>
        </p:spPr>
        <p:txBody>
          <a:bodyPr wrap="square" lIns="0" rIns="0" tIns="0" bIns="0" anchor="ctr">
            <a:spAutoFit/>
          </a:bodyPr>
          <a:lstStyle/>
          <a:p>
            <a:pPr algn="l">
              <a:lnSpc>
                <a:spcPct val="100000"/>
              </a:lnSpc>
              <a:spcBef>
                <a:spcPts val="0"/>
              </a:spcBef>
              <a:spcAft>
                <a:spcPts val="0"/>
              </a:spcAft>
            </a:pPr>
            <a:r>
              <a:rPr sz="900" b="1" i="0">
                <a:solidFill>
                  <a:srgbClr val="FFFFFF"/>
                </a:solidFill>
                <a:latin typeface="Segoe UI"/>
              </a:rPr>
              <a:t>Tanay Jorihar</a:t>
            </a:r>
          </a:p>
        </p:txBody>
      </p:sp>
      <p:sp>
        <p:nvSpPr>
          <p:cNvPr id="48" name="Oval 47"/>
          <p:cNvSpPr/>
          <p:nvPr/>
        </p:nvSpPr>
        <p:spPr>
          <a:xfrm>
            <a:off x="3675887" y="5961888"/>
            <a:ext cx="310896" cy="310896"/>
          </a:xfrm>
          <a:prstGeom prst="ellipse">
            <a:avLst/>
          </a:prstGeom>
          <a:solidFill>
            <a:srgbClr val="F326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3675887" y="5961888"/>
            <a:ext cx="310896" cy="310896"/>
          </a:xfrm>
          <a:prstGeom prst="rect">
            <a:avLst/>
          </a:prstGeom>
          <a:noFill/>
        </p:spPr>
        <p:txBody>
          <a:bodyPr wrap="square" lIns="0" rIns="0" tIns="0" bIns="0" anchor="ctr">
            <a:spAutoFit/>
          </a:bodyPr>
          <a:lstStyle/>
          <a:p>
            <a:pPr algn="ctr">
              <a:lnSpc>
                <a:spcPct val="100000"/>
              </a:lnSpc>
              <a:spcBef>
                <a:spcPts val="0"/>
              </a:spcBef>
              <a:spcAft>
                <a:spcPts val="0"/>
              </a:spcAft>
            </a:pPr>
            <a:r>
              <a:rPr sz="950" b="1" i="0">
                <a:solidFill>
                  <a:srgbClr val="FFFFFF"/>
                </a:solidFill>
                <a:latin typeface="Segoe UI"/>
              </a:rPr>
              <a:t>PV</a:t>
            </a:r>
          </a:p>
        </p:txBody>
      </p:sp>
      <p:sp>
        <p:nvSpPr>
          <p:cNvPr id="50" name="TextBox 49"/>
          <p:cNvSpPr txBox="1"/>
          <p:nvPr/>
        </p:nvSpPr>
        <p:spPr>
          <a:xfrm>
            <a:off x="4041648" y="5961888"/>
            <a:ext cx="1371600" cy="310896"/>
          </a:xfrm>
          <a:prstGeom prst="rect">
            <a:avLst/>
          </a:prstGeom>
          <a:noFill/>
        </p:spPr>
        <p:txBody>
          <a:bodyPr wrap="square" lIns="0" rIns="0" tIns="0" bIns="0" anchor="ctr">
            <a:spAutoFit/>
          </a:bodyPr>
          <a:lstStyle/>
          <a:p>
            <a:pPr algn="l">
              <a:lnSpc>
                <a:spcPct val="100000"/>
              </a:lnSpc>
              <a:spcBef>
                <a:spcPts val="0"/>
              </a:spcBef>
              <a:spcAft>
                <a:spcPts val="0"/>
              </a:spcAft>
            </a:pPr>
            <a:r>
              <a:rPr sz="900" b="1" i="0">
                <a:solidFill>
                  <a:srgbClr val="FFFFFF"/>
                </a:solidFill>
                <a:latin typeface="Segoe UI"/>
              </a:rPr>
              <a:t>Puneet Kumar Verma</a:t>
            </a:r>
          </a:p>
        </p:txBody>
      </p:sp>
      <p:sp>
        <p:nvSpPr>
          <p:cNvPr id="51" name="Oval 50"/>
          <p:cNvSpPr/>
          <p:nvPr/>
        </p:nvSpPr>
        <p:spPr>
          <a:xfrm>
            <a:off x="5431536" y="5961888"/>
            <a:ext cx="310896" cy="310896"/>
          </a:xfrm>
          <a:prstGeom prst="ellipse">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5431536" y="5961888"/>
            <a:ext cx="310896" cy="310896"/>
          </a:xfrm>
          <a:prstGeom prst="rect">
            <a:avLst/>
          </a:prstGeom>
          <a:noFill/>
        </p:spPr>
        <p:txBody>
          <a:bodyPr wrap="square" lIns="0" rIns="0" tIns="0" bIns="0" anchor="ctr">
            <a:spAutoFit/>
          </a:bodyPr>
          <a:lstStyle/>
          <a:p>
            <a:pPr algn="ctr">
              <a:lnSpc>
                <a:spcPct val="100000"/>
              </a:lnSpc>
              <a:spcBef>
                <a:spcPts val="0"/>
              </a:spcBef>
              <a:spcAft>
                <a:spcPts val="0"/>
              </a:spcAft>
            </a:pPr>
            <a:r>
              <a:rPr sz="950" b="1" i="0">
                <a:solidFill>
                  <a:srgbClr val="080808"/>
                </a:solidFill>
                <a:latin typeface="Segoe UI"/>
              </a:rPr>
              <a:t>SS</a:t>
            </a:r>
          </a:p>
        </p:txBody>
      </p:sp>
      <p:sp>
        <p:nvSpPr>
          <p:cNvPr id="53" name="TextBox 52"/>
          <p:cNvSpPr txBox="1"/>
          <p:nvPr/>
        </p:nvSpPr>
        <p:spPr>
          <a:xfrm>
            <a:off x="5797296" y="5961888"/>
            <a:ext cx="1371600" cy="310896"/>
          </a:xfrm>
          <a:prstGeom prst="rect">
            <a:avLst/>
          </a:prstGeom>
          <a:noFill/>
        </p:spPr>
        <p:txBody>
          <a:bodyPr wrap="square" lIns="0" rIns="0" tIns="0" bIns="0" anchor="ctr">
            <a:spAutoFit/>
          </a:bodyPr>
          <a:lstStyle/>
          <a:p>
            <a:pPr algn="l">
              <a:lnSpc>
                <a:spcPct val="100000"/>
              </a:lnSpc>
              <a:spcBef>
                <a:spcPts val="0"/>
              </a:spcBef>
              <a:spcAft>
                <a:spcPts val="0"/>
              </a:spcAft>
            </a:pPr>
            <a:r>
              <a:rPr sz="900" b="1" i="0">
                <a:solidFill>
                  <a:srgbClr val="FFFFFF"/>
                </a:solidFill>
                <a:latin typeface="Segoe UI"/>
              </a:rPr>
              <a:t>Shraddha Shetty</a:t>
            </a:r>
          </a:p>
        </p:txBody>
      </p:sp>
      <p:sp>
        <p:nvSpPr>
          <p:cNvPr id="54" name="Oval 53"/>
          <p:cNvSpPr/>
          <p:nvPr/>
        </p:nvSpPr>
        <p:spPr>
          <a:xfrm>
            <a:off x="7187183" y="5961888"/>
            <a:ext cx="310896" cy="310896"/>
          </a:xfrm>
          <a:prstGeom prst="ellipse">
            <a:avLst/>
          </a:prstGeom>
          <a:solidFill>
            <a:srgbClr val="FFD2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7187183" y="5961888"/>
            <a:ext cx="310896" cy="310896"/>
          </a:xfrm>
          <a:prstGeom prst="rect">
            <a:avLst/>
          </a:prstGeom>
          <a:noFill/>
        </p:spPr>
        <p:txBody>
          <a:bodyPr wrap="square" lIns="0" rIns="0" tIns="0" bIns="0" anchor="ctr">
            <a:spAutoFit/>
          </a:bodyPr>
          <a:lstStyle/>
          <a:p>
            <a:pPr algn="ctr">
              <a:lnSpc>
                <a:spcPct val="100000"/>
              </a:lnSpc>
              <a:spcBef>
                <a:spcPts val="0"/>
              </a:spcBef>
              <a:spcAft>
                <a:spcPts val="0"/>
              </a:spcAft>
            </a:pPr>
            <a:r>
              <a:rPr sz="950" b="1" i="0">
                <a:solidFill>
                  <a:srgbClr val="080808"/>
                </a:solidFill>
                <a:latin typeface="Segoe UI"/>
              </a:rPr>
              <a:t>LB</a:t>
            </a:r>
          </a:p>
        </p:txBody>
      </p:sp>
      <p:sp>
        <p:nvSpPr>
          <p:cNvPr id="56" name="TextBox 55"/>
          <p:cNvSpPr txBox="1"/>
          <p:nvPr/>
        </p:nvSpPr>
        <p:spPr>
          <a:xfrm>
            <a:off x="7552944" y="5961888"/>
            <a:ext cx="1371600" cy="310896"/>
          </a:xfrm>
          <a:prstGeom prst="rect">
            <a:avLst/>
          </a:prstGeom>
          <a:noFill/>
        </p:spPr>
        <p:txBody>
          <a:bodyPr wrap="square" lIns="0" rIns="0" tIns="0" bIns="0" anchor="ctr">
            <a:spAutoFit/>
          </a:bodyPr>
          <a:lstStyle/>
          <a:p>
            <a:pPr algn="l">
              <a:lnSpc>
                <a:spcPct val="100000"/>
              </a:lnSpc>
              <a:spcBef>
                <a:spcPts val="0"/>
              </a:spcBef>
              <a:spcAft>
                <a:spcPts val="0"/>
              </a:spcAft>
            </a:pPr>
            <a:r>
              <a:rPr sz="900" b="1" i="0">
                <a:solidFill>
                  <a:srgbClr val="FFFFFF"/>
                </a:solidFill>
                <a:latin typeface="Segoe UI"/>
              </a:rPr>
              <a:t>Lalit Bist</a:t>
            </a:r>
          </a:p>
        </p:txBody>
      </p:sp>
      <p:sp>
        <p:nvSpPr>
          <p:cNvPr id="57" name="TextBox 56"/>
          <p:cNvSpPr txBox="1"/>
          <p:nvPr/>
        </p:nvSpPr>
        <p:spPr>
          <a:xfrm>
            <a:off x="502920" y="6492240"/>
            <a:ext cx="7315200" cy="237744"/>
          </a:xfrm>
          <a:prstGeom prst="rect">
            <a:avLst/>
          </a:prstGeom>
          <a:noFill/>
        </p:spPr>
        <p:txBody>
          <a:bodyPr wrap="square" lIns="0" rIns="0" tIns="0" bIns="0" anchor="t">
            <a:spAutoFit/>
          </a:bodyPr>
          <a:lstStyle/>
          <a:p>
            <a:pPr algn="l">
              <a:lnSpc>
                <a:spcPct val="100000"/>
              </a:lnSpc>
              <a:spcBef>
                <a:spcPts val="0"/>
              </a:spcBef>
              <a:spcAft>
                <a:spcPts val="0"/>
              </a:spcAft>
            </a:pPr>
            <a:r>
              <a:rPr sz="850" b="0" i="0">
                <a:solidFill>
                  <a:srgbClr val="FFFFFF"/>
                </a:solidFill>
                <a:latin typeface="Segoe UI"/>
              </a:rPr>
              <a:t>CareRoute — Emergency Bed Coordination System   ·   Team Tech Head</a:t>
            </a:r>
          </a:p>
        </p:txBody>
      </p:sp>
      <p:sp>
        <p:nvSpPr>
          <p:cNvPr id="58" name="TextBox 57"/>
          <p:cNvSpPr txBox="1"/>
          <p:nvPr/>
        </p:nvSpPr>
        <p:spPr>
          <a:xfrm>
            <a:off x="10378440" y="6492240"/>
            <a:ext cx="1307592" cy="237744"/>
          </a:xfrm>
          <a:prstGeom prst="rect">
            <a:avLst/>
          </a:prstGeom>
          <a:noFill/>
        </p:spPr>
        <p:txBody>
          <a:bodyPr wrap="square" lIns="0" rIns="0" tIns="0" bIns="0" anchor="t">
            <a:spAutoFit/>
          </a:bodyPr>
          <a:lstStyle/>
          <a:p>
            <a:pPr algn="r">
              <a:lnSpc>
                <a:spcPct val="100000"/>
              </a:lnSpc>
              <a:spcBef>
                <a:spcPts val="0"/>
              </a:spcBef>
              <a:spcAft>
                <a:spcPts val="0"/>
              </a:spcAft>
            </a:pPr>
            <a:r>
              <a:rPr sz="850" b="1" i="0">
                <a:solidFill>
                  <a:srgbClr val="FFFFFF"/>
                </a:solidFill>
                <a:latin typeface="Segoe UI"/>
              </a:rPr>
              <a:t>01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719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502920" y="384048"/>
            <a:ext cx="91440" cy="274320"/>
          </a:xfrm>
          <a:prstGeom prst="roundRect">
            <a:avLst>
              <a:gd name="adj" fmla="val 50000"/>
            </a:avLst>
          </a:prstGeom>
          <a:solidFill>
            <a:srgbClr val="F326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85800" y="397764"/>
            <a:ext cx="7863840" cy="274320"/>
          </a:xfrm>
          <a:prstGeom prst="rect">
            <a:avLst/>
          </a:prstGeom>
          <a:noFill/>
        </p:spPr>
        <p:txBody>
          <a:bodyPr wrap="square" lIns="0" rIns="0" tIns="0" bIns="0" anchor="ctr">
            <a:spAutoFit/>
          </a:bodyPr>
          <a:lstStyle/>
          <a:p>
            <a:pPr algn="l">
              <a:lnSpc>
                <a:spcPct val="100000"/>
              </a:lnSpc>
              <a:spcBef>
                <a:spcPts val="0"/>
              </a:spcBef>
              <a:spcAft>
                <a:spcPts val="0"/>
              </a:spcAft>
            </a:pPr>
            <a:r>
              <a:rPr sz="1050" b="1" i="0">
                <a:solidFill>
                  <a:srgbClr val="F3265B"/>
                </a:solidFill>
                <a:latin typeface="Segoe UI"/>
              </a:rPr>
              <a:t>01  ·  THE REAL-WORLD PROBLEM</a:t>
            </a:r>
          </a:p>
        </p:txBody>
      </p:sp>
      <p:sp>
        <p:nvSpPr>
          <p:cNvPr id="6" name="TextBox 5"/>
          <p:cNvSpPr txBox="1"/>
          <p:nvPr/>
        </p:nvSpPr>
        <p:spPr>
          <a:xfrm>
            <a:off x="502920" y="749808"/>
            <a:ext cx="11155680" cy="566928"/>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0719C8"/>
                </a:solidFill>
                <a:latin typeface="Segoe UI"/>
              </a:rPr>
              <a:t>When Every Minute Matters, Coordination Matters</a:t>
            </a:r>
          </a:p>
        </p:txBody>
      </p:sp>
      <p:sp>
        <p:nvSpPr>
          <p:cNvPr id="7" name="TextBox 6"/>
          <p:cNvSpPr txBox="1"/>
          <p:nvPr/>
        </p:nvSpPr>
        <p:spPr>
          <a:xfrm>
            <a:off x="502920" y="1353312"/>
            <a:ext cx="10607040" cy="310896"/>
          </a:xfrm>
          <a:prstGeom prst="rect">
            <a:avLst/>
          </a:prstGeom>
          <a:noFill/>
        </p:spPr>
        <p:txBody>
          <a:bodyPr wrap="square" lIns="0" rIns="0" tIns="0" bIns="0" anchor="t">
            <a:spAutoFit/>
          </a:bodyPr>
          <a:lstStyle/>
          <a:p>
            <a:pPr algn="l">
              <a:lnSpc>
                <a:spcPct val="100000"/>
              </a:lnSpc>
              <a:spcBef>
                <a:spcPts val="0"/>
              </a:spcBef>
              <a:spcAft>
                <a:spcPts val="0"/>
              </a:spcAft>
            </a:pPr>
            <a:r>
              <a:rPr sz="1250" b="0" i="0">
                <a:solidFill>
                  <a:srgbClr val="3A3F52"/>
                </a:solidFill>
                <a:latin typeface="Segoe UI"/>
              </a:rPr>
              <a:t>The coordination gaps CareRoute is designed to close.</a:t>
            </a:r>
          </a:p>
        </p:txBody>
      </p:sp>
      <p:sp>
        <p:nvSpPr>
          <p:cNvPr id="8" name="Rounded Rectangle 7"/>
          <p:cNvSpPr/>
          <p:nvPr/>
        </p:nvSpPr>
        <p:spPr>
          <a:xfrm>
            <a:off x="502920" y="1810512"/>
            <a:ext cx="3669487" cy="1389888"/>
          </a:xfrm>
          <a:prstGeom prst="roundRect">
            <a:avLst>
              <a:gd name="adj" fmla="val 7000"/>
            </a:avLst>
          </a:prstGeom>
          <a:solidFill>
            <a:srgbClr val="FFFFFF"/>
          </a:solidFill>
          <a:ln w="12700">
            <a:solidFill>
              <a:srgbClr val="D8DC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02920" y="1938528"/>
            <a:ext cx="68580" cy="1133856"/>
          </a:xfrm>
          <a:prstGeom prst="rect">
            <a:avLst/>
          </a:prstGeom>
          <a:solidFill>
            <a:srgbClr val="F326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40664" y="2029967"/>
            <a:ext cx="475488" cy="475488"/>
          </a:xfrm>
          <a:prstGeom prst="ellipse">
            <a:avLst/>
          </a:prstGeom>
          <a:noFill/>
          <a:ln w="20320">
            <a:solidFill>
              <a:srgbClr val="F326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916594" y="2163104"/>
            <a:ext cx="123626" cy="123626"/>
          </a:xfrm>
          <a:prstGeom prst="ellipse">
            <a:avLst/>
          </a:prstGeom>
          <a:solidFill>
            <a:srgbClr val="F326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Isosceles Triangle 11"/>
          <p:cNvSpPr/>
          <p:nvPr/>
        </p:nvSpPr>
        <p:spPr>
          <a:xfrm rot="10800000">
            <a:off x="926104" y="2262957"/>
            <a:ext cx="104607" cy="109362"/>
          </a:xfrm>
          <a:prstGeom prst="triangle">
            <a:avLst/>
          </a:prstGeom>
          <a:solidFill>
            <a:srgbClr val="F326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362456" y="2048256"/>
            <a:ext cx="2645359" cy="310896"/>
          </a:xfrm>
          <a:prstGeom prst="rect">
            <a:avLst/>
          </a:prstGeom>
          <a:noFill/>
        </p:spPr>
        <p:txBody>
          <a:bodyPr wrap="square" lIns="0" rIns="0" tIns="0" bIns="0" anchor="ctr">
            <a:spAutoFit/>
          </a:bodyPr>
          <a:lstStyle/>
          <a:p>
            <a:pPr algn="l">
              <a:lnSpc>
                <a:spcPct val="100000"/>
              </a:lnSpc>
              <a:spcBef>
                <a:spcPts val="0"/>
              </a:spcBef>
              <a:spcAft>
                <a:spcPts val="0"/>
              </a:spcAft>
            </a:pPr>
            <a:r>
              <a:rPr sz="1250" b="1" i="0">
                <a:solidFill>
                  <a:srgbClr val="080808"/>
                </a:solidFill>
                <a:latin typeface="Segoe UI"/>
              </a:rPr>
              <a:t>Hard to find the right bed</a:t>
            </a:r>
          </a:p>
        </p:txBody>
      </p:sp>
      <p:sp>
        <p:nvSpPr>
          <p:cNvPr id="14" name="TextBox 13"/>
          <p:cNvSpPr txBox="1"/>
          <p:nvPr/>
        </p:nvSpPr>
        <p:spPr>
          <a:xfrm>
            <a:off x="758952" y="2560320"/>
            <a:ext cx="3157423" cy="566928"/>
          </a:xfrm>
          <a:prstGeom prst="rect">
            <a:avLst/>
          </a:prstGeom>
          <a:noFill/>
        </p:spPr>
        <p:txBody>
          <a:bodyPr wrap="square" lIns="0" rIns="0" tIns="0" bIns="0" anchor="t">
            <a:spAutoFit/>
          </a:bodyPr>
          <a:lstStyle/>
          <a:p>
            <a:pPr algn="l">
              <a:lnSpc>
                <a:spcPct val="105000"/>
              </a:lnSpc>
              <a:spcBef>
                <a:spcPts val="0"/>
              </a:spcBef>
              <a:spcAft>
                <a:spcPts val="0"/>
              </a:spcAft>
            </a:pPr>
            <a:r>
              <a:rPr sz="960" b="0" i="0">
                <a:solidFill>
                  <a:srgbClr val="3A3F52"/>
                </a:solidFill>
                <a:latin typeface="Segoe UI"/>
              </a:rPr>
              <a:t>Patients may struggle to identify hospitals with suitable available beds.</a:t>
            </a:r>
          </a:p>
        </p:txBody>
      </p:sp>
      <p:sp>
        <p:nvSpPr>
          <p:cNvPr id="15" name="Rounded Rectangle 14"/>
          <p:cNvSpPr/>
          <p:nvPr/>
        </p:nvSpPr>
        <p:spPr>
          <a:xfrm>
            <a:off x="4263847" y="1810512"/>
            <a:ext cx="3669487" cy="1389888"/>
          </a:xfrm>
          <a:prstGeom prst="roundRect">
            <a:avLst>
              <a:gd name="adj" fmla="val 7000"/>
            </a:avLst>
          </a:prstGeom>
          <a:solidFill>
            <a:srgbClr val="FFFFFF"/>
          </a:solidFill>
          <a:ln w="12700">
            <a:solidFill>
              <a:srgbClr val="D8DC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4263847" y="1938528"/>
            <a:ext cx="68580" cy="1133856"/>
          </a:xfrm>
          <a:prstGeom prst="rect">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4501591" y="2029967"/>
            <a:ext cx="475488" cy="475488"/>
          </a:xfrm>
          <a:prstGeom prst="ellipse">
            <a:avLst/>
          </a:prstGeom>
          <a:noFill/>
          <a:ln w="20320">
            <a:solidFill>
              <a:srgbClr val="FFAA1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Cross 17"/>
          <p:cNvSpPr/>
          <p:nvPr/>
        </p:nvSpPr>
        <p:spPr>
          <a:xfrm>
            <a:off x="4663257" y="2191633"/>
            <a:ext cx="152156" cy="152156"/>
          </a:xfrm>
          <a:prstGeom prst="plus">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123383" y="2048256"/>
            <a:ext cx="2645359" cy="310896"/>
          </a:xfrm>
          <a:prstGeom prst="rect">
            <a:avLst/>
          </a:prstGeom>
          <a:noFill/>
        </p:spPr>
        <p:txBody>
          <a:bodyPr wrap="square" lIns="0" rIns="0" tIns="0" bIns="0" anchor="ctr">
            <a:spAutoFit/>
          </a:bodyPr>
          <a:lstStyle/>
          <a:p>
            <a:pPr algn="l">
              <a:lnSpc>
                <a:spcPct val="100000"/>
              </a:lnSpc>
              <a:spcBef>
                <a:spcPts val="0"/>
              </a:spcBef>
              <a:spcAft>
                <a:spcPts val="0"/>
              </a:spcAft>
            </a:pPr>
            <a:r>
              <a:rPr sz="1250" b="1" i="0">
                <a:solidFill>
                  <a:srgbClr val="080808"/>
                </a:solidFill>
                <a:latin typeface="Segoe UI"/>
              </a:rPr>
              <a:t>Care levels differ</a:t>
            </a:r>
          </a:p>
        </p:txBody>
      </p:sp>
      <p:sp>
        <p:nvSpPr>
          <p:cNvPr id="20" name="TextBox 19"/>
          <p:cNvSpPr txBox="1"/>
          <p:nvPr/>
        </p:nvSpPr>
        <p:spPr>
          <a:xfrm>
            <a:off x="4519879" y="2560320"/>
            <a:ext cx="3157423" cy="566928"/>
          </a:xfrm>
          <a:prstGeom prst="rect">
            <a:avLst/>
          </a:prstGeom>
          <a:noFill/>
        </p:spPr>
        <p:txBody>
          <a:bodyPr wrap="square" lIns="0" rIns="0" tIns="0" bIns="0" anchor="t">
            <a:spAutoFit/>
          </a:bodyPr>
          <a:lstStyle/>
          <a:p>
            <a:pPr algn="l">
              <a:lnSpc>
                <a:spcPct val="105000"/>
              </a:lnSpc>
              <a:spcBef>
                <a:spcPts val="0"/>
              </a:spcBef>
              <a:spcAft>
                <a:spcPts val="0"/>
              </a:spcAft>
            </a:pPr>
            <a:r>
              <a:rPr sz="960" b="0" i="0">
                <a:solidFill>
                  <a:srgbClr val="3A3F52"/>
                </a:solidFill>
                <a:latin typeface="Segoe UI"/>
              </a:rPr>
              <a:t>General beds, ICU beds and ventilator needs require different levels of care.</a:t>
            </a:r>
          </a:p>
        </p:txBody>
      </p:sp>
      <p:sp>
        <p:nvSpPr>
          <p:cNvPr id="21" name="Rounded Rectangle 20"/>
          <p:cNvSpPr/>
          <p:nvPr/>
        </p:nvSpPr>
        <p:spPr>
          <a:xfrm>
            <a:off x="8024774" y="1810512"/>
            <a:ext cx="3669487" cy="1389888"/>
          </a:xfrm>
          <a:prstGeom prst="roundRect">
            <a:avLst>
              <a:gd name="adj" fmla="val 7000"/>
            </a:avLst>
          </a:prstGeom>
          <a:solidFill>
            <a:srgbClr val="FFFFFF"/>
          </a:solidFill>
          <a:ln w="12700">
            <a:solidFill>
              <a:srgbClr val="D8DC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8024774" y="1938528"/>
            <a:ext cx="68580" cy="1133856"/>
          </a:xfrm>
          <a:prstGeom prst="rect">
            <a:avLst/>
          </a:prstGeom>
          <a:solidFill>
            <a:srgbClr val="683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8262518" y="2029967"/>
            <a:ext cx="475488" cy="475488"/>
          </a:xfrm>
          <a:prstGeom prst="ellipse">
            <a:avLst/>
          </a:prstGeom>
          <a:noFill/>
          <a:ln w="20320">
            <a:solidFill>
              <a:srgbClr val="683C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8409919" y="2272466"/>
            <a:ext cx="42793" cy="95097"/>
          </a:xfrm>
          <a:prstGeom prst="rect">
            <a:avLst/>
          </a:prstGeom>
          <a:solidFill>
            <a:srgbClr val="683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8478865" y="2191633"/>
            <a:ext cx="42793" cy="175930"/>
          </a:xfrm>
          <a:prstGeom prst="rect">
            <a:avLst/>
          </a:prstGeom>
          <a:solidFill>
            <a:srgbClr val="683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8547811" y="2234427"/>
            <a:ext cx="42793" cy="133136"/>
          </a:xfrm>
          <a:prstGeom prst="rect">
            <a:avLst/>
          </a:prstGeom>
          <a:solidFill>
            <a:srgbClr val="683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884310" y="2048256"/>
            <a:ext cx="2645359" cy="310896"/>
          </a:xfrm>
          <a:prstGeom prst="rect">
            <a:avLst/>
          </a:prstGeom>
          <a:noFill/>
        </p:spPr>
        <p:txBody>
          <a:bodyPr wrap="square" lIns="0" rIns="0" tIns="0" bIns="0" anchor="ctr">
            <a:spAutoFit/>
          </a:bodyPr>
          <a:lstStyle/>
          <a:p>
            <a:pPr algn="l">
              <a:lnSpc>
                <a:spcPct val="100000"/>
              </a:lnSpc>
              <a:spcBef>
                <a:spcPts val="0"/>
              </a:spcBef>
              <a:spcAft>
                <a:spcPts val="0"/>
              </a:spcAft>
            </a:pPr>
            <a:r>
              <a:rPr sz="1250" b="1" i="0">
                <a:solidFill>
                  <a:srgbClr val="080808"/>
                </a:solidFill>
                <a:latin typeface="Segoe UI"/>
              </a:rPr>
              <a:t>Capacity must count</a:t>
            </a:r>
          </a:p>
        </p:txBody>
      </p:sp>
      <p:sp>
        <p:nvSpPr>
          <p:cNvPr id="28" name="TextBox 27"/>
          <p:cNvSpPr txBox="1"/>
          <p:nvPr/>
        </p:nvSpPr>
        <p:spPr>
          <a:xfrm>
            <a:off x="8280806" y="2560320"/>
            <a:ext cx="3157423" cy="566928"/>
          </a:xfrm>
          <a:prstGeom prst="rect">
            <a:avLst/>
          </a:prstGeom>
          <a:noFill/>
        </p:spPr>
        <p:txBody>
          <a:bodyPr wrap="square" lIns="0" rIns="0" tIns="0" bIns="0" anchor="t">
            <a:spAutoFit/>
          </a:bodyPr>
          <a:lstStyle/>
          <a:p>
            <a:pPr algn="l">
              <a:lnSpc>
                <a:spcPct val="105000"/>
              </a:lnSpc>
              <a:spcBef>
                <a:spcPts val="0"/>
              </a:spcBef>
              <a:spcAft>
                <a:spcPts val="0"/>
              </a:spcAft>
            </a:pPr>
            <a:r>
              <a:rPr sz="960" b="0" i="0">
                <a:solidFill>
                  <a:srgbClr val="3A3F52"/>
                </a:solidFill>
                <a:latin typeface="Segoe UI"/>
              </a:rPr>
              <a:t>Availability and capacity must be considered when recommending a hospital.</a:t>
            </a:r>
          </a:p>
        </p:txBody>
      </p:sp>
      <p:sp>
        <p:nvSpPr>
          <p:cNvPr id="29" name="Rounded Rectangle 28"/>
          <p:cNvSpPr/>
          <p:nvPr/>
        </p:nvSpPr>
        <p:spPr>
          <a:xfrm>
            <a:off x="502920" y="3310128"/>
            <a:ext cx="3669487" cy="1389888"/>
          </a:xfrm>
          <a:prstGeom prst="roundRect">
            <a:avLst>
              <a:gd name="adj" fmla="val 7000"/>
            </a:avLst>
          </a:prstGeom>
          <a:solidFill>
            <a:srgbClr val="FFFFFF"/>
          </a:solidFill>
          <a:ln w="12700">
            <a:solidFill>
              <a:srgbClr val="D8DC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502920" y="3438144"/>
            <a:ext cx="68580" cy="1133856"/>
          </a:xfrm>
          <a:prstGeom prst="rect">
            <a:avLst/>
          </a:prstGeom>
          <a:solidFill>
            <a:srgbClr val="F326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740664" y="3529584"/>
            <a:ext cx="475488" cy="475488"/>
          </a:xfrm>
          <a:prstGeom prst="ellipse">
            <a:avLst/>
          </a:prstGeom>
          <a:noFill/>
          <a:ln w="20320">
            <a:solidFill>
              <a:srgbClr val="F326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Lightning Bolt 31"/>
          <p:cNvSpPr/>
          <p:nvPr/>
        </p:nvSpPr>
        <p:spPr>
          <a:xfrm>
            <a:off x="892820" y="3662720"/>
            <a:ext cx="171175" cy="209214"/>
          </a:xfrm>
          <a:prstGeom prst="lightningBolt">
            <a:avLst/>
          </a:prstGeom>
          <a:solidFill>
            <a:srgbClr val="F326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1362456" y="3547872"/>
            <a:ext cx="2645359" cy="310896"/>
          </a:xfrm>
          <a:prstGeom prst="rect">
            <a:avLst/>
          </a:prstGeom>
          <a:noFill/>
        </p:spPr>
        <p:txBody>
          <a:bodyPr wrap="square" lIns="0" rIns="0" tIns="0" bIns="0" anchor="ctr">
            <a:spAutoFit/>
          </a:bodyPr>
          <a:lstStyle/>
          <a:p>
            <a:pPr algn="l">
              <a:lnSpc>
                <a:spcPct val="100000"/>
              </a:lnSpc>
              <a:spcBef>
                <a:spcPts val="0"/>
              </a:spcBef>
              <a:spcAft>
                <a:spcPts val="0"/>
              </a:spcAft>
            </a:pPr>
            <a:r>
              <a:rPr sz="1250" b="1" i="0">
                <a:solidFill>
                  <a:srgbClr val="080808"/>
                </a:solidFill>
                <a:latin typeface="Segoe UI"/>
              </a:rPr>
              <a:t>Requests compete</a:t>
            </a:r>
          </a:p>
        </p:txBody>
      </p:sp>
      <p:sp>
        <p:nvSpPr>
          <p:cNvPr id="34" name="TextBox 33"/>
          <p:cNvSpPr txBox="1"/>
          <p:nvPr/>
        </p:nvSpPr>
        <p:spPr>
          <a:xfrm>
            <a:off x="758952" y="4059936"/>
            <a:ext cx="3157423" cy="566928"/>
          </a:xfrm>
          <a:prstGeom prst="rect">
            <a:avLst/>
          </a:prstGeom>
          <a:noFill/>
        </p:spPr>
        <p:txBody>
          <a:bodyPr wrap="square" lIns="0" rIns="0" tIns="0" bIns="0" anchor="t">
            <a:spAutoFit/>
          </a:bodyPr>
          <a:lstStyle/>
          <a:p>
            <a:pPr algn="l">
              <a:lnSpc>
                <a:spcPct val="105000"/>
              </a:lnSpc>
              <a:spcBef>
                <a:spcPts val="0"/>
              </a:spcBef>
              <a:spcAft>
                <a:spcPts val="0"/>
              </a:spcAft>
            </a:pPr>
            <a:r>
              <a:rPr sz="960" b="0" i="0">
                <a:solidFill>
                  <a:srgbClr val="3A3F52"/>
                </a:solidFill>
                <a:latin typeface="Segoe UI"/>
              </a:rPr>
              <a:t>Multiple emergency requests can compete for the same limited capacity.</a:t>
            </a:r>
          </a:p>
        </p:txBody>
      </p:sp>
      <p:sp>
        <p:nvSpPr>
          <p:cNvPr id="35" name="Rounded Rectangle 34"/>
          <p:cNvSpPr/>
          <p:nvPr/>
        </p:nvSpPr>
        <p:spPr>
          <a:xfrm>
            <a:off x="4263847" y="3310128"/>
            <a:ext cx="3669487" cy="1389888"/>
          </a:xfrm>
          <a:prstGeom prst="roundRect">
            <a:avLst>
              <a:gd name="adj" fmla="val 7000"/>
            </a:avLst>
          </a:prstGeom>
          <a:solidFill>
            <a:srgbClr val="FFFFFF"/>
          </a:solidFill>
          <a:ln w="12700">
            <a:solidFill>
              <a:srgbClr val="D8DC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4263847" y="3438144"/>
            <a:ext cx="68580" cy="1133856"/>
          </a:xfrm>
          <a:prstGeom prst="rect">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Oval 36"/>
          <p:cNvSpPr/>
          <p:nvPr/>
        </p:nvSpPr>
        <p:spPr>
          <a:xfrm>
            <a:off x="4501591" y="3529584"/>
            <a:ext cx="475488" cy="475488"/>
          </a:xfrm>
          <a:prstGeom prst="ellipse">
            <a:avLst/>
          </a:prstGeom>
          <a:noFill/>
          <a:ln w="20320">
            <a:solidFill>
              <a:srgbClr val="FFAA1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Isosceles Triangle 37"/>
          <p:cNvSpPr/>
          <p:nvPr/>
        </p:nvSpPr>
        <p:spPr>
          <a:xfrm>
            <a:off x="4634727" y="3672230"/>
            <a:ext cx="209214" cy="190195"/>
          </a:xfrm>
          <a:prstGeom prst="triangle">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4728636" y="3729288"/>
            <a:ext cx="21396" cy="7132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Oval 39"/>
          <p:cNvSpPr/>
          <p:nvPr/>
        </p:nvSpPr>
        <p:spPr>
          <a:xfrm>
            <a:off x="4727448" y="3814876"/>
            <a:ext cx="23774" cy="23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5123383" y="3547872"/>
            <a:ext cx="2645359" cy="310896"/>
          </a:xfrm>
          <a:prstGeom prst="rect">
            <a:avLst/>
          </a:prstGeom>
          <a:noFill/>
        </p:spPr>
        <p:txBody>
          <a:bodyPr wrap="square" lIns="0" rIns="0" tIns="0" bIns="0" anchor="ctr">
            <a:spAutoFit/>
          </a:bodyPr>
          <a:lstStyle/>
          <a:p>
            <a:pPr algn="l">
              <a:lnSpc>
                <a:spcPct val="100000"/>
              </a:lnSpc>
              <a:spcBef>
                <a:spcPts val="0"/>
              </a:spcBef>
              <a:spcAft>
                <a:spcPts val="0"/>
              </a:spcAft>
            </a:pPr>
            <a:r>
              <a:rPr sz="1250" b="1" i="0">
                <a:solidFill>
                  <a:srgbClr val="080808"/>
                </a:solidFill>
                <a:latin typeface="Segoe UI"/>
              </a:rPr>
              <a:t>Unverified severity</a:t>
            </a:r>
          </a:p>
        </p:txBody>
      </p:sp>
      <p:sp>
        <p:nvSpPr>
          <p:cNvPr id="42" name="TextBox 41"/>
          <p:cNvSpPr txBox="1"/>
          <p:nvPr/>
        </p:nvSpPr>
        <p:spPr>
          <a:xfrm>
            <a:off x="4519879" y="4059936"/>
            <a:ext cx="3157423" cy="566928"/>
          </a:xfrm>
          <a:prstGeom prst="rect">
            <a:avLst/>
          </a:prstGeom>
          <a:noFill/>
        </p:spPr>
        <p:txBody>
          <a:bodyPr wrap="square" lIns="0" rIns="0" tIns="0" bIns="0" anchor="t">
            <a:spAutoFit/>
          </a:bodyPr>
          <a:lstStyle/>
          <a:p>
            <a:pPr algn="l">
              <a:lnSpc>
                <a:spcPct val="105000"/>
              </a:lnSpc>
              <a:spcBef>
                <a:spcPts val="0"/>
              </a:spcBef>
              <a:spcAft>
                <a:spcPts val="0"/>
              </a:spcAft>
            </a:pPr>
            <a:r>
              <a:rPr sz="960" b="0" i="0">
                <a:solidFill>
                  <a:srgbClr val="3A3F52"/>
                </a:solidFill>
                <a:latin typeface="Segoe UI"/>
              </a:rPr>
              <a:t>Unverified severity claims can complicate fair prioritization.</a:t>
            </a:r>
          </a:p>
        </p:txBody>
      </p:sp>
      <p:sp>
        <p:nvSpPr>
          <p:cNvPr id="43" name="Rounded Rectangle 42"/>
          <p:cNvSpPr/>
          <p:nvPr/>
        </p:nvSpPr>
        <p:spPr>
          <a:xfrm>
            <a:off x="8024774" y="3310128"/>
            <a:ext cx="3669487" cy="1389888"/>
          </a:xfrm>
          <a:prstGeom prst="roundRect">
            <a:avLst>
              <a:gd name="adj" fmla="val 7000"/>
            </a:avLst>
          </a:prstGeom>
          <a:solidFill>
            <a:srgbClr val="FFFFFF"/>
          </a:solidFill>
          <a:ln w="12700">
            <a:solidFill>
              <a:srgbClr val="D8DC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8024774" y="3438144"/>
            <a:ext cx="68580" cy="1133856"/>
          </a:xfrm>
          <a:prstGeom prst="rect">
            <a:avLst/>
          </a:prstGeom>
          <a:solidFill>
            <a:srgbClr val="683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Oval 44"/>
          <p:cNvSpPr/>
          <p:nvPr/>
        </p:nvSpPr>
        <p:spPr>
          <a:xfrm>
            <a:off x="8262518" y="3529584"/>
            <a:ext cx="475488" cy="475488"/>
          </a:xfrm>
          <a:prstGeom prst="ellipse">
            <a:avLst/>
          </a:prstGeom>
          <a:noFill/>
          <a:ln w="20320">
            <a:solidFill>
              <a:srgbClr val="683C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Chevron 45"/>
          <p:cNvSpPr/>
          <p:nvPr/>
        </p:nvSpPr>
        <p:spPr>
          <a:xfrm>
            <a:off x="8386145" y="3700759"/>
            <a:ext cx="109362" cy="133136"/>
          </a:xfrm>
          <a:prstGeom prst="chevron">
            <a:avLst/>
          </a:prstGeom>
          <a:solidFill>
            <a:srgbClr val="683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Chevron 46"/>
          <p:cNvSpPr/>
          <p:nvPr/>
        </p:nvSpPr>
        <p:spPr>
          <a:xfrm>
            <a:off x="8481242" y="3700759"/>
            <a:ext cx="109362" cy="133136"/>
          </a:xfrm>
          <a:prstGeom prst="chevron">
            <a:avLst/>
          </a:prstGeom>
          <a:solidFill>
            <a:srgbClr val="683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8884310" y="3547872"/>
            <a:ext cx="2645359" cy="310896"/>
          </a:xfrm>
          <a:prstGeom prst="rect">
            <a:avLst/>
          </a:prstGeom>
          <a:noFill/>
        </p:spPr>
        <p:txBody>
          <a:bodyPr wrap="square" lIns="0" rIns="0" tIns="0" bIns="0" anchor="ctr">
            <a:spAutoFit/>
          </a:bodyPr>
          <a:lstStyle/>
          <a:p>
            <a:pPr algn="l">
              <a:lnSpc>
                <a:spcPct val="100000"/>
              </a:lnSpc>
              <a:spcBef>
                <a:spcPts val="0"/>
              </a:spcBef>
              <a:spcAft>
                <a:spcPts val="0"/>
              </a:spcAft>
            </a:pPr>
            <a:r>
              <a:rPr sz="1250" b="1" i="0">
                <a:solidFill>
                  <a:srgbClr val="080808"/>
                </a:solidFill>
                <a:latin typeface="Segoe UI"/>
              </a:rPr>
              <a:t>Confusing journeys</a:t>
            </a:r>
          </a:p>
        </p:txBody>
      </p:sp>
      <p:sp>
        <p:nvSpPr>
          <p:cNvPr id="49" name="TextBox 48"/>
          <p:cNvSpPr txBox="1"/>
          <p:nvPr/>
        </p:nvSpPr>
        <p:spPr>
          <a:xfrm>
            <a:off x="8280806" y="4059936"/>
            <a:ext cx="3157423" cy="566928"/>
          </a:xfrm>
          <a:prstGeom prst="rect">
            <a:avLst/>
          </a:prstGeom>
          <a:noFill/>
        </p:spPr>
        <p:txBody>
          <a:bodyPr wrap="square" lIns="0" rIns="0" tIns="0" bIns="0" anchor="t">
            <a:spAutoFit/>
          </a:bodyPr>
          <a:lstStyle/>
          <a:p>
            <a:pPr algn="l">
              <a:lnSpc>
                <a:spcPct val="105000"/>
              </a:lnSpc>
              <a:spcBef>
                <a:spcPts val="0"/>
              </a:spcBef>
              <a:spcAft>
                <a:spcPts val="0"/>
              </a:spcAft>
            </a:pPr>
            <a:r>
              <a:rPr sz="960" b="0" i="0">
                <a:solidFill>
                  <a:srgbClr val="3A3F52"/>
                </a:solidFill>
                <a:latin typeface="Segoe UI"/>
              </a:rPr>
              <a:t>Uncoordinated request handling can make the patient journey confusing.</a:t>
            </a:r>
          </a:p>
        </p:txBody>
      </p:sp>
      <p:sp>
        <p:nvSpPr>
          <p:cNvPr id="50" name="Rounded Rectangle 49"/>
          <p:cNvSpPr/>
          <p:nvPr/>
        </p:nvSpPr>
        <p:spPr>
          <a:xfrm>
            <a:off x="822960" y="4846320"/>
            <a:ext cx="2395728" cy="420624"/>
          </a:xfrm>
          <a:prstGeom prst="roundRect">
            <a:avLst>
              <a:gd name="adj" fmla="val 50000"/>
            </a:avLst>
          </a:prstGeom>
          <a:solidFill>
            <a:srgbClr val="FFFFFF"/>
          </a:solidFill>
          <a:ln w="17780">
            <a:solidFill>
              <a:srgbClr val="F326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Oval 50"/>
          <p:cNvSpPr/>
          <p:nvPr/>
        </p:nvSpPr>
        <p:spPr>
          <a:xfrm>
            <a:off x="1061069" y="4968118"/>
            <a:ext cx="72420" cy="72420"/>
          </a:xfrm>
          <a:prstGeom prst="ellipse">
            <a:avLst/>
          </a:prstGeom>
          <a:solidFill>
            <a:srgbClr val="F326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ound Same Side Corner Rectangle 51"/>
          <p:cNvSpPr/>
          <p:nvPr/>
        </p:nvSpPr>
        <p:spPr>
          <a:xfrm>
            <a:off x="1020836" y="5068702"/>
            <a:ext cx="152887" cy="88513"/>
          </a:xfrm>
          <a:prstGeom prst="round2SameRect">
            <a:avLst/>
          </a:prstGeom>
          <a:solidFill>
            <a:srgbClr val="F326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1298448" y="4846320"/>
            <a:ext cx="1847088" cy="420624"/>
          </a:xfrm>
          <a:prstGeom prst="rect">
            <a:avLst/>
          </a:prstGeom>
          <a:noFill/>
        </p:spPr>
        <p:txBody>
          <a:bodyPr wrap="square" lIns="0" rIns="0" tIns="0" bIns="0" anchor="ctr">
            <a:spAutoFit/>
          </a:bodyPr>
          <a:lstStyle/>
          <a:p>
            <a:pPr algn="l">
              <a:lnSpc>
                <a:spcPct val="100000"/>
              </a:lnSpc>
              <a:spcBef>
                <a:spcPts val="0"/>
              </a:spcBef>
              <a:spcAft>
                <a:spcPts val="0"/>
              </a:spcAft>
            </a:pPr>
            <a:r>
              <a:rPr sz="960" b="1" i="0">
                <a:solidFill>
                  <a:srgbClr val="080808"/>
                </a:solidFill>
                <a:latin typeface="Segoe UI"/>
              </a:rPr>
              <a:t>Patient in emergency</a:t>
            </a:r>
          </a:p>
        </p:txBody>
      </p:sp>
      <p:sp>
        <p:nvSpPr>
          <p:cNvPr id="54" name="Right Arrow 53"/>
          <p:cNvSpPr/>
          <p:nvPr/>
        </p:nvSpPr>
        <p:spPr>
          <a:xfrm>
            <a:off x="3246120" y="4983480"/>
            <a:ext cx="274320" cy="146304"/>
          </a:xfrm>
          <a:prstGeom prst="rightArrow">
            <a:avLst>
              <a:gd name="adj1" fmla="val 55000"/>
              <a:gd name="adj2" fmla="val 34000"/>
            </a:avLst>
          </a:prstGeom>
          <a:solidFill>
            <a:srgbClr val="D8DC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Rounded Rectangle 54"/>
          <p:cNvSpPr/>
          <p:nvPr/>
        </p:nvSpPr>
        <p:spPr>
          <a:xfrm>
            <a:off x="3547872" y="4846320"/>
            <a:ext cx="2395728" cy="420624"/>
          </a:xfrm>
          <a:prstGeom prst="roundRect">
            <a:avLst>
              <a:gd name="adj" fmla="val 50000"/>
            </a:avLst>
          </a:prstGeom>
          <a:solidFill>
            <a:srgbClr val="FFFFFF"/>
          </a:solidFill>
          <a:ln w="17780">
            <a:solidFill>
              <a:srgbClr val="FFAA1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Oval 55"/>
          <p:cNvSpPr/>
          <p:nvPr/>
        </p:nvSpPr>
        <p:spPr>
          <a:xfrm>
            <a:off x="3769888" y="4968118"/>
            <a:ext cx="104607" cy="104607"/>
          </a:xfrm>
          <a:prstGeom prst="ellipse">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Isosceles Triangle 56"/>
          <p:cNvSpPr/>
          <p:nvPr/>
        </p:nvSpPr>
        <p:spPr>
          <a:xfrm rot="10800000">
            <a:off x="3777935" y="5052608"/>
            <a:ext cx="88513" cy="92537"/>
          </a:xfrm>
          <a:prstGeom prst="triangle">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4023360" y="4846320"/>
            <a:ext cx="1847088" cy="420624"/>
          </a:xfrm>
          <a:prstGeom prst="rect">
            <a:avLst/>
          </a:prstGeom>
          <a:noFill/>
        </p:spPr>
        <p:txBody>
          <a:bodyPr wrap="square" lIns="0" rIns="0" tIns="0" bIns="0" anchor="ctr">
            <a:spAutoFit/>
          </a:bodyPr>
          <a:lstStyle/>
          <a:p>
            <a:pPr algn="l">
              <a:lnSpc>
                <a:spcPct val="100000"/>
              </a:lnSpc>
              <a:spcBef>
                <a:spcPts val="0"/>
              </a:spcBef>
              <a:spcAft>
                <a:spcPts val="0"/>
              </a:spcAft>
            </a:pPr>
            <a:r>
              <a:rPr sz="960" b="1" i="0">
                <a:solidFill>
                  <a:srgbClr val="080808"/>
                </a:solidFill>
                <a:latin typeface="Segoe UI"/>
              </a:rPr>
              <a:t>Hospital search</a:t>
            </a:r>
          </a:p>
        </p:txBody>
      </p:sp>
      <p:sp>
        <p:nvSpPr>
          <p:cNvPr id="59" name="Right Arrow 58"/>
          <p:cNvSpPr/>
          <p:nvPr/>
        </p:nvSpPr>
        <p:spPr>
          <a:xfrm>
            <a:off x="5971032" y="4983480"/>
            <a:ext cx="274320" cy="146304"/>
          </a:xfrm>
          <a:prstGeom prst="rightArrow">
            <a:avLst>
              <a:gd name="adj1" fmla="val 55000"/>
              <a:gd name="adj2" fmla="val 34000"/>
            </a:avLst>
          </a:prstGeom>
          <a:solidFill>
            <a:srgbClr val="D8DC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Rounded Rectangle 59"/>
          <p:cNvSpPr/>
          <p:nvPr/>
        </p:nvSpPr>
        <p:spPr>
          <a:xfrm>
            <a:off x="6272783" y="4846320"/>
            <a:ext cx="2395728" cy="420624"/>
          </a:xfrm>
          <a:prstGeom prst="roundRect">
            <a:avLst>
              <a:gd name="adj" fmla="val 50000"/>
            </a:avLst>
          </a:prstGeom>
          <a:solidFill>
            <a:srgbClr val="FFFFFF"/>
          </a:solidFill>
          <a:ln w="17780">
            <a:solidFill>
              <a:srgbClr val="683C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Pentagon 60"/>
          <p:cNvSpPr/>
          <p:nvPr/>
        </p:nvSpPr>
        <p:spPr>
          <a:xfrm rot="10800000">
            <a:off x="6466636" y="4968118"/>
            <a:ext cx="160934" cy="124724"/>
          </a:xfrm>
          <a:prstGeom prst="homePlate">
            <a:avLst/>
          </a:prstGeom>
          <a:solidFill>
            <a:srgbClr val="683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Rectangle 61"/>
          <p:cNvSpPr/>
          <p:nvPr/>
        </p:nvSpPr>
        <p:spPr>
          <a:xfrm rot="2700000">
            <a:off x="6494800" y="5036515"/>
            <a:ext cx="60350" cy="221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Rectangle 62"/>
          <p:cNvSpPr/>
          <p:nvPr/>
        </p:nvSpPr>
        <p:spPr>
          <a:xfrm rot="18900000">
            <a:off x="6531010" y="5004328"/>
            <a:ext cx="84490" cy="221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6748271" y="4846320"/>
            <a:ext cx="1847088" cy="420624"/>
          </a:xfrm>
          <a:prstGeom prst="rect">
            <a:avLst/>
          </a:prstGeom>
          <a:noFill/>
        </p:spPr>
        <p:txBody>
          <a:bodyPr wrap="square" lIns="0" rIns="0" tIns="0" bIns="0" anchor="ctr">
            <a:spAutoFit/>
          </a:bodyPr>
          <a:lstStyle/>
          <a:p>
            <a:pPr algn="l">
              <a:lnSpc>
                <a:spcPct val="100000"/>
              </a:lnSpc>
              <a:spcBef>
                <a:spcPts val="0"/>
              </a:spcBef>
              <a:spcAft>
                <a:spcPts val="0"/>
              </a:spcAft>
            </a:pPr>
            <a:r>
              <a:rPr sz="960" b="1" i="0">
                <a:solidFill>
                  <a:srgbClr val="080808"/>
                </a:solidFill>
                <a:latin typeface="Segoe UI"/>
              </a:rPr>
              <a:t>Priority &amp; capacity check</a:t>
            </a:r>
          </a:p>
        </p:txBody>
      </p:sp>
      <p:sp>
        <p:nvSpPr>
          <p:cNvPr id="65" name="Right Arrow 64"/>
          <p:cNvSpPr/>
          <p:nvPr/>
        </p:nvSpPr>
        <p:spPr>
          <a:xfrm>
            <a:off x="8695944" y="4983480"/>
            <a:ext cx="274320" cy="146304"/>
          </a:xfrm>
          <a:prstGeom prst="rightArrow">
            <a:avLst>
              <a:gd name="adj1" fmla="val 55000"/>
              <a:gd name="adj2" fmla="val 34000"/>
            </a:avLst>
          </a:prstGeom>
          <a:solidFill>
            <a:srgbClr val="D8DC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Rounded Rectangle 65"/>
          <p:cNvSpPr/>
          <p:nvPr/>
        </p:nvSpPr>
        <p:spPr>
          <a:xfrm>
            <a:off x="8997696" y="4846320"/>
            <a:ext cx="2395728" cy="420624"/>
          </a:xfrm>
          <a:prstGeom prst="roundRect">
            <a:avLst>
              <a:gd name="adj" fmla="val 50000"/>
            </a:avLst>
          </a:prstGeom>
          <a:solidFill>
            <a:srgbClr val="FFFFFF"/>
          </a:solidFill>
          <a:ln w="17780">
            <a:solidFill>
              <a:srgbClr val="58BE9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Rectangle 66"/>
          <p:cNvSpPr/>
          <p:nvPr/>
        </p:nvSpPr>
        <p:spPr>
          <a:xfrm>
            <a:off x="9179478" y="5068702"/>
            <a:ext cx="185074" cy="28163"/>
          </a:xfrm>
          <a:prstGeom prst="rect">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Rectangle 67"/>
          <p:cNvSpPr/>
          <p:nvPr/>
        </p:nvSpPr>
        <p:spPr>
          <a:xfrm>
            <a:off x="9179478" y="4988234"/>
            <a:ext cx="24140" cy="116677"/>
          </a:xfrm>
          <a:prstGeom prst="rect">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Rectangle 68"/>
          <p:cNvSpPr/>
          <p:nvPr/>
        </p:nvSpPr>
        <p:spPr>
          <a:xfrm>
            <a:off x="9344436" y="5044561"/>
            <a:ext cx="20116" cy="72420"/>
          </a:xfrm>
          <a:prstGeom prst="rect">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Rounded Rectangle 69"/>
          <p:cNvSpPr/>
          <p:nvPr/>
        </p:nvSpPr>
        <p:spPr>
          <a:xfrm>
            <a:off x="9211665" y="5016398"/>
            <a:ext cx="60350" cy="40233"/>
          </a:xfrm>
          <a:prstGeom prst="roundRect">
            <a:avLst>
              <a:gd name="adj" fmla="val 40000"/>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Rounded Rectangle 70"/>
          <p:cNvSpPr/>
          <p:nvPr/>
        </p:nvSpPr>
        <p:spPr>
          <a:xfrm>
            <a:off x="9211665" y="5036515"/>
            <a:ext cx="124724" cy="36210"/>
          </a:xfrm>
          <a:prstGeom prst="roundRect">
            <a:avLst>
              <a:gd name="adj" fmla="val 40000"/>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TextBox 71"/>
          <p:cNvSpPr txBox="1"/>
          <p:nvPr/>
        </p:nvSpPr>
        <p:spPr>
          <a:xfrm>
            <a:off x="9473184" y="4846320"/>
            <a:ext cx="1847088" cy="420624"/>
          </a:xfrm>
          <a:prstGeom prst="rect">
            <a:avLst/>
          </a:prstGeom>
          <a:noFill/>
        </p:spPr>
        <p:txBody>
          <a:bodyPr wrap="square" lIns="0" rIns="0" tIns="0" bIns="0" anchor="ctr">
            <a:spAutoFit/>
          </a:bodyPr>
          <a:lstStyle/>
          <a:p>
            <a:pPr algn="l">
              <a:lnSpc>
                <a:spcPct val="100000"/>
              </a:lnSpc>
              <a:spcBef>
                <a:spcPts val="0"/>
              </a:spcBef>
              <a:spcAft>
                <a:spcPts val="0"/>
              </a:spcAft>
            </a:pPr>
            <a:r>
              <a:rPr sz="960" b="1" i="0">
                <a:solidFill>
                  <a:srgbClr val="080808"/>
                </a:solidFill>
                <a:latin typeface="Segoe UI"/>
              </a:rPr>
              <a:t>Bed confirmation</a:t>
            </a:r>
          </a:p>
        </p:txBody>
      </p:sp>
      <p:sp>
        <p:nvSpPr>
          <p:cNvPr id="73" name="Rounded Rectangle 72"/>
          <p:cNvSpPr/>
          <p:nvPr/>
        </p:nvSpPr>
        <p:spPr>
          <a:xfrm>
            <a:off x="502920" y="5449824"/>
            <a:ext cx="11185855" cy="914400"/>
          </a:xfrm>
          <a:prstGeom prst="roundRect">
            <a:avLst>
              <a:gd name="adj" fmla="val 10000"/>
            </a:avLst>
          </a:prstGeom>
          <a:solidFill>
            <a:srgbClr val="0719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Rectangle 73"/>
          <p:cNvSpPr/>
          <p:nvPr/>
        </p:nvSpPr>
        <p:spPr>
          <a:xfrm>
            <a:off x="502920" y="5559552"/>
            <a:ext cx="82296" cy="694944"/>
          </a:xfrm>
          <a:prstGeom prst="rect">
            <a:avLst/>
          </a:prstGeom>
          <a:solidFill>
            <a:srgbClr val="F326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Rounded Rectangle 74"/>
          <p:cNvSpPr/>
          <p:nvPr/>
        </p:nvSpPr>
        <p:spPr>
          <a:xfrm>
            <a:off x="777240" y="5577840"/>
            <a:ext cx="1225296" cy="256032"/>
          </a:xfrm>
          <a:prstGeom prst="roundRect">
            <a:avLst>
              <a:gd name="adj" fmla="val 50000"/>
            </a:avLst>
          </a:prstGeom>
          <a:solidFill>
            <a:srgbClr val="FFD2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TextBox 75"/>
          <p:cNvSpPr txBox="1"/>
          <p:nvPr/>
        </p:nvSpPr>
        <p:spPr>
          <a:xfrm>
            <a:off x="777240" y="5577840"/>
            <a:ext cx="1225296" cy="256032"/>
          </a:xfrm>
          <a:prstGeom prst="rect">
            <a:avLst/>
          </a:prstGeom>
          <a:noFill/>
        </p:spPr>
        <p:txBody>
          <a:bodyPr wrap="square" lIns="0" rIns="0" tIns="0" bIns="0" anchor="ctr">
            <a:spAutoFit/>
          </a:bodyPr>
          <a:lstStyle/>
          <a:p>
            <a:pPr algn="ctr">
              <a:lnSpc>
                <a:spcPct val="100000"/>
              </a:lnSpc>
              <a:spcBef>
                <a:spcPts val="0"/>
              </a:spcBef>
              <a:spcAft>
                <a:spcPts val="0"/>
              </a:spcAft>
            </a:pPr>
            <a:r>
              <a:rPr sz="880" b="1" i="0">
                <a:solidFill>
                  <a:srgbClr val="080808"/>
                </a:solidFill>
                <a:latin typeface="Segoe UI"/>
              </a:rPr>
              <a:t>CORE INSIGHT</a:t>
            </a:r>
          </a:p>
        </p:txBody>
      </p:sp>
      <p:sp>
        <p:nvSpPr>
          <p:cNvPr id="77" name="TextBox 76"/>
          <p:cNvSpPr txBox="1"/>
          <p:nvPr/>
        </p:nvSpPr>
        <p:spPr>
          <a:xfrm>
            <a:off x="777240" y="5870448"/>
            <a:ext cx="10607040" cy="457200"/>
          </a:xfrm>
          <a:prstGeom prst="rect">
            <a:avLst/>
          </a:prstGeom>
          <a:noFill/>
        </p:spPr>
        <p:txBody>
          <a:bodyPr wrap="square" lIns="0" rIns="0" tIns="0" bIns="0" anchor="ctr">
            <a:spAutoFit/>
          </a:bodyPr>
          <a:lstStyle/>
          <a:p>
            <a:pPr algn="l">
              <a:lnSpc>
                <a:spcPct val="100000"/>
              </a:lnSpc>
              <a:spcBef>
                <a:spcPts val="0"/>
              </a:spcBef>
              <a:spcAft>
                <a:spcPts val="0"/>
              </a:spcAft>
            </a:pPr>
            <a:r>
              <a:rPr sz="1450" b="1" i="0">
                <a:solidFill>
                  <a:srgbClr val="FFFFFF"/>
                </a:solidFill>
                <a:latin typeface="Segoe UI"/>
              </a:rPr>
              <a:t>Finding an available bed is not enough. The bed must be compatible, available, and allocated through a controlled workflow.</a:t>
            </a:r>
          </a:p>
        </p:txBody>
      </p:sp>
      <p:sp>
        <p:nvSpPr>
          <p:cNvPr id="78" name="TextBox 77"/>
          <p:cNvSpPr txBox="1"/>
          <p:nvPr/>
        </p:nvSpPr>
        <p:spPr>
          <a:xfrm>
            <a:off x="502920" y="6492240"/>
            <a:ext cx="7315200" cy="237744"/>
          </a:xfrm>
          <a:prstGeom prst="rect">
            <a:avLst/>
          </a:prstGeom>
          <a:noFill/>
        </p:spPr>
        <p:txBody>
          <a:bodyPr wrap="square" lIns="0" rIns="0" tIns="0" bIns="0" anchor="t">
            <a:spAutoFit/>
          </a:bodyPr>
          <a:lstStyle/>
          <a:p>
            <a:pPr algn="l">
              <a:lnSpc>
                <a:spcPct val="100000"/>
              </a:lnSpc>
              <a:spcBef>
                <a:spcPts val="0"/>
              </a:spcBef>
              <a:spcAft>
                <a:spcPts val="0"/>
              </a:spcAft>
            </a:pPr>
            <a:r>
              <a:rPr sz="850" b="0" i="0">
                <a:solidFill>
                  <a:srgbClr val="8A90A6"/>
                </a:solidFill>
                <a:latin typeface="Segoe UI"/>
              </a:rPr>
              <a:t>CareRoute — Emergency Bed Coordination System   ·   Team Tech Head</a:t>
            </a:r>
          </a:p>
        </p:txBody>
      </p:sp>
      <p:sp>
        <p:nvSpPr>
          <p:cNvPr id="79" name="TextBox 78"/>
          <p:cNvSpPr txBox="1"/>
          <p:nvPr/>
        </p:nvSpPr>
        <p:spPr>
          <a:xfrm>
            <a:off x="10378440" y="6492240"/>
            <a:ext cx="1307592" cy="237744"/>
          </a:xfrm>
          <a:prstGeom prst="rect">
            <a:avLst/>
          </a:prstGeom>
          <a:noFill/>
        </p:spPr>
        <p:txBody>
          <a:bodyPr wrap="square" lIns="0" rIns="0" tIns="0" bIns="0" anchor="t">
            <a:spAutoFit/>
          </a:bodyPr>
          <a:lstStyle/>
          <a:p>
            <a:pPr algn="r">
              <a:lnSpc>
                <a:spcPct val="100000"/>
              </a:lnSpc>
              <a:spcBef>
                <a:spcPts val="0"/>
              </a:spcBef>
              <a:spcAft>
                <a:spcPts val="0"/>
              </a:spcAft>
            </a:pPr>
            <a:r>
              <a:rPr sz="850" b="1" i="0">
                <a:solidFill>
                  <a:srgbClr val="8A90A6"/>
                </a:solidFill>
                <a:latin typeface="Segoe UI"/>
              </a:rPr>
              <a:t>02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719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502920" y="384048"/>
            <a:ext cx="91440" cy="274320"/>
          </a:xfrm>
          <a:prstGeom prst="roundRect">
            <a:avLst>
              <a:gd name="adj" fmla="val 50000"/>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85800" y="397764"/>
            <a:ext cx="7863840" cy="274320"/>
          </a:xfrm>
          <a:prstGeom prst="rect">
            <a:avLst/>
          </a:prstGeom>
          <a:noFill/>
        </p:spPr>
        <p:txBody>
          <a:bodyPr wrap="square" lIns="0" rIns="0" tIns="0" bIns="0" anchor="ctr">
            <a:spAutoFit/>
          </a:bodyPr>
          <a:lstStyle/>
          <a:p>
            <a:pPr algn="l">
              <a:lnSpc>
                <a:spcPct val="100000"/>
              </a:lnSpc>
              <a:spcBef>
                <a:spcPts val="0"/>
              </a:spcBef>
              <a:spcAft>
                <a:spcPts val="0"/>
              </a:spcAft>
            </a:pPr>
            <a:r>
              <a:rPr sz="1050" b="1" i="0">
                <a:solidFill>
                  <a:srgbClr val="FFAA16"/>
                </a:solidFill>
                <a:latin typeface="Segoe UI"/>
              </a:rPr>
              <a:t>02  ·  OUR SOLUTION</a:t>
            </a:r>
          </a:p>
        </p:txBody>
      </p:sp>
      <p:sp>
        <p:nvSpPr>
          <p:cNvPr id="6" name="TextBox 5"/>
          <p:cNvSpPr txBox="1"/>
          <p:nvPr/>
        </p:nvSpPr>
        <p:spPr>
          <a:xfrm>
            <a:off x="502920" y="749808"/>
            <a:ext cx="11155680" cy="566928"/>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0719C8"/>
                </a:solidFill>
                <a:latin typeface="Segoe UI"/>
              </a:rPr>
              <a:t>One Coordinated Workflow for Emergency Bed Requests</a:t>
            </a:r>
          </a:p>
        </p:txBody>
      </p:sp>
      <p:sp>
        <p:nvSpPr>
          <p:cNvPr id="7" name="TextBox 6"/>
          <p:cNvSpPr txBox="1"/>
          <p:nvPr/>
        </p:nvSpPr>
        <p:spPr>
          <a:xfrm>
            <a:off x="502920" y="1353312"/>
            <a:ext cx="10607040" cy="310896"/>
          </a:xfrm>
          <a:prstGeom prst="rect">
            <a:avLst/>
          </a:prstGeom>
          <a:noFill/>
        </p:spPr>
        <p:txBody>
          <a:bodyPr wrap="square" lIns="0" rIns="0" tIns="0" bIns="0" anchor="t">
            <a:spAutoFit/>
          </a:bodyPr>
          <a:lstStyle/>
          <a:p>
            <a:pPr algn="l">
              <a:lnSpc>
                <a:spcPct val="100000"/>
              </a:lnSpc>
              <a:spcBef>
                <a:spcPts val="0"/>
              </a:spcBef>
              <a:spcAft>
                <a:spcPts val="0"/>
              </a:spcAft>
            </a:pPr>
            <a:r>
              <a:rPr sz="1250" b="0" i="0">
                <a:solidFill>
                  <a:srgbClr val="3A3F52"/>
                </a:solidFill>
                <a:latin typeface="Segoe UI"/>
              </a:rPr>
              <a:t>From the first request to arrival confirmation — one structured, role-based flow.</a:t>
            </a:r>
          </a:p>
        </p:txBody>
      </p:sp>
      <p:sp>
        <p:nvSpPr>
          <p:cNvPr id="8" name="Rounded Rectangle 7"/>
          <p:cNvSpPr/>
          <p:nvPr/>
        </p:nvSpPr>
        <p:spPr>
          <a:xfrm>
            <a:off x="577443" y="1773936"/>
            <a:ext cx="1687068" cy="1371600"/>
          </a:xfrm>
          <a:prstGeom prst="roundRect">
            <a:avLst>
              <a:gd name="adj" fmla="val 9000"/>
            </a:avLst>
          </a:prstGeom>
          <a:solidFill>
            <a:srgbClr val="FFFFFF"/>
          </a:solidFill>
          <a:ln w="12700">
            <a:solidFill>
              <a:srgbClr val="D8DC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705459" y="1901952"/>
            <a:ext cx="365760" cy="365760"/>
          </a:xfrm>
          <a:prstGeom prst="ellipse">
            <a:avLst/>
          </a:prstGeom>
          <a:solidFill>
            <a:srgbClr val="F326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05459" y="1901952"/>
            <a:ext cx="365760" cy="365760"/>
          </a:xfrm>
          <a:prstGeom prst="rect">
            <a:avLst/>
          </a:prstGeom>
          <a:noFill/>
        </p:spPr>
        <p:txBody>
          <a:bodyPr wrap="square" lIns="0" rIns="0" tIns="0" bIns="0" anchor="ctr">
            <a:spAutoFit/>
          </a:bodyPr>
          <a:lstStyle/>
          <a:p>
            <a:pPr algn="ctr">
              <a:lnSpc>
                <a:spcPct val="100000"/>
              </a:lnSpc>
              <a:spcBef>
                <a:spcPts val="0"/>
              </a:spcBef>
              <a:spcAft>
                <a:spcPts val="0"/>
              </a:spcAft>
            </a:pPr>
            <a:r>
              <a:rPr sz="1300" b="1" i="0">
                <a:solidFill>
                  <a:srgbClr val="FFFFFF"/>
                </a:solidFill>
                <a:latin typeface="Segoe UI"/>
              </a:rPr>
              <a:t>1</a:t>
            </a:r>
          </a:p>
        </p:txBody>
      </p:sp>
      <p:sp>
        <p:nvSpPr>
          <p:cNvPr id="11" name="Oval 10"/>
          <p:cNvSpPr/>
          <p:nvPr/>
        </p:nvSpPr>
        <p:spPr>
          <a:xfrm>
            <a:off x="1892533" y="1980224"/>
            <a:ext cx="85587" cy="85587"/>
          </a:xfrm>
          <a:prstGeom prst="ellipse">
            <a:avLst/>
          </a:prstGeom>
          <a:solidFill>
            <a:srgbClr val="F326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 Same Side Corner Rectangle 11"/>
          <p:cNvSpPr/>
          <p:nvPr/>
        </p:nvSpPr>
        <p:spPr>
          <a:xfrm>
            <a:off x="1844984" y="2099096"/>
            <a:ext cx="180685" cy="104607"/>
          </a:xfrm>
          <a:prstGeom prst="round2SameRect">
            <a:avLst/>
          </a:prstGeom>
          <a:solidFill>
            <a:srgbClr val="F326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05459" y="2359152"/>
            <a:ext cx="1431036" cy="274320"/>
          </a:xfrm>
          <a:prstGeom prst="rect">
            <a:avLst/>
          </a:prstGeom>
          <a:noFill/>
        </p:spPr>
        <p:txBody>
          <a:bodyPr wrap="square" lIns="0" rIns="0" tIns="0" bIns="0" anchor="t">
            <a:spAutoFit/>
          </a:bodyPr>
          <a:lstStyle/>
          <a:p>
            <a:pPr algn="l">
              <a:lnSpc>
                <a:spcPct val="100000"/>
              </a:lnSpc>
              <a:spcBef>
                <a:spcPts val="0"/>
              </a:spcBef>
              <a:spcAft>
                <a:spcPts val="0"/>
              </a:spcAft>
            </a:pPr>
            <a:r>
              <a:rPr sz="1100" b="1" i="0">
                <a:solidFill>
                  <a:srgbClr val="080808"/>
                </a:solidFill>
                <a:latin typeface="Segoe UI"/>
              </a:rPr>
              <a:t>Submit request</a:t>
            </a:r>
          </a:p>
        </p:txBody>
      </p:sp>
      <p:sp>
        <p:nvSpPr>
          <p:cNvPr id="14" name="TextBox 13"/>
          <p:cNvSpPr txBox="1"/>
          <p:nvPr/>
        </p:nvSpPr>
        <p:spPr>
          <a:xfrm>
            <a:off x="705459" y="2633472"/>
            <a:ext cx="1449324" cy="512064"/>
          </a:xfrm>
          <a:prstGeom prst="rect">
            <a:avLst/>
          </a:prstGeom>
          <a:noFill/>
        </p:spPr>
        <p:txBody>
          <a:bodyPr wrap="square" lIns="0" rIns="0" tIns="0" bIns="0" anchor="t">
            <a:spAutoFit/>
          </a:bodyPr>
          <a:lstStyle/>
          <a:p>
            <a:pPr algn="l">
              <a:lnSpc>
                <a:spcPct val="102000"/>
              </a:lnSpc>
              <a:spcBef>
                <a:spcPts val="0"/>
              </a:spcBef>
              <a:spcAft>
                <a:spcPts val="0"/>
              </a:spcAft>
            </a:pPr>
            <a:r>
              <a:rPr sz="860" b="0" i="0">
                <a:solidFill>
                  <a:srgbClr val="3A3F52"/>
                </a:solidFill>
                <a:latin typeface="Segoe UI"/>
              </a:rPr>
              <a:t>Patient or requester submits an emergency request.</a:t>
            </a:r>
          </a:p>
        </p:txBody>
      </p:sp>
      <p:sp>
        <p:nvSpPr>
          <p:cNvPr id="15" name="Right Arrow 14"/>
          <p:cNvSpPr/>
          <p:nvPr/>
        </p:nvSpPr>
        <p:spPr>
          <a:xfrm>
            <a:off x="2287371" y="2386584"/>
            <a:ext cx="137160" cy="146304"/>
          </a:xfrm>
          <a:prstGeom prst="rightArrow">
            <a:avLst>
              <a:gd name="adj1" fmla="val 55000"/>
              <a:gd name="adj2" fmla="val 34000"/>
            </a:avLst>
          </a:prstGeom>
          <a:solidFill>
            <a:srgbClr val="0719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2447391" y="1773936"/>
            <a:ext cx="1687068" cy="1371600"/>
          </a:xfrm>
          <a:prstGeom prst="roundRect">
            <a:avLst>
              <a:gd name="adj" fmla="val 9000"/>
            </a:avLst>
          </a:prstGeom>
          <a:solidFill>
            <a:srgbClr val="FFFFFF"/>
          </a:solidFill>
          <a:ln w="12700">
            <a:solidFill>
              <a:srgbClr val="D8DC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2575407" y="1901952"/>
            <a:ext cx="365760" cy="365760"/>
          </a:xfrm>
          <a:prstGeom prst="ellipse">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575407" y="1901952"/>
            <a:ext cx="365760" cy="365760"/>
          </a:xfrm>
          <a:prstGeom prst="rect">
            <a:avLst/>
          </a:prstGeom>
          <a:noFill/>
        </p:spPr>
        <p:txBody>
          <a:bodyPr wrap="square" lIns="0" rIns="0" tIns="0" bIns="0" anchor="ctr">
            <a:spAutoFit/>
          </a:bodyPr>
          <a:lstStyle/>
          <a:p>
            <a:pPr algn="ctr">
              <a:lnSpc>
                <a:spcPct val="100000"/>
              </a:lnSpc>
              <a:spcBef>
                <a:spcPts val="0"/>
              </a:spcBef>
              <a:spcAft>
                <a:spcPts val="0"/>
              </a:spcAft>
            </a:pPr>
            <a:r>
              <a:rPr sz="1300" b="1" i="0">
                <a:solidFill>
                  <a:srgbClr val="FFFFFF"/>
                </a:solidFill>
                <a:latin typeface="Segoe UI"/>
              </a:rPr>
              <a:t>2</a:t>
            </a:r>
          </a:p>
        </p:txBody>
      </p:sp>
      <p:sp>
        <p:nvSpPr>
          <p:cNvPr id="19" name="Folded Corner 18"/>
          <p:cNvSpPr/>
          <p:nvPr/>
        </p:nvSpPr>
        <p:spPr>
          <a:xfrm>
            <a:off x="3724442" y="1980224"/>
            <a:ext cx="161665" cy="209214"/>
          </a:xfrm>
          <a:prstGeom prst="foldedCorner">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575407" y="2359152"/>
            <a:ext cx="1431036" cy="274320"/>
          </a:xfrm>
          <a:prstGeom prst="rect">
            <a:avLst/>
          </a:prstGeom>
          <a:noFill/>
        </p:spPr>
        <p:txBody>
          <a:bodyPr wrap="square" lIns="0" rIns="0" tIns="0" bIns="0" anchor="t">
            <a:spAutoFit/>
          </a:bodyPr>
          <a:lstStyle/>
          <a:p>
            <a:pPr algn="l">
              <a:lnSpc>
                <a:spcPct val="100000"/>
              </a:lnSpc>
              <a:spcBef>
                <a:spcPts val="0"/>
              </a:spcBef>
              <a:spcAft>
                <a:spcPts val="0"/>
              </a:spcAft>
            </a:pPr>
            <a:r>
              <a:rPr sz="1100" b="1" i="0">
                <a:solidFill>
                  <a:srgbClr val="080808"/>
                </a:solidFill>
                <a:latin typeface="Segoe UI"/>
              </a:rPr>
              <a:t>Request details</a:t>
            </a:r>
          </a:p>
        </p:txBody>
      </p:sp>
      <p:sp>
        <p:nvSpPr>
          <p:cNvPr id="21" name="TextBox 20"/>
          <p:cNvSpPr txBox="1"/>
          <p:nvPr/>
        </p:nvSpPr>
        <p:spPr>
          <a:xfrm>
            <a:off x="2575407" y="2633472"/>
            <a:ext cx="1449324" cy="512064"/>
          </a:xfrm>
          <a:prstGeom prst="rect">
            <a:avLst/>
          </a:prstGeom>
          <a:noFill/>
        </p:spPr>
        <p:txBody>
          <a:bodyPr wrap="square" lIns="0" rIns="0" tIns="0" bIns="0" anchor="t">
            <a:spAutoFit/>
          </a:bodyPr>
          <a:lstStyle/>
          <a:p>
            <a:pPr algn="l">
              <a:lnSpc>
                <a:spcPct val="102000"/>
              </a:lnSpc>
              <a:spcBef>
                <a:spcPts val="0"/>
              </a:spcBef>
              <a:spcAft>
                <a:spcPts val="0"/>
              </a:spcAft>
            </a:pPr>
            <a:r>
              <a:rPr sz="860" b="0" i="0">
                <a:solidFill>
                  <a:srgbClr val="3A3F52"/>
                </a:solidFill>
                <a:latin typeface="Segoe UI"/>
              </a:rPr>
              <a:t>Patient ID, descriptive location, severity, required care type.</a:t>
            </a:r>
          </a:p>
        </p:txBody>
      </p:sp>
      <p:sp>
        <p:nvSpPr>
          <p:cNvPr id="22" name="Right Arrow 21"/>
          <p:cNvSpPr/>
          <p:nvPr/>
        </p:nvSpPr>
        <p:spPr>
          <a:xfrm>
            <a:off x="4157319" y="2386584"/>
            <a:ext cx="137160" cy="146304"/>
          </a:xfrm>
          <a:prstGeom prst="rightArrow">
            <a:avLst>
              <a:gd name="adj1" fmla="val 55000"/>
              <a:gd name="adj2" fmla="val 34000"/>
            </a:avLst>
          </a:prstGeom>
          <a:solidFill>
            <a:srgbClr val="0719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4317339" y="1773936"/>
            <a:ext cx="1687068" cy="1371600"/>
          </a:xfrm>
          <a:prstGeom prst="roundRect">
            <a:avLst>
              <a:gd name="adj" fmla="val 9000"/>
            </a:avLst>
          </a:prstGeom>
          <a:solidFill>
            <a:srgbClr val="FFFFFF"/>
          </a:solidFill>
          <a:ln w="12700">
            <a:solidFill>
              <a:srgbClr val="D8DC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4445355" y="1901952"/>
            <a:ext cx="365760" cy="365760"/>
          </a:xfrm>
          <a:prstGeom prst="ellipse">
            <a:avLst/>
          </a:prstGeom>
          <a:solidFill>
            <a:srgbClr val="683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4445355" y="1901952"/>
            <a:ext cx="365760" cy="365760"/>
          </a:xfrm>
          <a:prstGeom prst="rect">
            <a:avLst/>
          </a:prstGeom>
          <a:noFill/>
        </p:spPr>
        <p:txBody>
          <a:bodyPr wrap="square" lIns="0" rIns="0" tIns="0" bIns="0" anchor="ctr">
            <a:spAutoFit/>
          </a:bodyPr>
          <a:lstStyle/>
          <a:p>
            <a:pPr algn="ctr">
              <a:lnSpc>
                <a:spcPct val="100000"/>
              </a:lnSpc>
              <a:spcBef>
                <a:spcPts val="0"/>
              </a:spcBef>
              <a:spcAft>
                <a:spcPts val="0"/>
              </a:spcAft>
            </a:pPr>
            <a:r>
              <a:rPr sz="1300" b="1" i="0">
                <a:solidFill>
                  <a:srgbClr val="FFFFFF"/>
                </a:solidFill>
                <a:latin typeface="Segoe UI"/>
              </a:rPr>
              <a:t>3</a:t>
            </a:r>
          </a:p>
        </p:txBody>
      </p:sp>
      <p:sp>
        <p:nvSpPr>
          <p:cNvPr id="26" name="Gear 6 25"/>
          <p:cNvSpPr/>
          <p:nvPr/>
        </p:nvSpPr>
        <p:spPr>
          <a:xfrm>
            <a:off x="5575371" y="1984979"/>
            <a:ext cx="199704" cy="199704"/>
          </a:xfrm>
          <a:prstGeom prst="gear6">
            <a:avLst/>
          </a:prstGeom>
          <a:solidFill>
            <a:srgbClr val="683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445355" y="2359152"/>
            <a:ext cx="1431036" cy="274320"/>
          </a:xfrm>
          <a:prstGeom prst="rect">
            <a:avLst/>
          </a:prstGeom>
          <a:noFill/>
        </p:spPr>
        <p:txBody>
          <a:bodyPr wrap="square" lIns="0" rIns="0" tIns="0" bIns="0" anchor="t">
            <a:spAutoFit/>
          </a:bodyPr>
          <a:lstStyle/>
          <a:p>
            <a:pPr algn="l">
              <a:lnSpc>
                <a:spcPct val="100000"/>
              </a:lnSpc>
              <a:spcBef>
                <a:spcPts val="0"/>
              </a:spcBef>
              <a:spcAft>
                <a:spcPts val="0"/>
              </a:spcAft>
            </a:pPr>
            <a:r>
              <a:rPr sz="1100" b="1" i="0">
                <a:solidFill>
                  <a:srgbClr val="080808"/>
                </a:solidFill>
                <a:latin typeface="Segoe UI"/>
              </a:rPr>
              <a:t>Evaluate fit</a:t>
            </a:r>
          </a:p>
        </p:txBody>
      </p:sp>
      <p:sp>
        <p:nvSpPr>
          <p:cNvPr id="28" name="TextBox 27"/>
          <p:cNvSpPr txBox="1"/>
          <p:nvPr/>
        </p:nvSpPr>
        <p:spPr>
          <a:xfrm>
            <a:off x="4445355" y="2633472"/>
            <a:ext cx="1449324" cy="512064"/>
          </a:xfrm>
          <a:prstGeom prst="rect">
            <a:avLst/>
          </a:prstGeom>
          <a:noFill/>
        </p:spPr>
        <p:txBody>
          <a:bodyPr wrap="square" lIns="0" rIns="0" tIns="0" bIns="0" anchor="t">
            <a:spAutoFit/>
          </a:bodyPr>
          <a:lstStyle/>
          <a:p>
            <a:pPr algn="l">
              <a:lnSpc>
                <a:spcPct val="102000"/>
              </a:lnSpc>
              <a:spcBef>
                <a:spcPts val="0"/>
              </a:spcBef>
              <a:spcAft>
                <a:spcPts val="0"/>
              </a:spcAft>
            </a:pPr>
            <a:r>
              <a:rPr sz="860" b="0" i="0">
                <a:solidFill>
                  <a:srgbClr val="3A3F52"/>
                </a:solidFill>
                <a:latin typeface="Segoe UI"/>
              </a:rPr>
              <a:t>Compatibility, availability, distance and capacity.</a:t>
            </a:r>
          </a:p>
        </p:txBody>
      </p:sp>
      <p:sp>
        <p:nvSpPr>
          <p:cNvPr id="29" name="Right Arrow 28"/>
          <p:cNvSpPr/>
          <p:nvPr/>
        </p:nvSpPr>
        <p:spPr>
          <a:xfrm>
            <a:off x="6027267" y="2386584"/>
            <a:ext cx="137160" cy="146304"/>
          </a:xfrm>
          <a:prstGeom prst="rightArrow">
            <a:avLst>
              <a:gd name="adj1" fmla="val 55000"/>
              <a:gd name="adj2" fmla="val 34000"/>
            </a:avLst>
          </a:prstGeom>
          <a:solidFill>
            <a:srgbClr val="0719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6187287" y="1773936"/>
            <a:ext cx="1687068" cy="1371600"/>
          </a:xfrm>
          <a:prstGeom prst="roundRect">
            <a:avLst>
              <a:gd name="adj" fmla="val 9000"/>
            </a:avLst>
          </a:prstGeom>
          <a:solidFill>
            <a:srgbClr val="FFFFFF"/>
          </a:solidFill>
          <a:ln w="12700">
            <a:solidFill>
              <a:srgbClr val="D8DC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6315303" y="1901952"/>
            <a:ext cx="365760" cy="365760"/>
          </a:xfrm>
          <a:prstGeom prst="ellipse">
            <a:avLst/>
          </a:prstGeom>
          <a:solidFill>
            <a:srgbClr val="0719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315303" y="1901952"/>
            <a:ext cx="365760" cy="365760"/>
          </a:xfrm>
          <a:prstGeom prst="rect">
            <a:avLst/>
          </a:prstGeom>
          <a:noFill/>
        </p:spPr>
        <p:txBody>
          <a:bodyPr wrap="square" lIns="0" rIns="0" tIns="0" bIns="0" anchor="ctr">
            <a:spAutoFit/>
          </a:bodyPr>
          <a:lstStyle/>
          <a:p>
            <a:pPr algn="ctr">
              <a:lnSpc>
                <a:spcPct val="100000"/>
              </a:lnSpc>
              <a:spcBef>
                <a:spcPts val="0"/>
              </a:spcBef>
              <a:spcAft>
                <a:spcPts val="0"/>
              </a:spcAft>
            </a:pPr>
            <a:r>
              <a:rPr sz="1300" b="1" i="0">
                <a:solidFill>
                  <a:srgbClr val="FFFFFF"/>
                </a:solidFill>
                <a:latin typeface="Segoe UI"/>
              </a:rPr>
              <a:t>4</a:t>
            </a:r>
          </a:p>
        </p:txBody>
      </p:sp>
      <p:sp>
        <p:nvSpPr>
          <p:cNvPr id="33" name="Pentagon 32"/>
          <p:cNvSpPr/>
          <p:nvPr/>
        </p:nvSpPr>
        <p:spPr>
          <a:xfrm rot="10800000">
            <a:off x="7450073" y="1980224"/>
            <a:ext cx="190195" cy="147401"/>
          </a:xfrm>
          <a:prstGeom prst="homePlate">
            <a:avLst/>
          </a:prstGeom>
          <a:solidFill>
            <a:srgbClr val="0719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rot="2700000">
            <a:off x="7483358" y="2061057"/>
            <a:ext cx="71323" cy="2615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rot="18900000">
            <a:off x="7526152" y="2023018"/>
            <a:ext cx="99852" cy="2615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315303" y="2359152"/>
            <a:ext cx="1431036" cy="274320"/>
          </a:xfrm>
          <a:prstGeom prst="rect">
            <a:avLst/>
          </a:prstGeom>
          <a:noFill/>
        </p:spPr>
        <p:txBody>
          <a:bodyPr wrap="square" lIns="0" rIns="0" tIns="0" bIns="0" anchor="t">
            <a:spAutoFit/>
          </a:bodyPr>
          <a:lstStyle/>
          <a:p>
            <a:pPr algn="l">
              <a:lnSpc>
                <a:spcPct val="100000"/>
              </a:lnSpc>
              <a:spcBef>
                <a:spcPts val="0"/>
              </a:spcBef>
              <a:spcAft>
                <a:spcPts val="0"/>
              </a:spcAft>
            </a:pPr>
            <a:r>
              <a:rPr sz="1100" b="1" i="0">
                <a:solidFill>
                  <a:srgbClr val="080808"/>
                </a:solidFill>
                <a:latin typeface="Segoe UI"/>
              </a:rPr>
              <a:t>Verify severity</a:t>
            </a:r>
          </a:p>
        </p:txBody>
      </p:sp>
      <p:sp>
        <p:nvSpPr>
          <p:cNvPr id="37" name="TextBox 36"/>
          <p:cNvSpPr txBox="1"/>
          <p:nvPr/>
        </p:nvSpPr>
        <p:spPr>
          <a:xfrm>
            <a:off x="6315303" y="2633472"/>
            <a:ext cx="1449324" cy="512064"/>
          </a:xfrm>
          <a:prstGeom prst="rect">
            <a:avLst/>
          </a:prstGeom>
          <a:noFill/>
        </p:spPr>
        <p:txBody>
          <a:bodyPr wrap="square" lIns="0" rIns="0" tIns="0" bIns="0" anchor="t">
            <a:spAutoFit/>
          </a:bodyPr>
          <a:lstStyle/>
          <a:p>
            <a:pPr algn="l">
              <a:lnSpc>
                <a:spcPct val="102000"/>
              </a:lnSpc>
              <a:spcBef>
                <a:spcPts val="0"/>
              </a:spcBef>
              <a:spcAft>
                <a:spcPts val="0"/>
              </a:spcAft>
            </a:pPr>
            <a:r>
              <a:rPr sz="860" b="0" i="0">
                <a:solidFill>
                  <a:srgbClr val="3A3F52"/>
                </a:solidFill>
                <a:latin typeface="Segoe UI"/>
              </a:rPr>
              <a:t>Hospital operator reviews and verifies priority.</a:t>
            </a:r>
          </a:p>
        </p:txBody>
      </p:sp>
      <p:sp>
        <p:nvSpPr>
          <p:cNvPr id="38" name="Right Arrow 37"/>
          <p:cNvSpPr/>
          <p:nvPr/>
        </p:nvSpPr>
        <p:spPr>
          <a:xfrm>
            <a:off x="7897215" y="2386584"/>
            <a:ext cx="137160" cy="146304"/>
          </a:xfrm>
          <a:prstGeom prst="rightArrow">
            <a:avLst>
              <a:gd name="adj1" fmla="val 55000"/>
              <a:gd name="adj2" fmla="val 34000"/>
            </a:avLst>
          </a:prstGeom>
          <a:solidFill>
            <a:srgbClr val="0719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ounded Rectangle 38"/>
          <p:cNvSpPr/>
          <p:nvPr/>
        </p:nvSpPr>
        <p:spPr>
          <a:xfrm>
            <a:off x="8057235" y="1773936"/>
            <a:ext cx="1687068" cy="1371600"/>
          </a:xfrm>
          <a:prstGeom prst="roundRect">
            <a:avLst>
              <a:gd name="adj" fmla="val 9000"/>
            </a:avLst>
          </a:prstGeom>
          <a:solidFill>
            <a:srgbClr val="FFFFFF"/>
          </a:solidFill>
          <a:ln w="12700">
            <a:solidFill>
              <a:srgbClr val="D8DC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Oval 39"/>
          <p:cNvSpPr/>
          <p:nvPr/>
        </p:nvSpPr>
        <p:spPr>
          <a:xfrm>
            <a:off x="8185251" y="1901952"/>
            <a:ext cx="365760" cy="365760"/>
          </a:xfrm>
          <a:prstGeom prst="ellipse">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8185251" y="1901952"/>
            <a:ext cx="365760" cy="365760"/>
          </a:xfrm>
          <a:prstGeom prst="rect">
            <a:avLst/>
          </a:prstGeom>
          <a:noFill/>
        </p:spPr>
        <p:txBody>
          <a:bodyPr wrap="square" lIns="0" rIns="0" tIns="0" bIns="0" anchor="ctr">
            <a:spAutoFit/>
          </a:bodyPr>
          <a:lstStyle/>
          <a:p>
            <a:pPr algn="ctr">
              <a:lnSpc>
                <a:spcPct val="100000"/>
              </a:lnSpc>
              <a:spcBef>
                <a:spcPts val="0"/>
              </a:spcBef>
              <a:spcAft>
                <a:spcPts val="0"/>
              </a:spcAft>
            </a:pPr>
            <a:r>
              <a:rPr sz="1300" b="1" i="0">
                <a:solidFill>
                  <a:srgbClr val="FFFFFF"/>
                </a:solidFill>
                <a:latin typeface="Segoe UI"/>
              </a:rPr>
              <a:t>5</a:t>
            </a:r>
          </a:p>
        </p:txBody>
      </p:sp>
      <p:sp>
        <p:nvSpPr>
          <p:cNvPr id="42" name="Rectangle 41"/>
          <p:cNvSpPr/>
          <p:nvPr/>
        </p:nvSpPr>
        <p:spPr>
          <a:xfrm>
            <a:off x="9305757" y="2099096"/>
            <a:ext cx="218724" cy="33284"/>
          </a:xfrm>
          <a:prstGeom prst="rect">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9305757" y="2003999"/>
            <a:ext cx="28529" cy="137891"/>
          </a:xfrm>
          <a:prstGeom prst="rect">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9500707" y="2070567"/>
            <a:ext cx="23774" cy="85587"/>
          </a:xfrm>
          <a:prstGeom prst="rect">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ounded Rectangle 44"/>
          <p:cNvSpPr/>
          <p:nvPr/>
        </p:nvSpPr>
        <p:spPr>
          <a:xfrm>
            <a:off x="9343796" y="2037283"/>
            <a:ext cx="71323" cy="47548"/>
          </a:xfrm>
          <a:prstGeom prst="roundRect">
            <a:avLst>
              <a:gd name="adj" fmla="val 40000"/>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ounded Rectangle 45"/>
          <p:cNvSpPr/>
          <p:nvPr/>
        </p:nvSpPr>
        <p:spPr>
          <a:xfrm>
            <a:off x="9343796" y="2061057"/>
            <a:ext cx="147401" cy="42793"/>
          </a:xfrm>
          <a:prstGeom prst="roundRect">
            <a:avLst>
              <a:gd name="adj" fmla="val 40000"/>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8185251" y="2359152"/>
            <a:ext cx="1431036" cy="274320"/>
          </a:xfrm>
          <a:prstGeom prst="rect">
            <a:avLst/>
          </a:prstGeom>
          <a:noFill/>
        </p:spPr>
        <p:txBody>
          <a:bodyPr wrap="square" lIns="0" rIns="0" tIns="0" bIns="0" anchor="t">
            <a:spAutoFit/>
          </a:bodyPr>
          <a:lstStyle/>
          <a:p>
            <a:pPr algn="l">
              <a:lnSpc>
                <a:spcPct val="100000"/>
              </a:lnSpc>
              <a:spcBef>
                <a:spcPts val="0"/>
              </a:spcBef>
              <a:spcAft>
                <a:spcPts val="0"/>
              </a:spcAft>
            </a:pPr>
            <a:r>
              <a:rPr sz="1100" b="1" i="0">
                <a:solidFill>
                  <a:srgbClr val="080808"/>
                </a:solidFill>
                <a:latin typeface="Segoe UI"/>
              </a:rPr>
              <a:t>Allocate bed</a:t>
            </a:r>
          </a:p>
        </p:txBody>
      </p:sp>
      <p:sp>
        <p:nvSpPr>
          <p:cNvPr id="48" name="TextBox 47"/>
          <p:cNvSpPr txBox="1"/>
          <p:nvPr/>
        </p:nvSpPr>
        <p:spPr>
          <a:xfrm>
            <a:off x="8185251" y="2633472"/>
            <a:ext cx="1449324" cy="512064"/>
          </a:xfrm>
          <a:prstGeom prst="rect">
            <a:avLst/>
          </a:prstGeom>
          <a:noFill/>
        </p:spPr>
        <p:txBody>
          <a:bodyPr wrap="square" lIns="0" rIns="0" tIns="0" bIns="0" anchor="t">
            <a:spAutoFit/>
          </a:bodyPr>
          <a:lstStyle/>
          <a:p>
            <a:pPr algn="l">
              <a:lnSpc>
                <a:spcPct val="102000"/>
              </a:lnSpc>
              <a:spcBef>
                <a:spcPts val="0"/>
              </a:spcBef>
              <a:spcAft>
                <a:spcPts val="0"/>
              </a:spcAft>
            </a:pPr>
            <a:r>
              <a:rPr sz="860" b="0" i="0">
                <a:solidFill>
                  <a:srgbClr val="3A3F52"/>
                </a:solidFill>
                <a:latin typeface="Segoe UI"/>
              </a:rPr>
              <a:t>Temporary hold, reservation, rejection or release.</a:t>
            </a:r>
          </a:p>
        </p:txBody>
      </p:sp>
      <p:sp>
        <p:nvSpPr>
          <p:cNvPr id="49" name="Right Arrow 48"/>
          <p:cNvSpPr/>
          <p:nvPr/>
        </p:nvSpPr>
        <p:spPr>
          <a:xfrm>
            <a:off x="9767163" y="2386584"/>
            <a:ext cx="137160" cy="146304"/>
          </a:xfrm>
          <a:prstGeom prst="rightArrow">
            <a:avLst>
              <a:gd name="adj1" fmla="val 55000"/>
              <a:gd name="adj2" fmla="val 34000"/>
            </a:avLst>
          </a:prstGeom>
          <a:solidFill>
            <a:srgbClr val="0719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ounded Rectangle 49"/>
          <p:cNvSpPr/>
          <p:nvPr/>
        </p:nvSpPr>
        <p:spPr>
          <a:xfrm>
            <a:off x="9927183" y="1773936"/>
            <a:ext cx="1687068" cy="1371600"/>
          </a:xfrm>
          <a:prstGeom prst="roundRect">
            <a:avLst>
              <a:gd name="adj" fmla="val 9000"/>
            </a:avLst>
          </a:prstGeom>
          <a:solidFill>
            <a:srgbClr val="FFFFFF"/>
          </a:solidFill>
          <a:ln w="12700">
            <a:solidFill>
              <a:srgbClr val="D8DC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Oval 50"/>
          <p:cNvSpPr/>
          <p:nvPr/>
        </p:nvSpPr>
        <p:spPr>
          <a:xfrm>
            <a:off x="10055199" y="1901952"/>
            <a:ext cx="365760" cy="365760"/>
          </a:xfrm>
          <a:prstGeom prst="ellipse">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10055199" y="1901952"/>
            <a:ext cx="365760" cy="365760"/>
          </a:xfrm>
          <a:prstGeom prst="rect">
            <a:avLst/>
          </a:prstGeom>
          <a:noFill/>
        </p:spPr>
        <p:txBody>
          <a:bodyPr wrap="square" lIns="0" rIns="0" tIns="0" bIns="0" anchor="ctr">
            <a:spAutoFit/>
          </a:bodyPr>
          <a:lstStyle/>
          <a:p>
            <a:pPr algn="ctr">
              <a:lnSpc>
                <a:spcPct val="100000"/>
              </a:lnSpc>
              <a:spcBef>
                <a:spcPts val="0"/>
              </a:spcBef>
              <a:spcAft>
                <a:spcPts val="0"/>
              </a:spcAft>
            </a:pPr>
            <a:r>
              <a:rPr sz="1300" b="1" i="0">
                <a:solidFill>
                  <a:srgbClr val="FFFFFF"/>
                </a:solidFill>
                <a:latin typeface="Segoe UI"/>
              </a:rPr>
              <a:t>6</a:t>
            </a:r>
          </a:p>
        </p:txBody>
      </p:sp>
      <p:sp>
        <p:nvSpPr>
          <p:cNvPr id="53" name="Rectangle 52"/>
          <p:cNvSpPr/>
          <p:nvPr/>
        </p:nvSpPr>
        <p:spPr>
          <a:xfrm rot="2700000">
            <a:off x="11199479" y="2068189"/>
            <a:ext cx="104607" cy="38039"/>
          </a:xfrm>
          <a:prstGeom prst="rect">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ectangle 53"/>
          <p:cNvSpPr/>
          <p:nvPr/>
        </p:nvSpPr>
        <p:spPr>
          <a:xfrm rot="18900000">
            <a:off x="11261293" y="2013508"/>
            <a:ext cx="147401" cy="38039"/>
          </a:xfrm>
          <a:prstGeom prst="rect">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10055199" y="2359152"/>
            <a:ext cx="1431036" cy="274320"/>
          </a:xfrm>
          <a:prstGeom prst="rect">
            <a:avLst/>
          </a:prstGeom>
          <a:noFill/>
        </p:spPr>
        <p:txBody>
          <a:bodyPr wrap="square" lIns="0" rIns="0" tIns="0" bIns="0" anchor="t">
            <a:spAutoFit/>
          </a:bodyPr>
          <a:lstStyle/>
          <a:p>
            <a:pPr algn="l">
              <a:lnSpc>
                <a:spcPct val="100000"/>
              </a:lnSpc>
              <a:spcBef>
                <a:spcPts val="0"/>
              </a:spcBef>
              <a:spcAft>
                <a:spcPts val="0"/>
              </a:spcAft>
            </a:pPr>
            <a:r>
              <a:rPr sz="1100" b="1" i="0">
                <a:solidFill>
                  <a:srgbClr val="080808"/>
                </a:solidFill>
                <a:latin typeface="Segoe UI"/>
              </a:rPr>
              <a:t>Track &amp; arrive</a:t>
            </a:r>
          </a:p>
        </p:txBody>
      </p:sp>
      <p:sp>
        <p:nvSpPr>
          <p:cNvPr id="56" name="TextBox 55"/>
          <p:cNvSpPr txBox="1"/>
          <p:nvPr/>
        </p:nvSpPr>
        <p:spPr>
          <a:xfrm>
            <a:off x="10055199" y="2633472"/>
            <a:ext cx="1449324" cy="512064"/>
          </a:xfrm>
          <a:prstGeom prst="rect">
            <a:avLst/>
          </a:prstGeom>
          <a:noFill/>
        </p:spPr>
        <p:txBody>
          <a:bodyPr wrap="square" lIns="0" rIns="0" tIns="0" bIns="0" anchor="t">
            <a:spAutoFit/>
          </a:bodyPr>
          <a:lstStyle/>
          <a:p>
            <a:pPr algn="l">
              <a:lnSpc>
                <a:spcPct val="102000"/>
              </a:lnSpc>
              <a:spcBef>
                <a:spcPts val="0"/>
              </a:spcBef>
              <a:spcAft>
                <a:spcPts val="0"/>
              </a:spcAft>
            </a:pPr>
            <a:r>
              <a:rPr sz="860" b="0" i="0">
                <a:solidFill>
                  <a:srgbClr val="3A3F52"/>
                </a:solidFill>
                <a:latin typeface="Segoe UI"/>
              </a:rPr>
              <a:t>Arrival confirmed; request tracked in the workspace.</a:t>
            </a:r>
          </a:p>
        </p:txBody>
      </p:sp>
      <p:sp>
        <p:nvSpPr>
          <p:cNvPr id="57" name="Rounded Rectangle 56"/>
          <p:cNvSpPr/>
          <p:nvPr/>
        </p:nvSpPr>
        <p:spPr>
          <a:xfrm>
            <a:off x="502920" y="3401568"/>
            <a:ext cx="3669487" cy="2395728"/>
          </a:xfrm>
          <a:prstGeom prst="roundRect">
            <a:avLst>
              <a:gd name="adj" fmla="val 6000"/>
            </a:avLst>
          </a:prstGeom>
          <a:solidFill>
            <a:srgbClr val="FFFFFF"/>
          </a:solidFill>
          <a:ln w="12700">
            <a:solidFill>
              <a:srgbClr val="D8DC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Round Same Side Corner Rectangle 57"/>
          <p:cNvSpPr/>
          <p:nvPr/>
        </p:nvSpPr>
        <p:spPr>
          <a:xfrm>
            <a:off x="502920" y="3401568"/>
            <a:ext cx="3669487" cy="475488"/>
          </a:xfrm>
          <a:prstGeom prst="round2SameRect">
            <a:avLst/>
          </a:prstGeom>
          <a:solidFill>
            <a:srgbClr val="0719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Oval 58"/>
          <p:cNvSpPr/>
          <p:nvPr/>
        </p:nvSpPr>
        <p:spPr>
          <a:xfrm>
            <a:off x="771022" y="3534704"/>
            <a:ext cx="85587" cy="85587"/>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Round Same Side Corner Rectangle 59"/>
          <p:cNvSpPr/>
          <p:nvPr/>
        </p:nvSpPr>
        <p:spPr>
          <a:xfrm>
            <a:off x="723473" y="3653576"/>
            <a:ext cx="180685" cy="104607"/>
          </a:xfrm>
          <a:prstGeom prst="round2Same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1051560" y="3401568"/>
            <a:ext cx="3017520" cy="475488"/>
          </a:xfrm>
          <a:prstGeom prst="rect">
            <a:avLst/>
          </a:prstGeom>
          <a:noFill/>
        </p:spPr>
        <p:txBody>
          <a:bodyPr wrap="square" lIns="0" rIns="0" tIns="0" bIns="0" anchor="ctr">
            <a:spAutoFit/>
          </a:bodyPr>
          <a:lstStyle/>
          <a:p>
            <a:pPr algn="l">
              <a:lnSpc>
                <a:spcPct val="100000"/>
              </a:lnSpc>
              <a:spcBef>
                <a:spcPts val="0"/>
              </a:spcBef>
              <a:spcAft>
                <a:spcPts val="0"/>
              </a:spcAft>
            </a:pPr>
            <a:r>
              <a:rPr sz="1250" b="1" i="0">
                <a:solidFill>
                  <a:srgbClr val="FFFFFF"/>
                </a:solidFill>
                <a:latin typeface="Segoe UI"/>
              </a:rPr>
              <a:t>Patient workspace</a:t>
            </a:r>
          </a:p>
        </p:txBody>
      </p:sp>
      <p:sp>
        <p:nvSpPr>
          <p:cNvPr id="62" name="TextBox 61"/>
          <p:cNvSpPr txBox="1"/>
          <p:nvPr/>
        </p:nvSpPr>
        <p:spPr>
          <a:xfrm>
            <a:off x="740664" y="4023359"/>
            <a:ext cx="3246120" cy="1700784"/>
          </a:xfrm>
          <a:prstGeom prst="rect">
            <a:avLst/>
          </a:prstGeom>
          <a:noFill/>
        </p:spPr>
        <p:txBody>
          <a:bodyPr wrap="square" lIns="0" rIns="0" tIns="0" bIns="0" anchor="t">
            <a:spAutoFit/>
          </a:bodyPr>
          <a:lstStyle/>
          <a:p>
            <a:pPr algn="l">
              <a:lnSpc>
                <a:spcPct val="100000"/>
              </a:lnSpc>
              <a:spcBef>
                <a:spcPts val="0"/>
              </a:spcBef>
              <a:spcAft>
                <a:spcPts val="500"/>
              </a:spcAft>
            </a:pPr>
            <a:r>
              <a:rPr sz="980" b="1" i="0">
                <a:solidFill>
                  <a:srgbClr val="0719C8"/>
                </a:solidFill>
                <a:latin typeface="Segoe UI"/>
              </a:rPr>
              <a:t>•  </a:t>
            </a:r>
            <a:r>
              <a:rPr sz="980" b="0" i="0">
                <a:solidFill>
                  <a:srgbClr val="080808"/>
                </a:solidFill>
                <a:latin typeface="Segoe UI"/>
              </a:rPr>
              <a:t>Submit an emergency request</a:t>
            </a:r>
          </a:p>
          <a:p>
            <a:pPr algn="l">
              <a:lnSpc>
                <a:spcPct val="100000"/>
              </a:lnSpc>
              <a:spcBef>
                <a:spcPts val="0"/>
              </a:spcBef>
              <a:spcAft>
                <a:spcPts val="500"/>
              </a:spcAft>
            </a:pPr>
            <a:r>
              <a:rPr sz="980" b="1" i="0">
                <a:solidFill>
                  <a:srgbClr val="0719C8"/>
                </a:solidFill>
                <a:latin typeface="Segoe UI"/>
              </a:rPr>
              <a:t>•  </a:t>
            </a:r>
            <a:r>
              <a:rPr sz="980" b="0" i="0">
                <a:solidFill>
                  <a:srgbClr val="080808"/>
                </a:solidFill>
                <a:latin typeface="Segoe UI"/>
              </a:rPr>
              <a:t>Request a suitable hospital</a:t>
            </a:r>
          </a:p>
          <a:p>
            <a:pPr algn="l">
              <a:lnSpc>
                <a:spcPct val="100000"/>
              </a:lnSpc>
              <a:spcBef>
                <a:spcPts val="0"/>
              </a:spcBef>
              <a:spcAft>
                <a:spcPts val="500"/>
              </a:spcAft>
            </a:pPr>
            <a:r>
              <a:rPr sz="980" b="1" i="0">
                <a:solidFill>
                  <a:srgbClr val="0719C8"/>
                </a:solidFill>
                <a:latin typeface="Segoe UI"/>
              </a:rPr>
              <a:t>•  </a:t>
            </a:r>
            <a:r>
              <a:rPr sz="980" b="0" i="0">
                <a:solidFill>
                  <a:srgbClr val="080808"/>
                </a:solidFill>
                <a:latin typeface="Segoe UI"/>
              </a:rPr>
              <a:t>Track the request through its states</a:t>
            </a:r>
          </a:p>
        </p:txBody>
      </p:sp>
      <p:sp>
        <p:nvSpPr>
          <p:cNvPr id="63" name="Rounded Rectangle 62"/>
          <p:cNvSpPr/>
          <p:nvPr/>
        </p:nvSpPr>
        <p:spPr>
          <a:xfrm>
            <a:off x="4263847" y="3401568"/>
            <a:ext cx="3669487" cy="2395728"/>
          </a:xfrm>
          <a:prstGeom prst="roundRect">
            <a:avLst>
              <a:gd name="adj" fmla="val 6000"/>
            </a:avLst>
          </a:prstGeom>
          <a:solidFill>
            <a:srgbClr val="FFFFFF"/>
          </a:solidFill>
          <a:ln w="12700">
            <a:solidFill>
              <a:srgbClr val="D8DC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Round Same Side Corner Rectangle 63"/>
          <p:cNvSpPr/>
          <p:nvPr/>
        </p:nvSpPr>
        <p:spPr>
          <a:xfrm>
            <a:off x="4263847" y="3401568"/>
            <a:ext cx="3669487" cy="475488"/>
          </a:xfrm>
          <a:prstGeom prst="round2SameRect">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Pentagon 64"/>
          <p:cNvSpPr/>
          <p:nvPr/>
        </p:nvSpPr>
        <p:spPr>
          <a:xfrm rot="10800000">
            <a:off x="4479645" y="3534704"/>
            <a:ext cx="190195" cy="147401"/>
          </a:xfrm>
          <a:prstGeom prst="homePlate">
            <a:avLst/>
          </a:prstGeom>
          <a:solidFill>
            <a:srgbClr val="080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Rectangle 65"/>
          <p:cNvSpPr/>
          <p:nvPr/>
        </p:nvSpPr>
        <p:spPr>
          <a:xfrm rot="2700000">
            <a:off x="4512929" y="3615537"/>
            <a:ext cx="71323" cy="2615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Rectangle 66"/>
          <p:cNvSpPr/>
          <p:nvPr/>
        </p:nvSpPr>
        <p:spPr>
          <a:xfrm rot="18900000">
            <a:off x="4555723" y="3577498"/>
            <a:ext cx="99852" cy="2615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TextBox 67"/>
          <p:cNvSpPr txBox="1"/>
          <p:nvPr/>
        </p:nvSpPr>
        <p:spPr>
          <a:xfrm>
            <a:off x="4812487" y="3401568"/>
            <a:ext cx="3017520" cy="475488"/>
          </a:xfrm>
          <a:prstGeom prst="rect">
            <a:avLst/>
          </a:prstGeom>
          <a:noFill/>
        </p:spPr>
        <p:txBody>
          <a:bodyPr wrap="square" lIns="0" rIns="0" tIns="0" bIns="0" anchor="ctr">
            <a:spAutoFit/>
          </a:bodyPr>
          <a:lstStyle/>
          <a:p>
            <a:pPr algn="l">
              <a:lnSpc>
                <a:spcPct val="100000"/>
              </a:lnSpc>
              <a:spcBef>
                <a:spcPts val="0"/>
              </a:spcBef>
              <a:spcAft>
                <a:spcPts val="0"/>
              </a:spcAft>
            </a:pPr>
            <a:r>
              <a:rPr sz="1250" b="1" i="0">
                <a:solidFill>
                  <a:srgbClr val="080808"/>
                </a:solidFill>
                <a:latin typeface="Segoe UI"/>
              </a:rPr>
              <a:t>Hospital operator workspace</a:t>
            </a:r>
          </a:p>
        </p:txBody>
      </p:sp>
      <p:sp>
        <p:nvSpPr>
          <p:cNvPr id="69" name="TextBox 68"/>
          <p:cNvSpPr txBox="1"/>
          <p:nvPr/>
        </p:nvSpPr>
        <p:spPr>
          <a:xfrm>
            <a:off x="4501591" y="4023359"/>
            <a:ext cx="3246120" cy="1700784"/>
          </a:xfrm>
          <a:prstGeom prst="rect">
            <a:avLst/>
          </a:prstGeom>
          <a:noFill/>
        </p:spPr>
        <p:txBody>
          <a:bodyPr wrap="square" lIns="0" rIns="0" tIns="0" bIns="0" anchor="t">
            <a:spAutoFit/>
          </a:bodyPr>
          <a:lstStyle/>
          <a:p>
            <a:pPr algn="l">
              <a:lnSpc>
                <a:spcPct val="100000"/>
              </a:lnSpc>
              <a:spcBef>
                <a:spcPts val="0"/>
              </a:spcBef>
              <a:spcAft>
                <a:spcPts val="500"/>
              </a:spcAft>
            </a:pPr>
            <a:r>
              <a:rPr sz="980" b="1" i="0">
                <a:solidFill>
                  <a:srgbClr val="FFAA16"/>
                </a:solidFill>
                <a:latin typeface="Segoe UI"/>
              </a:rPr>
              <a:t>•  </a:t>
            </a:r>
            <a:r>
              <a:rPr sz="980" b="0" i="0">
                <a:solidFill>
                  <a:srgbClr val="080808"/>
                </a:solidFill>
                <a:latin typeface="Segoe UI"/>
              </a:rPr>
              <a:t>Review incoming requests</a:t>
            </a:r>
          </a:p>
          <a:p>
            <a:pPr algn="l">
              <a:lnSpc>
                <a:spcPct val="100000"/>
              </a:lnSpc>
              <a:spcBef>
                <a:spcPts val="0"/>
              </a:spcBef>
              <a:spcAft>
                <a:spcPts val="500"/>
              </a:spcAft>
            </a:pPr>
            <a:r>
              <a:rPr sz="980" b="1" i="0">
                <a:solidFill>
                  <a:srgbClr val="FFAA16"/>
                </a:solidFill>
                <a:latin typeface="Segoe UI"/>
              </a:rPr>
              <a:t>•  </a:t>
            </a:r>
            <a:r>
              <a:rPr sz="980" b="0" i="0">
                <a:solidFill>
                  <a:srgbClr val="080808"/>
                </a:solidFill>
                <a:latin typeface="Segoe UI"/>
              </a:rPr>
              <a:t>Verify severity</a:t>
            </a:r>
          </a:p>
          <a:p>
            <a:pPr algn="l">
              <a:lnSpc>
                <a:spcPct val="100000"/>
              </a:lnSpc>
              <a:spcBef>
                <a:spcPts val="0"/>
              </a:spcBef>
              <a:spcAft>
                <a:spcPts val="500"/>
              </a:spcAft>
            </a:pPr>
            <a:r>
              <a:rPr sz="980" b="1" i="0">
                <a:solidFill>
                  <a:srgbClr val="FFAA16"/>
                </a:solidFill>
                <a:latin typeface="Segoe UI"/>
              </a:rPr>
              <a:t>•  </a:t>
            </a:r>
            <a:r>
              <a:rPr sz="980" b="0" i="0">
                <a:solidFill>
                  <a:srgbClr val="080808"/>
                </a:solidFill>
                <a:latin typeface="Segoe UI"/>
              </a:rPr>
              <a:t>Accept or reject requests</a:t>
            </a:r>
          </a:p>
          <a:p>
            <a:pPr algn="l">
              <a:lnSpc>
                <a:spcPct val="100000"/>
              </a:lnSpc>
              <a:spcBef>
                <a:spcPts val="0"/>
              </a:spcBef>
              <a:spcAft>
                <a:spcPts val="500"/>
              </a:spcAft>
            </a:pPr>
            <a:r>
              <a:rPr sz="980" b="1" i="0">
                <a:solidFill>
                  <a:srgbClr val="FFAA16"/>
                </a:solidFill>
                <a:latin typeface="Segoe UI"/>
              </a:rPr>
              <a:t>•  </a:t>
            </a:r>
            <a:r>
              <a:rPr sz="980" b="0" i="0">
                <a:solidFill>
                  <a:srgbClr val="080808"/>
                </a:solidFill>
                <a:latin typeface="Segoe UI"/>
              </a:rPr>
              <a:t>Manage reservation &amp; arrival states</a:t>
            </a:r>
          </a:p>
        </p:txBody>
      </p:sp>
      <p:sp>
        <p:nvSpPr>
          <p:cNvPr id="70" name="Rounded Rectangle 69"/>
          <p:cNvSpPr/>
          <p:nvPr/>
        </p:nvSpPr>
        <p:spPr>
          <a:xfrm>
            <a:off x="8024774" y="3401568"/>
            <a:ext cx="3669487" cy="2395728"/>
          </a:xfrm>
          <a:prstGeom prst="roundRect">
            <a:avLst>
              <a:gd name="adj" fmla="val 6000"/>
            </a:avLst>
          </a:prstGeom>
          <a:solidFill>
            <a:srgbClr val="FFFFFF"/>
          </a:solidFill>
          <a:ln w="12700">
            <a:solidFill>
              <a:srgbClr val="D8DC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Round Same Side Corner Rectangle 70"/>
          <p:cNvSpPr/>
          <p:nvPr/>
        </p:nvSpPr>
        <p:spPr>
          <a:xfrm>
            <a:off x="8024774" y="3401568"/>
            <a:ext cx="3669487" cy="475488"/>
          </a:xfrm>
          <a:prstGeom prst="round2SameRect">
            <a:avLst/>
          </a:prstGeom>
          <a:solidFill>
            <a:srgbClr val="683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Gear 6 71"/>
          <p:cNvSpPr/>
          <p:nvPr/>
        </p:nvSpPr>
        <p:spPr>
          <a:xfrm>
            <a:off x="8235817" y="3539459"/>
            <a:ext cx="199704" cy="199704"/>
          </a:xfrm>
          <a:prstGeom prst="gear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TextBox 72"/>
          <p:cNvSpPr txBox="1"/>
          <p:nvPr/>
        </p:nvSpPr>
        <p:spPr>
          <a:xfrm>
            <a:off x="8573414" y="3401568"/>
            <a:ext cx="3017520" cy="475488"/>
          </a:xfrm>
          <a:prstGeom prst="rect">
            <a:avLst/>
          </a:prstGeom>
          <a:noFill/>
        </p:spPr>
        <p:txBody>
          <a:bodyPr wrap="square" lIns="0" rIns="0" tIns="0" bIns="0" anchor="ctr">
            <a:spAutoFit/>
          </a:bodyPr>
          <a:lstStyle/>
          <a:p>
            <a:pPr algn="l">
              <a:lnSpc>
                <a:spcPct val="100000"/>
              </a:lnSpc>
              <a:spcBef>
                <a:spcPts val="0"/>
              </a:spcBef>
              <a:spcAft>
                <a:spcPts val="0"/>
              </a:spcAft>
            </a:pPr>
            <a:r>
              <a:rPr sz="1250" b="1" i="0">
                <a:solidFill>
                  <a:srgbClr val="FFFFFF"/>
                </a:solidFill>
                <a:latin typeface="Segoe UI"/>
              </a:rPr>
              <a:t>Administrator workspace</a:t>
            </a:r>
          </a:p>
        </p:txBody>
      </p:sp>
      <p:sp>
        <p:nvSpPr>
          <p:cNvPr id="74" name="TextBox 73"/>
          <p:cNvSpPr txBox="1"/>
          <p:nvPr/>
        </p:nvSpPr>
        <p:spPr>
          <a:xfrm>
            <a:off x="8262518" y="4023359"/>
            <a:ext cx="3246120" cy="1700784"/>
          </a:xfrm>
          <a:prstGeom prst="rect">
            <a:avLst/>
          </a:prstGeom>
          <a:noFill/>
        </p:spPr>
        <p:txBody>
          <a:bodyPr wrap="square" lIns="0" rIns="0" tIns="0" bIns="0" anchor="t">
            <a:spAutoFit/>
          </a:bodyPr>
          <a:lstStyle/>
          <a:p>
            <a:pPr algn="l">
              <a:lnSpc>
                <a:spcPct val="100000"/>
              </a:lnSpc>
              <a:spcBef>
                <a:spcPts val="0"/>
              </a:spcBef>
              <a:spcAft>
                <a:spcPts val="500"/>
              </a:spcAft>
            </a:pPr>
            <a:r>
              <a:rPr sz="980" b="1" i="0">
                <a:solidFill>
                  <a:srgbClr val="683C9E"/>
                </a:solidFill>
                <a:latin typeface="Segoe UI"/>
              </a:rPr>
              <a:t>•  </a:t>
            </a:r>
            <a:r>
              <a:rPr sz="980" b="0" i="0">
                <a:solidFill>
                  <a:srgbClr val="080808"/>
                </a:solidFill>
                <a:latin typeface="Segoe UI"/>
              </a:rPr>
              <a:t>Manage demo requests &amp; management functions</a:t>
            </a:r>
          </a:p>
          <a:p>
            <a:pPr algn="l">
              <a:lnSpc>
                <a:spcPct val="100000"/>
              </a:lnSpc>
              <a:spcBef>
                <a:spcPts val="0"/>
              </a:spcBef>
              <a:spcAft>
                <a:spcPts val="500"/>
              </a:spcAft>
            </a:pPr>
            <a:r>
              <a:rPr sz="980" b="1" i="0">
                <a:solidFill>
                  <a:srgbClr val="683C9E"/>
                </a:solidFill>
                <a:latin typeface="Segoe UI"/>
              </a:rPr>
              <a:t>•  </a:t>
            </a:r>
            <a:r>
              <a:rPr sz="980" b="0" i="0">
                <a:solidFill>
                  <a:srgbClr val="080808"/>
                </a:solidFill>
                <a:latin typeface="Segoe UI"/>
              </a:rPr>
              <a:t>View emergency records</a:t>
            </a:r>
          </a:p>
          <a:p>
            <a:pPr algn="l">
              <a:lnSpc>
                <a:spcPct val="100000"/>
              </a:lnSpc>
              <a:spcBef>
                <a:spcPts val="0"/>
              </a:spcBef>
              <a:spcAft>
                <a:spcPts val="500"/>
              </a:spcAft>
            </a:pPr>
            <a:r>
              <a:rPr sz="980" b="1" i="0">
                <a:solidFill>
                  <a:srgbClr val="683C9E"/>
                </a:solidFill>
                <a:latin typeface="Segoe UI"/>
              </a:rPr>
              <a:t>•  </a:t>
            </a:r>
            <a:r>
              <a:rPr sz="980" b="0" i="0">
                <a:solidFill>
                  <a:srgbClr val="080808"/>
                </a:solidFill>
                <a:latin typeface="Segoe UI"/>
              </a:rPr>
              <a:t>Reset demo emergency data</a:t>
            </a:r>
          </a:p>
        </p:txBody>
      </p:sp>
      <p:sp>
        <p:nvSpPr>
          <p:cNvPr id="75" name="Rounded Rectangle 74"/>
          <p:cNvSpPr/>
          <p:nvPr/>
        </p:nvSpPr>
        <p:spPr>
          <a:xfrm>
            <a:off x="502920" y="5907024"/>
            <a:ext cx="11185855" cy="310896"/>
          </a:xfrm>
          <a:prstGeom prst="roundRect">
            <a:avLst>
              <a:gd name="adj" fmla="val 5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Oval 75"/>
          <p:cNvSpPr/>
          <p:nvPr/>
        </p:nvSpPr>
        <p:spPr>
          <a:xfrm>
            <a:off x="682873" y="5986759"/>
            <a:ext cx="79004" cy="79004"/>
          </a:xfrm>
          <a:prstGeom prst="ellipse">
            <a:avLst/>
          </a:prstGeom>
          <a:noFill/>
          <a:ln w="30480">
            <a:solidFill>
              <a:srgbClr val="0719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7" name="Rounded Rectangle 76"/>
          <p:cNvSpPr/>
          <p:nvPr/>
        </p:nvSpPr>
        <p:spPr>
          <a:xfrm>
            <a:off x="659831" y="6059180"/>
            <a:ext cx="125089" cy="85587"/>
          </a:xfrm>
          <a:prstGeom prst="roundRect">
            <a:avLst>
              <a:gd name="adj" fmla="val 18000"/>
            </a:avLst>
          </a:prstGeom>
          <a:solidFill>
            <a:srgbClr val="0719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8" name="TextBox 77"/>
          <p:cNvSpPr txBox="1"/>
          <p:nvPr/>
        </p:nvSpPr>
        <p:spPr>
          <a:xfrm>
            <a:off x="905256" y="5907024"/>
            <a:ext cx="10607040" cy="310896"/>
          </a:xfrm>
          <a:prstGeom prst="rect">
            <a:avLst/>
          </a:prstGeom>
          <a:noFill/>
        </p:spPr>
        <p:txBody>
          <a:bodyPr wrap="square" lIns="0" rIns="0" tIns="0" bIns="0" anchor="ctr">
            <a:spAutoFit/>
          </a:bodyPr>
          <a:lstStyle/>
          <a:p>
            <a:pPr algn="l">
              <a:lnSpc>
                <a:spcPct val="100000"/>
              </a:lnSpc>
              <a:spcBef>
                <a:spcPts val="0"/>
              </a:spcBef>
              <a:spcAft>
                <a:spcPts val="0"/>
              </a:spcAft>
            </a:pPr>
            <a:r>
              <a:rPr sz="960" b="1" i="0">
                <a:solidFill>
                  <a:srgbClr val="0719C8"/>
                </a:solidFill>
                <a:latin typeface="Segoe UI"/>
              </a:rPr>
              <a:t>Role-based by design — each role gets its own workspace and only the actions it is permitted to perform.</a:t>
            </a:r>
          </a:p>
        </p:txBody>
      </p:sp>
      <p:sp>
        <p:nvSpPr>
          <p:cNvPr id="79" name="TextBox 78"/>
          <p:cNvSpPr txBox="1"/>
          <p:nvPr/>
        </p:nvSpPr>
        <p:spPr>
          <a:xfrm>
            <a:off x="502920" y="6492240"/>
            <a:ext cx="7315200" cy="237744"/>
          </a:xfrm>
          <a:prstGeom prst="rect">
            <a:avLst/>
          </a:prstGeom>
          <a:noFill/>
        </p:spPr>
        <p:txBody>
          <a:bodyPr wrap="square" lIns="0" rIns="0" tIns="0" bIns="0" anchor="t">
            <a:spAutoFit/>
          </a:bodyPr>
          <a:lstStyle/>
          <a:p>
            <a:pPr algn="l">
              <a:lnSpc>
                <a:spcPct val="100000"/>
              </a:lnSpc>
              <a:spcBef>
                <a:spcPts val="0"/>
              </a:spcBef>
              <a:spcAft>
                <a:spcPts val="0"/>
              </a:spcAft>
            </a:pPr>
            <a:r>
              <a:rPr sz="850" b="0" i="0">
                <a:solidFill>
                  <a:srgbClr val="8A90A6"/>
                </a:solidFill>
                <a:latin typeface="Segoe UI"/>
              </a:rPr>
              <a:t>CareRoute — Emergency Bed Coordination System   ·   Team Tech Head</a:t>
            </a:r>
          </a:p>
        </p:txBody>
      </p:sp>
      <p:sp>
        <p:nvSpPr>
          <p:cNvPr id="80" name="TextBox 79"/>
          <p:cNvSpPr txBox="1"/>
          <p:nvPr/>
        </p:nvSpPr>
        <p:spPr>
          <a:xfrm>
            <a:off x="10378440" y="6492240"/>
            <a:ext cx="1307592" cy="237744"/>
          </a:xfrm>
          <a:prstGeom prst="rect">
            <a:avLst/>
          </a:prstGeom>
          <a:noFill/>
        </p:spPr>
        <p:txBody>
          <a:bodyPr wrap="square" lIns="0" rIns="0" tIns="0" bIns="0" anchor="t">
            <a:spAutoFit/>
          </a:bodyPr>
          <a:lstStyle/>
          <a:p>
            <a:pPr algn="r">
              <a:lnSpc>
                <a:spcPct val="100000"/>
              </a:lnSpc>
              <a:spcBef>
                <a:spcPts val="0"/>
              </a:spcBef>
              <a:spcAft>
                <a:spcPts val="0"/>
              </a:spcAft>
            </a:pPr>
            <a:r>
              <a:rPr sz="850" b="1" i="0">
                <a:solidFill>
                  <a:srgbClr val="8A90A6"/>
                </a:solidFill>
                <a:latin typeface="Segoe UI"/>
              </a:rPr>
              <a:t>03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683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502920" y="384048"/>
            <a:ext cx="91440" cy="274320"/>
          </a:xfrm>
          <a:prstGeom prst="roundRect">
            <a:avLst>
              <a:gd name="adj" fmla="val 50000"/>
            </a:avLst>
          </a:prstGeom>
          <a:solidFill>
            <a:srgbClr val="683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85800" y="397764"/>
            <a:ext cx="7863840" cy="274320"/>
          </a:xfrm>
          <a:prstGeom prst="rect">
            <a:avLst/>
          </a:prstGeom>
          <a:noFill/>
        </p:spPr>
        <p:txBody>
          <a:bodyPr wrap="square" lIns="0" rIns="0" tIns="0" bIns="0" anchor="ctr">
            <a:spAutoFit/>
          </a:bodyPr>
          <a:lstStyle/>
          <a:p>
            <a:pPr algn="l">
              <a:lnSpc>
                <a:spcPct val="100000"/>
              </a:lnSpc>
              <a:spcBef>
                <a:spcPts val="0"/>
              </a:spcBef>
              <a:spcAft>
                <a:spcPts val="0"/>
              </a:spcAft>
            </a:pPr>
            <a:r>
              <a:rPr sz="1050" b="1" i="0">
                <a:solidFill>
                  <a:srgbClr val="683C9E"/>
                </a:solidFill>
                <a:latin typeface="Segoe UI"/>
              </a:rPr>
              <a:t>03  ·  WHAT IS NEW &amp; INNOVATIVE</a:t>
            </a:r>
          </a:p>
        </p:txBody>
      </p:sp>
      <p:sp>
        <p:nvSpPr>
          <p:cNvPr id="6" name="TextBox 5"/>
          <p:cNvSpPr txBox="1"/>
          <p:nvPr/>
        </p:nvSpPr>
        <p:spPr>
          <a:xfrm>
            <a:off x="502920" y="749808"/>
            <a:ext cx="11155680" cy="566928"/>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0719C8"/>
                </a:solidFill>
                <a:latin typeface="Segoe UI"/>
              </a:rPr>
              <a:t>Beyond Availability: Priority-Aware Bed Coordination</a:t>
            </a:r>
          </a:p>
        </p:txBody>
      </p:sp>
      <p:sp>
        <p:nvSpPr>
          <p:cNvPr id="7" name="TextBox 6"/>
          <p:cNvSpPr txBox="1"/>
          <p:nvPr/>
        </p:nvSpPr>
        <p:spPr>
          <a:xfrm>
            <a:off x="502920" y="1353312"/>
            <a:ext cx="10607040" cy="310896"/>
          </a:xfrm>
          <a:prstGeom prst="rect">
            <a:avLst/>
          </a:prstGeom>
          <a:noFill/>
        </p:spPr>
        <p:txBody>
          <a:bodyPr wrap="square" lIns="0" rIns="0" tIns="0" bIns="0" anchor="t">
            <a:spAutoFit/>
          </a:bodyPr>
          <a:lstStyle/>
          <a:p>
            <a:pPr algn="l">
              <a:lnSpc>
                <a:spcPct val="100000"/>
              </a:lnSpc>
              <a:spcBef>
                <a:spcPts val="0"/>
              </a:spcBef>
              <a:spcAft>
                <a:spcPts val="0"/>
              </a:spcAft>
            </a:pPr>
            <a:r>
              <a:rPr sz="1250" b="0" i="0">
                <a:solidFill>
                  <a:srgbClr val="3A3F52"/>
                </a:solidFill>
                <a:latin typeface="Segoe UI"/>
              </a:rPr>
              <a:t>Six mechanisms implemented in the prototype — three carry the core innovation.</a:t>
            </a:r>
          </a:p>
        </p:txBody>
      </p:sp>
      <p:sp>
        <p:nvSpPr>
          <p:cNvPr id="8" name="Rounded Rectangle 7"/>
          <p:cNvSpPr/>
          <p:nvPr/>
        </p:nvSpPr>
        <p:spPr>
          <a:xfrm>
            <a:off x="502920" y="1773936"/>
            <a:ext cx="3669487" cy="2212848"/>
          </a:xfrm>
          <a:prstGeom prst="roundRect">
            <a:avLst>
              <a:gd name="adj" fmla="val 7000"/>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722376" y="1975104"/>
            <a:ext cx="512064" cy="512064"/>
          </a:xfrm>
          <a:prstGeom prst="ellipse">
            <a:avLst/>
          </a:prstGeom>
          <a:solidFill>
            <a:srgbClr val="080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Cross 9"/>
          <p:cNvSpPr/>
          <p:nvPr/>
        </p:nvSpPr>
        <p:spPr>
          <a:xfrm>
            <a:off x="890625" y="2143353"/>
            <a:ext cx="175564" cy="175564"/>
          </a:xfrm>
          <a:prstGeom prst="plus">
            <a:avLst/>
          </a:prstGeom>
          <a:solidFill>
            <a:srgbClr val="FFD2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380744" y="1975104"/>
            <a:ext cx="2651760" cy="512064"/>
          </a:xfrm>
          <a:prstGeom prst="rect">
            <a:avLst/>
          </a:prstGeom>
          <a:noFill/>
        </p:spPr>
        <p:txBody>
          <a:bodyPr wrap="square" lIns="0" rIns="0" tIns="0" bIns="0" anchor="ctr">
            <a:spAutoFit/>
          </a:bodyPr>
          <a:lstStyle/>
          <a:p>
            <a:pPr algn="l">
              <a:lnSpc>
                <a:spcPct val="100000"/>
              </a:lnSpc>
              <a:spcBef>
                <a:spcPts val="0"/>
              </a:spcBef>
              <a:spcAft>
                <a:spcPts val="0"/>
              </a:spcAft>
            </a:pPr>
            <a:r>
              <a:rPr sz="1450" b="1" i="0">
                <a:solidFill>
                  <a:srgbClr val="080808"/>
                </a:solidFill>
                <a:latin typeface="Segoe UI"/>
              </a:rPr>
              <a:t>Compatibility Matching</a:t>
            </a:r>
          </a:p>
        </p:txBody>
      </p:sp>
      <p:sp>
        <p:nvSpPr>
          <p:cNvPr id="12" name="TextBox 11"/>
          <p:cNvSpPr txBox="1"/>
          <p:nvPr/>
        </p:nvSpPr>
        <p:spPr>
          <a:xfrm>
            <a:off x="722376" y="2633472"/>
            <a:ext cx="3246120" cy="841248"/>
          </a:xfrm>
          <a:prstGeom prst="rect">
            <a:avLst/>
          </a:prstGeom>
          <a:noFill/>
        </p:spPr>
        <p:txBody>
          <a:bodyPr wrap="square" lIns="0" rIns="0" tIns="0" bIns="0" anchor="t">
            <a:spAutoFit/>
          </a:bodyPr>
          <a:lstStyle/>
          <a:p>
            <a:pPr algn="l">
              <a:lnSpc>
                <a:spcPct val="106000"/>
              </a:lnSpc>
              <a:spcBef>
                <a:spcPts val="0"/>
              </a:spcBef>
              <a:spcAft>
                <a:spcPts val="0"/>
              </a:spcAft>
            </a:pPr>
            <a:r>
              <a:rPr sz="980" b="0" i="0">
                <a:solidFill>
                  <a:srgbClr val="080808"/>
                </a:solidFill>
                <a:latin typeface="Segoe UI"/>
              </a:rPr>
              <a:t>Requests carry a required care type; matching respects the level of care the patient actually needs.</a:t>
            </a:r>
          </a:p>
        </p:txBody>
      </p:sp>
      <p:sp>
        <p:nvSpPr>
          <p:cNvPr id="13" name="Rounded Rectangle 12"/>
          <p:cNvSpPr/>
          <p:nvPr/>
        </p:nvSpPr>
        <p:spPr>
          <a:xfrm>
            <a:off x="722376" y="3547872"/>
            <a:ext cx="543153" cy="25603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22376" y="3547872"/>
            <a:ext cx="543153" cy="256032"/>
          </a:xfrm>
          <a:prstGeom prst="rect">
            <a:avLst/>
          </a:prstGeom>
          <a:noFill/>
        </p:spPr>
        <p:txBody>
          <a:bodyPr wrap="square" lIns="0" rIns="0" tIns="0" bIns="0" anchor="ctr">
            <a:spAutoFit/>
          </a:bodyPr>
          <a:lstStyle/>
          <a:p>
            <a:pPr algn="ctr">
              <a:lnSpc>
                <a:spcPct val="100000"/>
              </a:lnSpc>
              <a:spcBef>
                <a:spcPts val="0"/>
              </a:spcBef>
              <a:spcAft>
                <a:spcPts val="0"/>
              </a:spcAft>
            </a:pPr>
            <a:r>
              <a:rPr sz="840" b="1" i="0">
                <a:solidFill>
                  <a:srgbClr val="080808"/>
                </a:solidFill>
                <a:latin typeface="Segoe UI"/>
              </a:rPr>
              <a:t>General</a:t>
            </a:r>
          </a:p>
        </p:txBody>
      </p:sp>
      <p:sp>
        <p:nvSpPr>
          <p:cNvPr id="15" name="Rounded Rectangle 14"/>
          <p:cNvSpPr/>
          <p:nvPr/>
        </p:nvSpPr>
        <p:spPr>
          <a:xfrm>
            <a:off x="1356969" y="3547872"/>
            <a:ext cx="316382" cy="25603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356969" y="3547872"/>
            <a:ext cx="316382" cy="256032"/>
          </a:xfrm>
          <a:prstGeom prst="rect">
            <a:avLst/>
          </a:prstGeom>
          <a:noFill/>
        </p:spPr>
        <p:txBody>
          <a:bodyPr wrap="square" lIns="0" rIns="0" tIns="0" bIns="0" anchor="ctr">
            <a:spAutoFit/>
          </a:bodyPr>
          <a:lstStyle/>
          <a:p>
            <a:pPr algn="ctr">
              <a:lnSpc>
                <a:spcPct val="100000"/>
              </a:lnSpc>
              <a:spcBef>
                <a:spcPts val="0"/>
              </a:spcBef>
              <a:spcAft>
                <a:spcPts val="0"/>
              </a:spcAft>
            </a:pPr>
            <a:r>
              <a:rPr sz="840" b="1" i="0">
                <a:solidFill>
                  <a:srgbClr val="080808"/>
                </a:solidFill>
                <a:latin typeface="Segoe UI"/>
              </a:rPr>
              <a:t>ICU</a:t>
            </a:r>
          </a:p>
        </p:txBody>
      </p:sp>
      <p:sp>
        <p:nvSpPr>
          <p:cNvPr id="17" name="Rounded Rectangle 16"/>
          <p:cNvSpPr/>
          <p:nvPr/>
        </p:nvSpPr>
        <p:spPr>
          <a:xfrm>
            <a:off x="1764792" y="3547872"/>
            <a:ext cx="713232" cy="25603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764792" y="3547872"/>
            <a:ext cx="713232" cy="256032"/>
          </a:xfrm>
          <a:prstGeom prst="rect">
            <a:avLst/>
          </a:prstGeom>
          <a:noFill/>
        </p:spPr>
        <p:txBody>
          <a:bodyPr wrap="square" lIns="0" rIns="0" tIns="0" bIns="0" anchor="ctr">
            <a:spAutoFit/>
          </a:bodyPr>
          <a:lstStyle/>
          <a:p>
            <a:pPr algn="ctr">
              <a:lnSpc>
                <a:spcPct val="100000"/>
              </a:lnSpc>
              <a:spcBef>
                <a:spcPts val="0"/>
              </a:spcBef>
              <a:spcAft>
                <a:spcPts val="0"/>
              </a:spcAft>
            </a:pPr>
            <a:r>
              <a:rPr sz="840" b="1" i="0">
                <a:solidFill>
                  <a:srgbClr val="080808"/>
                </a:solidFill>
                <a:latin typeface="Segoe UI"/>
              </a:rPr>
              <a:t>Ventilator</a:t>
            </a:r>
          </a:p>
        </p:txBody>
      </p:sp>
      <p:sp>
        <p:nvSpPr>
          <p:cNvPr id="19" name="Rounded Rectangle 18"/>
          <p:cNvSpPr/>
          <p:nvPr/>
        </p:nvSpPr>
        <p:spPr>
          <a:xfrm>
            <a:off x="4263847" y="1773936"/>
            <a:ext cx="3669487" cy="2212848"/>
          </a:xfrm>
          <a:prstGeom prst="roundRect">
            <a:avLst>
              <a:gd name="adj" fmla="val 7000"/>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4483303" y="1975104"/>
            <a:ext cx="512064" cy="512064"/>
          </a:xfrm>
          <a:prstGeom prst="ellipse">
            <a:avLst/>
          </a:prstGeom>
          <a:solidFill>
            <a:srgbClr val="080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Pentagon 20"/>
          <p:cNvSpPr/>
          <p:nvPr/>
        </p:nvSpPr>
        <p:spPr>
          <a:xfrm rot="10800000">
            <a:off x="4629607" y="2110435"/>
            <a:ext cx="219456" cy="170078"/>
          </a:xfrm>
          <a:prstGeom prst="homePlate">
            <a:avLst/>
          </a:prstGeom>
          <a:solidFill>
            <a:srgbClr val="FFD2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rot="2700000">
            <a:off x="4668012" y="2203704"/>
            <a:ext cx="82296" cy="301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rot="18900000">
            <a:off x="4717389" y="2159812"/>
            <a:ext cx="115214" cy="301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141671" y="1975104"/>
            <a:ext cx="2651760" cy="512064"/>
          </a:xfrm>
          <a:prstGeom prst="rect">
            <a:avLst/>
          </a:prstGeom>
          <a:noFill/>
        </p:spPr>
        <p:txBody>
          <a:bodyPr wrap="square" lIns="0" rIns="0" tIns="0" bIns="0" anchor="ctr">
            <a:spAutoFit/>
          </a:bodyPr>
          <a:lstStyle/>
          <a:p>
            <a:pPr algn="l">
              <a:lnSpc>
                <a:spcPct val="100000"/>
              </a:lnSpc>
              <a:spcBef>
                <a:spcPts val="0"/>
              </a:spcBef>
              <a:spcAft>
                <a:spcPts val="0"/>
              </a:spcAft>
            </a:pPr>
            <a:r>
              <a:rPr sz="1450" b="1" i="0">
                <a:solidFill>
                  <a:srgbClr val="080808"/>
                </a:solidFill>
                <a:latin typeface="Segoe UI"/>
              </a:rPr>
              <a:t>Verified Priority</a:t>
            </a:r>
          </a:p>
        </p:txBody>
      </p:sp>
      <p:sp>
        <p:nvSpPr>
          <p:cNvPr id="25" name="TextBox 24"/>
          <p:cNvSpPr txBox="1"/>
          <p:nvPr/>
        </p:nvSpPr>
        <p:spPr>
          <a:xfrm>
            <a:off x="4483303" y="2633472"/>
            <a:ext cx="3246120" cy="841248"/>
          </a:xfrm>
          <a:prstGeom prst="rect">
            <a:avLst/>
          </a:prstGeom>
          <a:noFill/>
        </p:spPr>
        <p:txBody>
          <a:bodyPr wrap="square" lIns="0" rIns="0" tIns="0" bIns="0" anchor="t">
            <a:spAutoFit/>
          </a:bodyPr>
          <a:lstStyle/>
          <a:p>
            <a:pPr algn="l">
              <a:lnSpc>
                <a:spcPct val="106000"/>
              </a:lnSpc>
              <a:spcBef>
                <a:spcPts val="0"/>
              </a:spcBef>
              <a:spcAft>
                <a:spcPts val="0"/>
              </a:spcAft>
            </a:pPr>
            <a:r>
              <a:rPr sz="980" b="0" i="0">
                <a:solidFill>
                  <a:srgbClr val="080808"/>
                </a:solidFill>
                <a:latin typeface="Segoe UI"/>
              </a:rPr>
              <a:t>Critical, Urgent and Stable/unverified tiers, FIFO ordering for ties. Self-reported Critical alone does not raise priority.</a:t>
            </a:r>
          </a:p>
        </p:txBody>
      </p:sp>
      <p:sp>
        <p:nvSpPr>
          <p:cNvPr id="26" name="Rounded Rectangle 25"/>
          <p:cNvSpPr/>
          <p:nvPr/>
        </p:nvSpPr>
        <p:spPr>
          <a:xfrm>
            <a:off x="4483303" y="3547872"/>
            <a:ext cx="599846" cy="256032"/>
          </a:xfrm>
          <a:prstGeom prst="roundRect">
            <a:avLst>
              <a:gd name="adj" fmla="val 50000"/>
            </a:avLst>
          </a:prstGeom>
          <a:solidFill>
            <a:srgbClr val="F326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483303" y="3547872"/>
            <a:ext cx="599846" cy="256032"/>
          </a:xfrm>
          <a:prstGeom prst="rect">
            <a:avLst/>
          </a:prstGeom>
          <a:noFill/>
        </p:spPr>
        <p:txBody>
          <a:bodyPr wrap="square" lIns="0" rIns="0" tIns="0" bIns="0" anchor="ctr">
            <a:spAutoFit/>
          </a:bodyPr>
          <a:lstStyle/>
          <a:p>
            <a:pPr algn="ctr">
              <a:lnSpc>
                <a:spcPct val="100000"/>
              </a:lnSpc>
              <a:spcBef>
                <a:spcPts val="0"/>
              </a:spcBef>
              <a:spcAft>
                <a:spcPts val="0"/>
              </a:spcAft>
            </a:pPr>
            <a:r>
              <a:rPr sz="840" b="1" i="0">
                <a:solidFill>
                  <a:srgbClr val="FFFFFF"/>
                </a:solidFill>
                <a:latin typeface="Segoe UI"/>
              </a:rPr>
              <a:t>Critical</a:t>
            </a:r>
          </a:p>
        </p:txBody>
      </p:sp>
      <p:sp>
        <p:nvSpPr>
          <p:cNvPr id="28" name="Rounded Rectangle 27"/>
          <p:cNvSpPr/>
          <p:nvPr/>
        </p:nvSpPr>
        <p:spPr>
          <a:xfrm>
            <a:off x="5174589" y="3547872"/>
            <a:ext cx="486460" cy="25603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174589" y="3547872"/>
            <a:ext cx="486460" cy="256032"/>
          </a:xfrm>
          <a:prstGeom prst="rect">
            <a:avLst/>
          </a:prstGeom>
          <a:noFill/>
        </p:spPr>
        <p:txBody>
          <a:bodyPr wrap="square" lIns="0" rIns="0" tIns="0" bIns="0" anchor="ctr">
            <a:spAutoFit/>
          </a:bodyPr>
          <a:lstStyle/>
          <a:p>
            <a:pPr algn="ctr">
              <a:lnSpc>
                <a:spcPct val="100000"/>
              </a:lnSpc>
              <a:spcBef>
                <a:spcPts val="0"/>
              </a:spcBef>
              <a:spcAft>
                <a:spcPts val="0"/>
              </a:spcAft>
            </a:pPr>
            <a:r>
              <a:rPr sz="840" b="1" i="0">
                <a:solidFill>
                  <a:srgbClr val="080808"/>
                </a:solidFill>
                <a:latin typeface="Segoe UI"/>
              </a:rPr>
              <a:t>Urgent</a:t>
            </a:r>
          </a:p>
        </p:txBody>
      </p:sp>
      <p:sp>
        <p:nvSpPr>
          <p:cNvPr id="30" name="Rounded Rectangle 29"/>
          <p:cNvSpPr/>
          <p:nvPr/>
        </p:nvSpPr>
        <p:spPr>
          <a:xfrm>
            <a:off x="5752490" y="3547872"/>
            <a:ext cx="1223467" cy="25603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5752490" y="3547872"/>
            <a:ext cx="1223467" cy="256032"/>
          </a:xfrm>
          <a:prstGeom prst="rect">
            <a:avLst/>
          </a:prstGeom>
          <a:noFill/>
        </p:spPr>
        <p:txBody>
          <a:bodyPr wrap="square" lIns="0" rIns="0" tIns="0" bIns="0" anchor="ctr">
            <a:spAutoFit/>
          </a:bodyPr>
          <a:lstStyle/>
          <a:p>
            <a:pPr algn="ctr">
              <a:lnSpc>
                <a:spcPct val="100000"/>
              </a:lnSpc>
              <a:spcBef>
                <a:spcPts val="0"/>
              </a:spcBef>
              <a:spcAft>
                <a:spcPts val="0"/>
              </a:spcAft>
            </a:pPr>
            <a:r>
              <a:rPr sz="840" b="1" i="0">
                <a:solidFill>
                  <a:srgbClr val="080808"/>
                </a:solidFill>
                <a:latin typeface="Segoe UI"/>
              </a:rPr>
              <a:t>Stable / unverified</a:t>
            </a:r>
          </a:p>
        </p:txBody>
      </p:sp>
      <p:sp>
        <p:nvSpPr>
          <p:cNvPr id="32" name="Rounded Rectangle 31"/>
          <p:cNvSpPr/>
          <p:nvPr/>
        </p:nvSpPr>
        <p:spPr>
          <a:xfrm>
            <a:off x="8024774" y="1773936"/>
            <a:ext cx="3669487" cy="2212848"/>
          </a:xfrm>
          <a:prstGeom prst="roundRect">
            <a:avLst>
              <a:gd name="adj" fmla="val 7000"/>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Oval 32"/>
          <p:cNvSpPr/>
          <p:nvPr/>
        </p:nvSpPr>
        <p:spPr>
          <a:xfrm>
            <a:off x="8244230" y="1975104"/>
            <a:ext cx="512064" cy="512064"/>
          </a:xfrm>
          <a:prstGeom prst="ellipse">
            <a:avLst/>
          </a:prstGeom>
          <a:solidFill>
            <a:srgbClr val="080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Oval 33"/>
          <p:cNvSpPr/>
          <p:nvPr/>
        </p:nvSpPr>
        <p:spPr>
          <a:xfrm>
            <a:off x="8434425" y="2104948"/>
            <a:ext cx="131673" cy="131673"/>
          </a:xfrm>
          <a:prstGeom prst="ellipse">
            <a:avLst/>
          </a:prstGeom>
          <a:noFill/>
          <a:ln w="30480">
            <a:solidFill>
              <a:srgbClr val="FFD21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8396020" y="2225649"/>
            <a:ext cx="208483" cy="142646"/>
          </a:xfrm>
          <a:prstGeom prst="roundRect">
            <a:avLst>
              <a:gd name="adj" fmla="val 18000"/>
            </a:avLst>
          </a:prstGeom>
          <a:solidFill>
            <a:srgbClr val="FFD2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902598" y="1975104"/>
            <a:ext cx="2651760" cy="512064"/>
          </a:xfrm>
          <a:prstGeom prst="rect">
            <a:avLst/>
          </a:prstGeom>
          <a:noFill/>
        </p:spPr>
        <p:txBody>
          <a:bodyPr wrap="square" lIns="0" rIns="0" tIns="0" bIns="0" anchor="ctr">
            <a:spAutoFit/>
          </a:bodyPr>
          <a:lstStyle/>
          <a:p>
            <a:pPr algn="l">
              <a:lnSpc>
                <a:spcPct val="100000"/>
              </a:lnSpc>
              <a:spcBef>
                <a:spcPts val="0"/>
              </a:spcBef>
              <a:spcAft>
                <a:spcPts val="0"/>
              </a:spcAft>
            </a:pPr>
            <a:r>
              <a:rPr sz="1450" b="1" i="0">
                <a:solidFill>
                  <a:srgbClr val="080808"/>
                </a:solidFill>
                <a:latin typeface="Segoe UI"/>
              </a:rPr>
              <a:t>Protected Reservations</a:t>
            </a:r>
          </a:p>
        </p:txBody>
      </p:sp>
      <p:sp>
        <p:nvSpPr>
          <p:cNvPr id="37" name="TextBox 36"/>
          <p:cNvSpPr txBox="1"/>
          <p:nvPr/>
        </p:nvSpPr>
        <p:spPr>
          <a:xfrm>
            <a:off x="8244230" y="2633472"/>
            <a:ext cx="3246120" cy="841248"/>
          </a:xfrm>
          <a:prstGeom prst="rect">
            <a:avLst/>
          </a:prstGeom>
          <a:noFill/>
        </p:spPr>
        <p:txBody>
          <a:bodyPr wrap="square" lIns="0" rIns="0" tIns="0" bIns="0" anchor="t">
            <a:spAutoFit/>
          </a:bodyPr>
          <a:lstStyle/>
          <a:p>
            <a:pPr algn="l">
              <a:lnSpc>
                <a:spcPct val="106000"/>
              </a:lnSpc>
              <a:spcBef>
                <a:spcPts val="0"/>
              </a:spcBef>
              <a:spcAft>
                <a:spcPts val="0"/>
              </a:spcAft>
            </a:pPr>
            <a:r>
              <a:rPr sz="980" b="0" i="0">
                <a:solidFill>
                  <a:srgbClr val="080808"/>
                </a:solidFill>
                <a:latin typeface="Segoe UI"/>
              </a:rPr>
              <a:t>Temporary holds carry a five-minute expiry; confirmed reservations and occupied beds are protected from reclamation.</a:t>
            </a:r>
          </a:p>
        </p:txBody>
      </p:sp>
      <p:sp>
        <p:nvSpPr>
          <p:cNvPr id="38" name="Rounded Rectangle 37"/>
          <p:cNvSpPr/>
          <p:nvPr/>
        </p:nvSpPr>
        <p:spPr>
          <a:xfrm>
            <a:off x="8244230" y="3547872"/>
            <a:ext cx="826617" cy="256032"/>
          </a:xfrm>
          <a:prstGeom prst="roundRect">
            <a:avLst>
              <a:gd name="adj" fmla="val 50000"/>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8244230" y="3547872"/>
            <a:ext cx="826617" cy="256032"/>
          </a:xfrm>
          <a:prstGeom prst="rect">
            <a:avLst/>
          </a:prstGeom>
          <a:noFill/>
        </p:spPr>
        <p:txBody>
          <a:bodyPr wrap="square" lIns="0" rIns="0" tIns="0" bIns="0" anchor="ctr">
            <a:spAutoFit/>
          </a:bodyPr>
          <a:lstStyle/>
          <a:p>
            <a:pPr algn="ctr">
              <a:lnSpc>
                <a:spcPct val="100000"/>
              </a:lnSpc>
              <a:spcBef>
                <a:spcPts val="0"/>
              </a:spcBef>
              <a:spcAft>
                <a:spcPts val="0"/>
              </a:spcAft>
            </a:pPr>
            <a:r>
              <a:rPr sz="840" b="1" i="0">
                <a:solidFill>
                  <a:srgbClr val="080808"/>
                </a:solidFill>
                <a:latin typeface="Segoe UI"/>
              </a:rPr>
              <a:t>5-min expiry</a:t>
            </a:r>
          </a:p>
        </p:txBody>
      </p:sp>
      <p:sp>
        <p:nvSpPr>
          <p:cNvPr id="40" name="Rounded Rectangle 39"/>
          <p:cNvSpPr/>
          <p:nvPr/>
        </p:nvSpPr>
        <p:spPr>
          <a:xfrm>
            <a:off x="9162288" y="3547872"/>
            <a:ext cx="1336852" cy="256032"/>
          </a:xfrm>
          <a:prstGeom prst="roundRect">
            <a:avLst>
              <a:gd name="adj" fmla="val 50000"/>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9162288" y="3547872"/>
            <a:ext cx="1336852" cy="256032"/>
          </a:xfrm>
          <a:prstGeom prst="rect">
            <a:avLst/>
          </a:prstGeom>
          <a:noFill/>
        </p:spPr>
        <p:txBody>
          <a:bodyPr wrap="square" lIns="0" rIns="0" tIns="0" bIns="0" anchor="ctr">
            <a:spAutoFit/>
          </a:bodyPr>
          <a:lstStyle/>
          <a:p>
            <a:pPr algn="ctr">
              <a:lnSpc>
                <a:spcPct val="100000"/>
              </a:lnSpc>
              <a:spcBef>
                <a:spcPts val="0"/>
              </a:spcBef>
              <a:spcAft>
                <a:spcPts val="0"/>
              </a:spcAft>
            </a:pPr>
            <a:r>
              <a:rPr sz="840" b="1" i="0">
                <a:solidFill>
                  <a:srgbClr val="080808"/>
                </a:solidFill>
                <a:latin typeface="Segoe UI"/>
              </a:rPr>
              <a:t>Confirmed = protected</a:t>
            </a:r>
          </a:p>
        </p:txBody>
      </p:sp>
      <p:sp>
        <p:nvSpPr>
          <p:cNvPr id="42" name="Rounded Rectangle 41"/>
          <p:cNvSpPr/>
          <p:nvPr/>
        </p:nvSpPr>
        <p:spPr>
          <a:xfrm>
            <a:off x="502920" y="4151376"/>
            <a:ext cx="3669487" cy="969264"/>
          </a:xfrm>
          <a:prstGeom prst="roundRect">
            <a:avLst>
              <a:gd name="adj" fmla="val 9000"/>
            </a:avLst>
          </a:prstGeom>
          <a:solidFill>
            <a:srgbClr val="683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Oval 42"/>
          <p:cNvSpPr/>
          <p:nvPr/>
        </p:nvSpPr>
        <p:spPr>
          <a:xfrm>
            <a:off x="713963" y="4362419"/>
            <a:ext cx="199704" cy="199704"/>
          </a:xfrm>
          <a:prstGeom prst="ellipse">
            <a:avLst/>
          </a:prstGeom>
          <a:noFill/>
          <a:ln w="27940">
            <a:solidFill>
              <a:srgbClr val="FFD21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805494" y="4395703"/>
            <a:ext cx="16642" cy="71323"/>
          </a:xfrm>
          <a:prstGeom prst="rect">
            <a:avLst/>
          </a:prstGeom>
          <a:solidFill>
            <a:srgbClr val="FFD2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809061" y="4453950"/>
            <a:ext cx="61813" cy="16642"/>
          </a:xfrm>
          <a:prstGeom prst="rect">
            <a:avLst/>
          </a:prstGeom>
          <a:solidFill>
            <a:srgbClr val="FFD2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1069848" y="4279392"/>
            <a:ext cx="2971800" cy="256032"/>
          </a:xfrm>
          <a:prstGeom prst="rect">
            <a:avLst/>
          </a:prstGeom>
          <a:noFill/>
        </p:spPr>
        <p:txBody>
          <a:bodyPr wrap="square" lIns="0" rIns="0" tIns="0" bIns="0" anchor="t">
            <a:spAutoFit/>
          </a:bodyPr>
          <a:lstStyle/>
          <a:p>
            <a:pPr algn="l">
              <a:lnSpc>
                <a:spcPct val="100000"/>
              </a:lnSpc>
              <a:spcBef>
                <a:spcPts val="0"/>
              </a:spcBef>
              <a:spcAft>
                <a:spcPts val="0"/>
              </a:spcAft>
            </a:pPr>
            <a:r>
              <a:rPr sz="1080" b="1" i="0">
                <a:solidFill>
                  <a:srgbClr val="FFFFFF"/>
                </a:solidFill>
                <a:latin typeface="Segoe UI"/>
              </a:rPr>
              <a:t>Temporary bed holds</a:t>
            </a:r>
          </a:p>
        </p:txBody>
      </p:sp>
      <p:sp>
        <p:nvSpPr>
          <p:cNvPr id="47" name="TextBox 46"/>
          <p:cNvSpPr txBox="1"/>
          <p:nvPr/>
        </p:nvSpPr>
        <p:spPr>
          <a:xfrm>
            <a:off x="1069848" y="4553712"/>
            <a:ext cx="2971800" cy="512064"/>
          </a:xfrm>
          <a:prstGeom prst="rect">
            <a:avLst/>
          </a:prstGeom>
          <a:noFill/>
        </p:spPr>
        <p:txBody>
          <a:bodyPr wrap="square" lIns="0" rIns="0" tIns="0" bIns="0" anchor="t">
            <a:spAutoFit/>
          </a:bodyPr>
          <a:lstStyle/>
          <a:p>
            <a:pPr algn="l">
              <a:lnSpc>
                <a:spcPct val="102000"/>
              </a:lnSpc>
              <a:spcBef>
                <a:spcPts val="0"/>
              </a:spcBef>
              <a:spcAft>
                <a:spcPts val="0"/>
              </a:spcAft>
            </a:pPr>
            <a:r>
              <a:rPr sz="850" b="0" i="0">
                <a:solidFill>
                  <a:srgbClr val="E9E1F5"/>
                </a:solidFill>
                <a:latin typeface="Segoe UI"/>
              </a:rPr>
              <a:t>Holds and reservations expire after five minutes, evaluated on server reads and actions. Occupied beds never expire.</a:t>
            </a:r>
          </a:p>
        </p:txBody>
      </p:sp>
      <p:sp>
        <p:nvSpPr>
          <p:cNvPr id="48" name="Rounded Rectangle 47"/>
          <p:cNvSpPr/>
          <p:nvPr/>
        </p:nvSpPr>
        <p:spPr>
          <a:xfrm>
            <a:off x="4263847" y="4151376"/>
            <a:ext cx="3669487" cy="969264"/>
          </a:xfrm>
          <a:prstGeom prst="roundRect">
            <a:avLst>
              <a:gd name="adj" fmla="val 9000"/>
            </a:avLst>
          </a:prstGeom>
          <a:solidFill>
            <a:srgbClr val="683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Block Arc 48"/>
          <p:cNvSpPr/>
          <p:nvPr/>
        </p:nvSpPr>
        <p:spPr>
          <a:xfrm rot="1800000">
            <a:off x="4479645" y="4367174"/>
            <a:ext cx="190195" cy="190195"/>
          </a:xfrm>
          <a:prstGeom prst="blockArc">
            <a:avLst/>
          </a:prstGeom>
          <a:solidFill>
            <a:srgbClr val="FFD2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Isosceles Triangle 49"/>
          <p:cNvSpPr/>
          <p:nvPr/>
        </p:nvSpPr>
        <p:spPr>
          <a:xfrm rot="5400000">
            <a:off x="4579498" y="4348154"/>
            <a:ext cx="71323" cy="61813"/>
          </a:xfrm>
          <a:prstGeom prst="triangle">
            <a:avLst/>
          </a:prstGeom>
          <a:solidFill>
            <a:srgbClr val="FFD2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4830775" y="4279392"/>
            <a:ext cx="2971800" cy="256032"/>
          </a:xfrm>
          <a:prstGeom prst="rect">
            <a:avLst/>
          </a:prstGeom>
          <a:noFill/>
        </p:spPr>
        <p:txBody>
          <a:bodyPr wrap="square" lIns="0" rIns="0" tIns="0" bIns="0" anchor="t">
            <a:spAutoFit/>
          </a:bodyPr>
          <a:lstStyle/>
          <a:p>
            <a:pPr algn="l">
              <a:lnSpc>
                <a:spcPct val="100000"/>
              </a:lnSpc>
              <a:spcBef>
                <a:spcPts val="0"/>
              </a:spcBef>
              <a:spcAft>
                <a:spcPts val="0"/>
              </a:spcAft>
            </a:pPr>
            <a:r>
              <a:rPr sz="1080" b="1" i="0">
                <a:solidFill>
                  <a:srgbClr val="FFFFFF"/>
                </a:solidFill>
                <a:latin typeface="Segoe UI"/>
              </a:rPr>
              <a:t>Priority-aware reclamation</a:t>
            </a:r>
          </a:p>
        </p:txBody>
      </p:sp>
      <p:sp>
        <p:nvSpPr>
          <p:cNvPr id="52" name="TextBox 51"/>
          <p:cNvSpPr txBox="1"/>
          <p:nvPr/>
        </p:nvSpPr>
        <p:spPr>
          <a:xfrm>
            <a:off x="4830775" y="4553712"/>
            <a:ext cx="2971800" cy="512064"/>
          </a:xfrm>
          <a:prstGeom prst="rect">
            <a:avLst/>
          </a:prstGeom>
          <a:noFill/>
        </p:spPr>
        <p:txBody>
          <a:bodyPr wrap="square" lIns="0" rIns="0" tIns="0" bIns="0" anchor="t">
            <a:spAutoFit/>
          </a:bodyPr>
          <a:lstStyle/>
          <a:p>
            <a:pPr algn="l">
              <a:lnSpc>
                <a:spcPct val="102000"/>
              </a:lnSpc>
              <a:spcBef>
                <a:spcPts val="0"/>
              </a:spcBef>
              <a:spcAft>
                <a:spcPts val="0"/>
              </a:spcAft>
            </a:pPr>
            <a:r>
              <a:rPr sz="850" b="0" i="0">
                <a:solidFill>
                  <a:srgbClr val="E9E1F5"/>
                </a:solidFill>
                <a:latin typeface="Segoe UI"/>
              </a:rPr>
              <a:t>A higher verified priority can reclaim a lower-priority temporary hold; confirmed reservations and occupied beds stay protected.</a:t>
            </a:r>
          </a:p>
        </p:txBody>
      </p:sp>
      <p:sp>
        <p:nvSpPr>
          <p:cNvPr id="53" name="Rounded Rectangle 52"/>
          <p:cNvSpPr/>
          <p:nvPr/>
        </p:nvSpPr>
        <p:spPr>
          <a:xfrm>
            <a:off x="8024774" y="4151376"/>
            <a:ext cx="3669487" cy="969264"/>
          </a:xfrm>
          <a:prstGeom prst="roundRect">
            <a:avLst>
              <a:gd name="adj" fmla="val 9000"/>
            </a:avLst>
          </a:prstGeom>
          <a:solidFill>
            <a:srgbClr val="683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Oval 53"/>
          <p:cNvSpPr/>
          <p:nvPr/>
        </p:nvSpPr>
        <p:spPr>
          <a:xfrm>
            <a:off x="8240572" y="4367174"/>
            <a:ext cx="71323" cy="71323"/>
          </a:xfrm>
          <a:prstGeom prst="ellipse">
            <a:avLst/>
          </a:prstGeom>
          <a:solidFill>
            <a:srgbClr val="FFD2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Round Same Side Corner Rectangle 54"/>
          <p:cNvSpPr/>
          <p:nvPr/>
        </p:nvSpPr>
        <p:spPr>
          <a:xfrm>
            <a:off x="8221553" y="4467026"/>
            <a:ext cx="109362" cy="95097"/>
          </a:xfrm>
          <a:prstGeom prst="round2SameRect">
            <a:avLst/>
          </a:prstGeom>
          <a:solidFill>
            <a:srgbClr val="FFD2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Oval 55"/>
          <p:cNvSpPr/>
          <p:nvPr/>
        </p:nvSpPr>
        <p:spPr>
          <a:xfrm>
            <a:off x="8349935" y="4386193"/>
            <a:ext cx="61813" cy="61813"/>
          </a:xfrm>
          <a:prstGeom prst="ellipse">
            <a:avLst/>
          </a:prstGeom>
          <a:solidFill>
            <a:srgbClr val="FFD2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Round Same Side Corner Rectangle 56"/>
          <p:cNvSpPr/>
          <p:nvPr/>
        </p:nvSpPr>
        <p:spPr>
          <a:xfrm>
            <a:off x="8335670" y="4486046"/>
            <a:ext cx="95097" cy="80832"/>
          </a:xfrm>
          <a:prstGeom prst="round2SameRect">
            <a:avLst/>
          </a:prstGeom>
          <a:solidFill>
            <a:srgbClr val="FFD2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8591702" y="4279392"/>
            <a:ext cx="2971800" cy="256032"/>
          </a:xfrm>
          <a:prstGeom prst="rect">
            <a:avLst/>
          </a:prstGeom>
          <a:noFill/>
        </p:spPr>
        <p:txBody>
          <a:bodyPr wrap="square" lIns="0" rIns="0" tIns="0" bIns="0" anchor="t">
            <a:spAutoFit/>
          </a:bodyPr>
          <a:lstStyle/>
          <a:p>
            <a:pPr algn="l">
              <a:lnSpc>
                <a:spcPct val="100000"/>
              </a:lnSpc>
              <a:spcBef>
                <a:spcPts val="0"/>
              </a:spcBef>
              <a:spcAft>
                <a:spcPts val="0"/>
              </a:spcAft>
            </a:pPr>
            <a:r>
              <a:rPr sz="1080" b="1" i="0">
                <a:solidFill>
                  <a:srgbClr val="FFFFFF"/>
                </a:solidFill>
                <a:latin typeface="Segoe UI"/>
              </a:rPr>
              <a:t>Controlled states &amp; roles</a:t>
            </a:r>
          </a:p>
        </p:txBody>
      </p:sp>
      <p:sp>
        <p:nvSpPr>
          <p:cNvPr id="59" name="TextBox 58"/>
          <p:cNvSpPr txBox="1"/>
          <p:nvPr/>
        </p:nvSpPr>
        <p:spPr>
          <a:xfrm>
            <a:off x="8591702" y="4553712"/>
            <a:ext cx="2971800" cy="512064"/>
          </a:xfrm>
          <a:prstGeom prst="rect">
            <a:avLst/>
          </a:prstGeom>
          <a:noFill/>
        </p:spPr>
        <p:txBody>
          <a:bodyPr wrap="square" lIns="0" rIns="0" tIns="0" bIns="0" anchor="t">
            <a:spAutoFit/>
          </a:bodyPr>
          <a:lstStyle/>
          <a:p>
            <a:pPr algn="l">
              <a:lnSpc>
                <a:spcPct val="102000"/>
              </a:lnSpc>
              <a:spcBef>
                <a:spcPts val="0"/>
              </a:spcBef>
              <a:spcAft>
                <a:spcPts val="0"/>
              </a:spcAft>
            </a:pPr>
            <a:r>
              <a:rPr sz="850" b="0" i="0">
                <a:solidFill>
                  <a:srgbClr val="E9E1F5"/>
                </a:solidFill>
                <a:latin typeface="Segoe UI"/>
              </a:rPr>
              <a:t>Temporary Hold, Reserved and Occupied are distinct states; patients, operators and admins act only within their permissions.</a:t>
            </a:r>
          </a:p>
        </p:txBody>
      </p:sp>
      <p:sp>
        <p:nvSpPr>
          <p:cNvPr id="60" name="Rounded Rectangle 59"/>
          <p:cNvSpPr/>
          <p:nvPr/>
        </p:nvSpPr>
        <p:spPr>
          <a:xfrm>
            <a:off x="502920" y="5266944"/>
            <a:ext cx="11185855" cy="786384"/>
          </a:xfrm>
          <a:prstGeom prst="roundRect">
            <a:avLst>
              <a:gd name="adj" fmla="val 10000"/>
            </a:avLst>
          </a:prstGeom>
          <a:solidFill>
            <a:srgbClr val="0719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Rounded Rectangle 60"/>
          <p:cNvSpPr/>
          <p:nvPr/>
        </p:nvSpPr>
        <p:spPr>
          <a:xfrm>
            <a:off x="758952" y="5385816"/>
            <a:ext cx="1481328" cy="256032"/>
          </a:xfrm>
          <a:prstGeom prst="roundRect">
            <a:avLst>
              <a:gd name="adj" fmla="val 50000"/>
            </a:avLst>
          </a:prstGeom>
          <a:solidFill>
            <a:srgbClr val="FFD2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758952" y="5385816"/>
            <a:ext cx="1481328" cy="256032"/>
          </a:xfrm>
          <a:prstGeom prst="rect">
            <a:avLst/>
          </a:prstGeom>
          <a:noFill/>
        </p:spPr>
        <p:txBody>
          <a:bodyPr wrap="square" lIns="0" rIns="0" tIns="0" bIns="0" anchor="ctr">
            <a:spAutoFit/>
          </a:bodyPr>
          <a:lstStyle/>
          <a:p>
            <a:pPr algn="ctr">
              <a:lnSpc>
                <a:spcPct val="100000"/>
              </a:lnSpc>
              <a:spcBef>
                <a:spcPts val="0"/>
              </a:spcBef>
              <a:spcAft>
                <a:spcPts val="0"/>
              </a:spcAft>
            </a:pPr>
            <a:r>
              <a:rPr sz="880" b="1" i="0">
                <a:solidFill>
                  <a:srgbClr val="080808"/>
                </a:solidFill>
                <a:latin typeface="Segoe UI"/>
              </a:rPr>
              <a:t>OUR INNOVATION</a:t>
            </a:r>
          </a:p>
        </p:txBody>
      </p:sp>
      <p:sp>
        <p:nvSpPr>
          <p:cNvPr id="63" name="TextBox 62"/>
          <p:cNvSpPr txBox="1"/>
          <p:nvPr/>
        </p:nvSpPr>
        <p:spPr>
          <a:xfrm>
            <a:off x="758952" y="5669280"/>
            <a:ext cx="10698480" cy="329184"/>
          </a:xfrm>
          <a:prstGeom prst="rect">
            <a:avLst/>
          </a:prstGeom>
          <a:noFill/>
        </p:spPr>
        <p:txBody>
          <a:bodyPr wrap="square" lIns="0" rIns="0" tIns="0" bIns="0" anchor="ctr">
            <a:spAutoFit/>
          </a:bodyPr>
          <a:lstStyle/>
          <a:p>
            <a:pPr algn="l">
              <a:lnSpc>
                <a:spcPct val="100000"/>
              </a:lnSpc>
              <a:spcBef>
                <a:spcPts val="0"/>
              </a:spcBef>
              <a:spcAft>
                <a:spcPts val="0"/>
              </a:spcAft>
            </a:pPr>
            <a:r>
              <a:rPr sz="1350" b="1" i="0">
                <a:solidFill>
                  <a:srgbClr val="FFFFFF"/>
                </a:solidFill>
                <a:latin typeface="Segoe UI"/>
              </a:rPr>
              <a:t>Compatible-care matching + operator-verified priority + controlled bed allocation in one workflow.</a:t>
            </a:r>
          </a:p>
        </p:txBody>
      </p:sp>
      <p:sp>
        <p:nvSpPr>
          <p:cNvPr id="64" name="TextBox 63"/>
          <p:cNvSpPr txBox="1"/>
          <p:nvPr/>
        </p:nvSpPr>
        <p:spPr>
          <a:xfrm>
            <a:off x="502920" y="6492240"/>
            <a:ext cx="7315200" cy="237744"/>
          </a:xfrm>
          <a:prstGeom prst="rect">
            <a:avLst/>
          </a:prstGeom>
          <a:noFill/>
        </p:spPr>
        <p:txBody>
          <a:bodyPr wrap="square" lIns="0" rIns="0" tIns="0" bIns="0" anchor="t">
            <a:spAutoFit/>
          </a:bodyPr>
          <a:lstStyle/>
          <a:p>
            <a:pPr algn="l">
              <a:lnSpc>
                <a:spcPct val="100000"/>
              </a:lnSpc>
              <a:spcBef>
                <a:spcPts val="0"/>
              </a:spcBef>
              <a:spcAft>
                <a:spcPts val="0"/>
              </a:spcAft>
            </a:pPr>
            <a:r>
              <a:rPr sz="850" b="0" i="0">
                <a:solidFill>
                  <a:srgbClr val="8A90A6"/>
                </a:solidFill>
                <a:latin typeface="Segoe UI"/>
              </a:rPr>
              <a:t>CareRoute — Emergency Bed Coordination System   ·   Team Tech Head</a:t>
            </a:r>
          </a:p>
        </p:txBody>
      </p:sp>
      <p:sp>
        <p:nvSpPr>
          <p:cNvPr id="65" name="TextBox 64"/>
          <p:cNvSpPr txBox="1"/>
          <p:nvPr/>
        </p:nvSpPr>
        <p:spPr>
          <a:xfrm>
            <a:off x="10378440" y="6492240"/>
            <a:ext cx="1307592" cy="237744"/>
          </a:xfrm>
          <a:prstGeom prst="rect">
            <a:avLst/>
          </a:prstGeom>
          <a:noFill/>
        </p:spPr>
        <p:txBody>
          <a:bodyPr wrap="square" lIns="0" rIns="0" tIns="0" bIns="0" anchor="t">
            <a:spAutoFit/>
          </a:bodyPr>
          <a:lstStyle/>
          <a:p>
            <a:pPr algn="r">
              <a:lnSpc>
                <a:spcPct val="100000"/>
              </a:lnSpc>
              <a:spcBef>
                <a:spcPts val="0"/>
              </a:spcBef>
              <a:spcAft>
                <a:spcPts val="0"/>
              </a:spcAft>
            </a:pPr>
            <a:r>
              <a:rPr sz="850" b="1" i="0">
                <a:solidFill>
                  <a:srgbClr val="8A90A6"/>
                </a:solidFill>
                <a:latin typeface="Segoe UI"/>
              </a:rPr>
              <a:t>04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719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502920" y="384048"/>
            <a:ext cx="91440" cy="274320"/>
          </a:xfrm>
          <a:prstGeom prst="roundRect">
            <a:avLst>
              <a:gd name="adj" fmla="val 50000"/>
            </a:avLst>
          </a:prstGeom>
          <a:solidFill>
            <a:srgbClr val="0719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85800" y="397764"/>
            <a:ext cx="7863840" cy="274320"/>
          </a:xfrm>
          <a:prstGeom prst="rect">
            <a:avLst/>
          </a:prstGeom>
          <a:noFill/>
        </p:spPr>
        <p:txBody>
          <a:bodyPr wrap="square" lIns="0" rIns="0" tIns="0" bIns="0" anchor="ctr">
            <a:spAutoFit/>
          </a:bodyPr>
          <a:lstStyle/>
          <a:p>
            <a:pPr algn="l">
              <a:lnSpc>
                <a:spcPct val="100000"/>
              </a:lnSpc>
              <a:spcBef>
                <a:spcPts val="0"/>
              </a:spcBef>
              <a:spcAft>
                <a:spcPts val="0"/>
              </a:spcAft>
            </a:pPr>
            <a:r>
              <a:rPr sz="1050" b="1" i="0">
                <a:solidFill>
                  <a:srgbClr val="0719C8"/>
                </a:solidFill>
                <a:latin typeface="Segoe UI"/>
              </a:rPr>
              <a:t>04  ·  TECHNOLOGY &amp; ARCHITECTURE</a:t>
            </a:r>
          </a:p>
        </p:txBody>
      </p:sp>
      <p:sp>
        <p:nvSpPr>
          <p:cNvPr id="6" name="TextBox 5"/>
          <p:cNvSpPr txBox="1"/>
          <p:nvPr/>
        </p:nvSpPr>
        <p:spPr>
          <a:xfrm>
            <a:off x="502920" y="749808"/>
            <a:ext cx="11155680" cy="566928"/>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0719C8"/>
                </a:solidFill>
                <a:latin typeface="Segoe UI"/>
              </a:rPr>
              <a:t>How We Built CareRoute</a:t>
            </a:r>
          </a:p>
        </p:txBody>
      </p:sp>
      <p:sp>
        <p:nvSpPr>
          <p:cNvPr id="7" name="TextBox 6"/>
          <p:cNvSpPr txBox="1"/>
          <p:nvPr/>
        </p:nvSpPr>
        <p:spPr>
          <a:xfrm>
            <a:off x="502920" y="1353312"/>
            <a:ext cx="10607040" cy="310896"/>
          </a:xfrm>
          <a:prstGeom prst="rect">
            <a:avLst/>
          </a:prstGeom>
          <a:noFill/>
        </p:spPr>
        <p:txBody>
          <a:bodyPr wrap="square" lIns="0" rIns="0" tIns="0" bIns="0" anchor="t">
            <a:spAutoFit/>
          </a:bodyPr>
          <a:lstStyle/>
          <a:p>
            <a:pPr algn="l">
              <a:lnSpc>
                <a:spcPct val="100000"/>
              </a:lnSpc>
              <a:spcBef>
                <a:spcPts val="0"/>
              </a:spcBef>
              <a:spcAft>
                <a:spcPts val="0"/>
              </a:spcAft>
            </a:pPr>
            <a:r>
              <a:rPr sz="1250" b="0" i="0">
                <a:solidFill>
                  <a:srgbClr val="3A3F52"/>
                </a:solidFill>
                <a:latin typeface="Segoe UI"/>
              </a:rPr>
              <a:t>Laravel 8 + PHP over MySQL/MariaDB, with emergency state kept in file-locked JSON.</a:t>
            </a:r>
          </a:p>
        </p:txBody>
      </p:sp>
      <p:sp>
        <p:nvSpPr>
          <p:cNvPr id="8" name="Rounded Rectangle 7"/>
          <p:cNvSpPr/>
          <p:nvPr/>
        </p:nvSpPr>
        <p:spPr>
          <a:xfrm>
            <a:off x="502920" y="1755648"/>
            <a:ext cx="4160520" cy="896112"/>
          </a:xfrm>
          <a:prstGeom prst="roundRect">
            <a:avLst>
              <a:gd name="adj" fmla="val 9000"/>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695675" y="1948403"/>
            <a:ext cx="90342" cy="90342"/>
          </a:xfrm>
          <a:prstGeom prst="roundRect">
            <a:avLst>
              <a:gd name="adj" fmla="val 20000"/>
            </a:avLst>
          </a:prstGeom>
          <a:solidFill>
            <a:srgbClr val="080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805037" y="1948403"/>
            <a:ext cx="90342" cy="90342"/>
          </a:xfrm>
          <a:prstGeom prst="roundRect">
            <a:avLst>
              <a:gd name="adj" fmla="val 20000"/>
            </a:avLst>
          </a:prstGeom>
          <a:solidFill>
            <a:srgbClr val="080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95675" y="2057765"/>
            <a:ext cx="90342" cy="90342"/>
          </a:xfrm>
          <a:prstGeom prst="roundRect">
            <a:avLst>
              <a:gd name="adj" fmla="val 20000"/>
            </a:avLst>
          </a:prstGeom>
          <a:solidFill>
            <a:srgbClr val="080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805037" y="2057765"/>
            <a:ext cx="90342" cy="90342"/>
          </a:xfrm>
          <a:prstGeom prst="roundRect">
            <a:avLst>
              <a:gd name="adj" fmla="val 20000"/>
            </a:avLst>
          </a:prstGeom>
          <a:solidFill>
            <a:srgbClr val="080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69848" y="1828800"/>
            <a:ext cx="3429000" cy="256032"/>
          </a:xfrm>
          <a:prstGeom prst="rect">
            <a:avLst/>
          </a:prstGeom>
          <a:noFill/>
        </p:spPr>
        <p:txBody>
          <a:bodyPr wrap="square" lIns="0" rIns="0" tIns="0" bIns="0" anchor="t">
            <a:spAutoFit/>
          </a:bodyPr>
          <a:lstStyle/>
          <a:p>
            <a:pPr algn="l">
              <a:lnSpc>
                <a:spcPct val="100000"/>
              </a:lnSpc>
              <a:spcBef>
                <a:spcPts val="0"/>
              </a:spcBef>
              <a:spcAft>
                <a:spcPts val="0"/>
              </a:spcAft>
            </a:pPr>
            <a:r>
              <a:rPr sz="1100" b="1" i="0">
                <a:solidFill>
                  <a:srgbClr val="080808"/>
                </a:solidFill>
                <a:latin typeface="Segoe UI"/>
              </a:rPr>
              <a:t>FRONTEND — role dashboards</a:t>
            </a:r>
          </a:p>
        </p:txBody>
      </p:sp>
      <p:sp>
        <p:nvSpPr>
          <p:cNvPr id="14" name="TextBox 13"/>
          <p:cNvSpPr txBox="1"/>
          <p:nvPr/>
        </p:nvSpPr>
        <p:spPr>
          <a:xfrm>
            <a:off x="1069848" y="2103120"/>
            <a:ext cx="3429000" cy="475488"/>
          </a:xfrm>
          <a:prstGeom prst="rect">
            <a:avLst/>
          </a:prstGeom>
          <a:noFill/>
        </p:spPr>
        <p:txBody>
          <a:bodyPr wrap="square" lIns="0" rIns="0" tIns="0" bIns="0" anchor="t">
            <a:spAutoFit/>
          </a:bodyPr>
          <a:lstStyle/>
          <a:p>
            <a:pPr algn="l">
              <a:lnSpc>
                <a:spcPct val="102000"/>
              </a:lnSpc>
              <a:spcBef>
                <a:spcPts val="0"/>
              </a:spcBef>
              <a:spcAft>
                <a:spcPts val="0"/>
              </a:spcAft>
            </a:pPr>
            <a:r>
              <a:rPr sz="880" b="0" i="0">
                <a:solidFill>
                  <a:srgbClr val="080808"/>
                </a:solidFill>
                <a:latin typeface="Segoe UI"/>
              </a:rPr>
              <a:t>Laravel Blade views · Bootstrap · custom dashboard styles · JavaScript with browser polling</a:t>
            </a:r>
          </a:p>
        </p:txBody>
      </p:sp>
      <p:sp>
        <p:nvSpPr>
          <p:cNvPr id="15" name="Down Arrow 14"/>
          <p:cNvSpPr/>
          <p:nvPr/>
        </p:nvSpPr>
        <p:spPr>
          <a:xfrm>
            <a:off x="2510028" y="2670048"/>
            <a:ext cx="146304" cy="237744"/>
          </a:xfrm>
          <a:prstGeom prst="downArrow">
            <a:avLst>
              <a:gd name="adj1" fmla="val 55000"/>
              <a:gd name="adj2" fmla="val 34000"/>
            </a:avLst>
          </a:prstGeom>
          <a:solidFill>
            <a:srgbClr val="0719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502920" y="2926080"/>
            <a:ext cx="4160520" cy="896112"/>
          </a:xfrm>
          <a:prstGeom prst="roundRect">
            <a:avLst>
              <a:gd name="adj" fmla="val 9000"/>
            </a:avLst>
          </a:prstGeom>
          <a:solidFill>
            <a:srgbClr val="0719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Gear 6 16"/>
          <p:cNvSpPr/>
          <p:nvPr/>
        </p:nvSpPr>
        <p:spPr>
          <a:xfrm>
            <a:off x="695675" y="3118835"/>
            <a:ext cx="199704" cy="199704"/>
          </a:xfrm>
          <a:prstGeom prst="gear6">
            <a:avLst/>
          </a:prstGeom>
          <a:solidFill>
            <a:srgbClr val="FFD2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69848" y="3017520"/>
            <a:ext cx="3429000" cy="256032"/>
          </a:xfrm>
          <a:prstGeom prst="rect">
            <a:avLst/>
          </a:prstGeom>
          <a:noFill/>
        </p:spPr>
        <p:txBody>
          <a:bodyPr wrap="square" lIns="0" rIns="0" tIns="0" bIns="0" anchor="t">
            <a:spAutoFit/>
          </a:bodyPr>
          <a:lstStyle/>
          <a:p>
            <a:pPr algn="l">
              <a:lnSpc>
                <a:spcPct val="100000"/>
              </a:lnSpc>
              <a:spcBef>
                <a:spcPts val="0"/>
              </a:spcBef>
              <a:spcAft>
                <a:spcPts val="0"/>
              </a:spcAft>
            </a:pPr>
            <a:r>
              <a:rPr sz="1100" b="1" i="0">
                <a:solidFill>
                  <a:srgbClr val="FFFFFF"/>
                </a:solidFill>
                <a:latin typeface="Segoe UI"/>
              </a:rPr>
              <a:t>LARAVEL 8 BACKEND — PHP</a:t>
            </a:r>
          </a:p>
        </p:txBody>
      </p:sp>
      <p:sp>
        <p:nvSpPr>
          <p:cNvPr id="19" name="TextBox 18"/>
          <p:cNvSpPr txBox="1"/>
          <p:nvPr/>
        </p:nvSpPr>
        <p:spPr>
          <a:xfrm>
            <a:off x="1069848" y="3291840"/>
            <a:ext cx="3429000" cy="475488"/>
          </a:xfrm>
          <a:prstGeom prst="rect">
            <a:avLst/>
          </a:prstGeom>
          <a:noFill/>
        </p:spPr>
        <p:txBody>
          <a:bodyPr wrap="square" lIns="0" rIns="0" tIns="0" bIns="0" anchor="t">
            <a:spAutoFit/>
          </a:bodyPr>
          <a:lstStyle/>
          <a:p>
            <a:pPr algn="l">
              <a:lnSpc>
                <a:spcPct val="102000"/>
              </a:lnSpc>
              <a:spcBef>
                <a:spcPts val="0"/>
              </a:spcBef>
              <a:spcAft>
                <a:spcPts val="0"/>
              </a:spcAft>
            </a:pPr>
            <a:r>
              <a:rPr sz="880" b="0" i="0">
                <a:solidFill>
                  <a:srgbClr val="DCE3FA"/>
                </a:solidFill>
                <a:latin typeface="Segoe UI"/>
              </a:rPr>
              <a:t>Application routes, permissions, session authentication and a Sanctum-protected API user route</a:t>
            </a:r>
          </a:p>
        </p:txBody>
      </p:sp>
      <p:sp>
        <p:nvSpPr>
          <p:cNvPr id="20" name="Down Arrow 19"/>
          <p:cNvSpPr/>
          <p:nvPr/>
        </p:nvSpPr>
        <p:spPr>
          <a:xfrm>
            <a:off x="2510028" y="3840480"/>
            <a:ext cx="146304" cy="237744"/>
          </a:xfrm>
          <a:prstGeom prst="downArrow">
            <a:avLst>
              <a:gd name="adj1" fmla="val 55000"/>
              <a:gd name="adj2" fmla="val 34000"/>
            </a:avLst>
          </a:prstGeom>
          <a:solidFill>
            <a:srgbClr val="683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02920" y="4096512"/>
            <a:ext cx="4160520" cy="1298448"/>
          </a:xfrm>
          <a:prstGeom prst="roundRect">
            <a:avLst>
              <a:gd name="adj" fmla="val 9000"/>
            </a:avLst>
          </a:prstGeom>
          <a:solidFill>
            <a:srgbClr val="683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Lightning Bolt 21"/>
          <p:cNvSpPr/>
          <p:nvPr/>
        </p:nvSpPr>
        <p:spPr>
          <a:xfrm>
            <a:off x="709940" y="4284512"/>
            <a:ext cx="171175" cy="209214"/>
          </a:xfrm>
          <a:prstGeom prst="lightningBolt">
            <a:avLst/>
          </a:prstGeom>
          <a:solidFill>
            <a:srgbClr val="FFD2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1069848" y="4187952"/>
            <a:ext cx="3429000" cy="256032"/>
          </a:xfrm>
          <a:prstGeom prst="rect">
            <a:avLst/>
          </a:prstGeom>
          <a:noFill/>
        </p:spPr>
        <p:txBody>
          <a:bodyPr wrap="square" lIns="0" rIns="0" tIns="0" bIns="0" anchor="t">
            <a:spAutoFit/>
          </a:bodyPr>
          <a:lstStyle/>
          <a:p>
            <a:pPr algn="l">
              <a:lnSpc>
                <a:spcPct val="100000"/>
              </a:lnSpc>
              <a:spcBef>
                <a:spcPts val="0"/>
              </a:spcBef>
              <a:spcAft>
                <a:spcPts val="0"/>
              </a:spcAft>
            </a:pPr>
            <a:r>
              <a:rPr sz="1100" b="1" i="0">
                <a:solidFill>
                  <a:srgbClr val="FFFFFF"/>
                </a:solidFill>
                <a:latin typeface="Segoe UI"/>
              </a:rPr>
              <a:t>EMERGENCY SERVICE</a:t>
            </a:r>
          </a:p>
        </p:txBody>
      </p:sp>
      <p:sp>
        <p:nvSpPr>
          <p:cNvPr id="24" name="TextBox 23"/>
          <p:cNvSpPr txBox="1"/>
          <p:nvPr/>
        </p:nvSpPr>
        <p:spPr>
          <a:xfrm>
            <a:off x="1069848" y="4462272"/>
            <a:ext cx="3429000" cy="841248"/>
          </a:xfrm>
          <a:prstGeom prst="rect">
            <a:avLst/>
          </a:prstGeom>
          <a:noFill/>
        </p:spPr>
        <p:txBody>
          <a:bodyPr wrap="square" lIns="0" rIns="0" tIns="0" bIns="0" anchor="t">
            <a:spAutoFit/>
          </a:bodyPr>
          <a:lstStyle/>
          <a:p>
            <a:pPr algn="l">
              <a:lnSpc>
                <a:spcPct val="105000"/>
              </a:lnSpc>
              <a:spcBef>
                <a:spcPts val="0"/>
              </a:spcBef>
              <a:spcAft>
                <a:spcPts val="0"/>
              </a:spcAft>
            </a:pPr>
            <a:r>
              <a:rPr sz="880" b="0" i="0">
                <a:solidFill>
                  <a:srgbClr val="E9E1F5"/>
                </a:solidFill>
                <a:latin typeface="Segoe UI"/>
              </a:rPr>
              <a:t>Matching · verified priority · temporary holds · reservations · five-minute expiry · file-locked updates</a:t>
            </a:r>
          </a:p>
        </p:txBody>
      </p:sp>
      <p:sp>
        <p:nvSpPr>
          <p:cNvPr id="25" name="Rounded Rectangle 24"/>
          <p:cNvSpPr/>
          <p:nvPr/>
        </p:nvSpPr>
        <p:spPr>
          <a:xfrm>
            <a:off x="4983480" y="4096512"/>
            <a:ext cx="2240280" cy="1298448"/>
          </a:xfrm>
          <a:prstGeom prst="roundRect">
            <a:avLst>
              <a:gd name="adj" fmla="val 9000"/>
            </a:avLst>
          </a:prstGeom>
          <a:solidFill>
            <a:srgbClr val="F2EDF8"/>
          </a:solidFill>
          <a:ln w="17780">
            <a:solidFill>
              <a:srgbClr val="683C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Folded Corner 25"/>
          <p:cNvSpPr/>
          <p:nvPr/>
        </p:nvSpPr>
        <p:spPr>
          <a:xfrm>
            <a:off x="5195255" y="4284512"/>
            <a:ext cx="161665" cy="209214"/>
          </a:xfrm>
          <a:prstGeom prst="foldedCorner">
            <a:avLst/>
          </a:prstGeom>
          <a:solidFill>
            <a:srgbClr val="683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532120" y="4206240"/>
            <a:ext cx="1554480" cy="457200"/>
          </a:xfrm>
          <a:prstGeom prst="rect">
            <a:avLst/>
          </a:prstGeom>
          <a:noFill/>
        </p:spPr>
        <p:txBody>
          <a:bodyPr wrap="square" lIns="0" rIns="0" tIns="0" bIns="0" anchor="t">
            <a:spAutoFit/>
          </a:bodyPr>
          <a:lstStyle/>
          <a:p>
            <a:pPr algn="l">
              <a:lnSpc>
                <a:spcPct val="100000"/>
              </a:lnSpc>
              <a:spcBef>
                <a:spcPts val="0"/>
              </a:spcBef>
              <a:spcAft>
                <a:spcPts val="0"/>
              </a:spcAft>
            </a:pPr>
            <a:r>
              <a:rPr sz="1000" b="1" i="0">
                <a:solidFill>
                  <a:srgbClr val="683C9E"/>
                </a:solidFill>
                <a:latin typeface="Segoe UI"/>
              </a:rPr>
              <a:t>JSON EMERGENCY STATE</a:t>
            </a:r>
          </a:p>
        </p:txBody>
      </p:sp>
      <p:sp>
        <p:nvSpPr>
          <p:cNvPr id="28" name="TextBox 27"/>
          <p:cNvSpPr txBox="1"/>
          <p:nvPr/>
        </p:nvSpPr>
        <p:spPr>
          <a:xfrm>
            <a:off x="5184648" y="4700016"/>
            <a:ext cx="1856232" cy="603504"/>
          </a:xfrm>
          <a:prstGeom prst="rect">
            <a:avLst/>
          </a:prstGeom>
          <a:noFill/>
        </p:spPr>
        <p:txBody>
          <a:bodyPr wrap="square" lIns="0" rIns="0" tIns="0" bIns="0" anchor="t">
            <a:spAutoFit/>
          </a:bodyPr>
          <a:lstStyle/>
          <a:p>
            <a:pPr algn="l">
              <a:lnSpc>
                <a:spcPct val="104000"/>
              </a:lnSpc>
              <a:spcBef>
                <a:spcPts val="0"/>
              </a:spcBef>
              <a:spcAft>
                <a:spcPts val="0"/>
              </a:spcAft>
            </a:pPr>
            <a:r>
              <a:rPr sz="860" b="0" i="0">
                <a:solidFill>
                  <a:srgbClr val="3A3F52"/>
                </a:solidFill>
                <a:latin typeface="Segoe UI"/>
              </a:rPr>
              <a:t>Separate demo-state file, serialized with file locking</a:t>
            </a:r>
          </a:p>
        </p:txBody>
      </p:sp>
      <p:sp>
        <p:nvSpPr>
          <p:cNvPr id="29" name="Left-Right Arrow 28"/>
          <p:cNvSpPr/>
          <p:nvPr/>
        </p:nvSpPr>
        <p:spPr>
          <a:xfrm>
            <a:off x="4700016" y="4663440"/>
            <a:ext cx="246888" cy="164592"/>
          </a:xfrm>
          <a:prstGeom prst="leftRightArrow">
            <a:avLst/>
          </a:prstGeom>
          <a:solidFill>
            <a:srgbClr val="683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4983480" y="2926080"/>
            <a:ext cx="2240280" cy="896112"/>
          </a:xfrm>
          <a:prstGeom prst="roundRect">
            <a:avLst>
              <a:gd name="adj" fmla="val 9000"/>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Can 30"/>
          <p:cNvSpPr/>
          <p:nvPr/>
        </p:nvSpPr>
        <p:spPr>
          <a:xfrm>
            <a:off x="5185745" y="3118835"/>
            <a:ext cx="180685" cy="199704"/>
          </a:xfrm>
          <a:prstGeom prst="can">
            <a:avLst/>
          </a:prstGeom>
          <a:solidFill>
            <a:srgbClr val="080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5532120" y="3017520"/>
            <a:ext cx="1554480" cy="256032"/>
          </a:xfrm>
          <a:prstGeom prst="rect">
            <a:avLst/>
          </a:prstGeom>
          <a:noFill/>
        </p:spPr>
        <p:txBody>
          <a:bodyPr wrap="square" lIns="0" rIns="0" tIns="0" bIns="0" anchor="t">
            <a:spAutoFit/>
          </a:bodyPr>
          <a:lstStyle/>
          <a:p>
            <a:pPr algn="l">
              <a:lnSpc>
                <a:spcPct val="100000"/>
              </a:lnSpc>
              <a:spcBef>
                <a:spcPts val="0"/>
              </a:spcBef>
              <a:spcAft>
                <a:spcPts val="0"/>
              </a:spcAft>
            </a:pPr>
            <a:r>
              <a:rPr sz="1000" b="1" i="0">
                <a:solidFill>
                  <a:srgbClr val="080808"/>
                </a:solidFill>
                <a:latin typeface="Segoe UI"/>
              </a:rPr>
              <a:t>MYSQL / MARIADB</a:t>
            </a:r>
          </a:p>
        </p:txBody>
      </p:sp>
      <p:sp>
        <p:nvSpPr>
          <p:cNvPr id="33" name="TextBox 32"/>
          <p:cNvSpPr txBox="1"/>
          <p:nvPr/>
        </p:nvSpPr>
        <p:spPr>
          <a:xfrm>
            <a:off x="5532120" y="3291840"/>
            <a:ext cx="1554480" cy="475488"/>
          </a:xfrm>
          <a:prstGeom prst="rect">
            <a:avLst/>
          </a:prstGeom>
          <a:noFill/>
        </p:spPr>
        <p:txBody>
          <a:bodyPr wrap="square" lIns="0" rIns="0" tIns="0" bIns="0" anchor="t">
            <a:spAutoFit/>
          </a:bodyPr>
          <a:lstStyle/>
          <a:p>
            <a:pPr algn="l">
              <a:lnSpc>
                <a:spcPct val="102000"/>
              </a:lnSpc>
              <a:spcBef>
                <a:spcPts val="0"/>
              </a:spcBef>
              <a:spcAft>
                <a:spcPts val="0"/>
              </a:spcAft>
            </a:pPr>
            <a:r>
              <a:rPr sz="860" b="0" i="0">
                <a:solidFill>
                  <a:srgbClr val="080808"/>
                </a:solidFill>
                <a:latin typeface="Segoe UI"/>
              </a:rPr>
              <a:t>Accounts · roles · modules · legacy management records</a:t>
            </a:r>
          </a:p>
        </p:txBody>
      </p:sp>
      <p:sp>
        <p:nvSpPr>
          <p:cNvPr id="34" name="Left-Right Arrow 33"/>
          <p:cNvSpPr/>
          <p:nvPr/>
        </p:nvSpPr>
        <p:spPr>
          <a:xfrm>
            <a:off x="4700016" y="3291840"/>
            <a:ext cx="246888" cy="164592"/>
          </a:xfrm>
          <a:prstGeom prst="leftRightArrow">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502920" y="5541264"/>
            <a:ext cx="6720840" cy="658368"/>
          </a:xfrm>
          <a:prstGeom prst="roundRect">
            <a:avLst>
              <a:gd name="adj" fmla="val 12000"/>
            </a:avLst>
          </a:prstGeom>
          <a:solidFill>
            <a:srgbClr val="FFFBE6"/>
          </a:solidFill>
          <a:ln w="15240">
            <a:solidFill>
              <a:srgbClr val="FFD21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Isosceles Triangle 35"/>
          <p:cNvSpPr/>
          <p:nvPr/>
        </p:nvSpPr>
        <p:spPr>
          <a:xfrm>
            <a:off x="688726" y="5789980"/>
            <a:ext cx="177027" cy="160934"/>
          </a:xfrm>
          <a:prstGeom prst="triangle">
            <a:avLst/>
          </a:prstGeom>
          <a:solidFill>
            <a:srgbClr val="080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768187" y="5838261"/>
            <a:ext cx="18105" cy="603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Oval 37"/>
          <p:cNvSpPr/>
          <p:nvPr/>
        </p:nvSpPr>
        <p:spPr>
          <a:xfrm>
            <a:off x="767181" y="5910681"/>
            <a:ext cx="20116" cy="2011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978408" y="5614416"/>
            <a:ext cx="6035040" cy="530352"/>
          </a:xfrm>
          <a:prstGeom prst="rect">
            <a:avLst/>
          </a:prstGeom>
          <a:noFill/>
        </p:spPr>
        <p:txBody>
          <a:bodyPr wrap="square" lIns="0" rIns="0" tIns="0" bIns="0" anchor="ctr">
            <a:spAutoFit/>
          </a:bodyPr>
          <a:lstStyle/>
          <a:p>
            <a:pPr algn="l">
              <a:lnSpc>
                <a:spcPct val="104000"/>
              </a:lnSpc>
              <a:spcBef>
                <a:spcPts val="0"/>
              </a:spcBef>
              <a:spcAft>
                <a:spcPts val="0"/>
              </a:spcAft>
            </a:pPr>
            <a:r>
              <a:rPr sz="919" b="1" i="0">
                <a:solidFill>
                  <a:srgbClr val="080808"/>
                </a:solidFill>
                <a:latin typeface="Segoe UI"/>
              </a:rPr>
              <a:t>Emergency demo state lives in JSON with file locking — MySQL holds accounts, roles, modules and legacy hospital-management records.</a:t>
            </a:r>
          </a:p>
        </p:txBody>
      </p:sp>
      <p:sp>
        <p:nvSpPr>
          <p:cNvPr id="40" name="Rounded Rectangle 39"/>
          <p:cNvSpPr/>
          <p:nvPr/>
        </p:nvSpPr>
        <p:spPr>
          <a:xfrm>
            <a:off x="7452360" y="1755648"/>
            <a:ext cx="4233672" cy="4261104"/>
          </a:xfrm>
          <a:prstGeom prst="roundRect">
            <a:avLst>
              <a:gd name="adj" fmla="val 5000"/>
            </a:avLst>
          </a:prstGeom>
          <a:solidFill>
            <a:srgbClr val="FFFFFF"/>
          </a:solidFill>
          <a:ln w="12700">
            <a:solidFill>
              <a:srgbClr val="D8DC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7671816" y="1901952"/>
            <a:ext cx="3776472" cy="274320"/>
          </a:xfrm>
          <a:prstGeom prst="rect">
            <a:avLst/>
          </a:prstGeom>
          <a:noFill/>
        </p:spPr>
        <p:txBody>
          <a:bodyPr wrap="square" lIns="0" rIns="0" tIns="0" bIns="0" anchor="t">
            <a:spAutoFit/>
          </a:bodyPr>
          <a:lstStyle/>
          <a:p>
            <a:pPr algn="l">
              <a:lnSpc>
                <a:spcPct val="100000"/>
              </a:lnSpc>
              <a:spcBef>
                <a:spcPts val="0"/>
              </a:spcBef>
              <a:spcAft>
                <a:spcPts val="0"/>
              </a:spcAft>
            </a:pPr>
            <a:r>
              <a:rPr sz="1200" b="1" i="0">
                <a:solidFill>
                  <a:srgbClr val="0719C8"/>
                </a:solidFill>
                <a:latin typeface="Segoe UI"/>
              </a:rPr>
              <a:t>TECHNOLOGY STACK</a:t>
            </a:r>
          </a:p>
        </p:txBody>
      </p:sp>
      <p:sp>
        <p:nvSpPr>
          <p:cNvPr id="42" name="Rounded Rectangle 41"/>
          <p:cNvSpPr/>
          <p:nvPr/>
        </p:nvSpPr>
        <p:spPr>
          <a:xfrm>
            <a:off x="7671816" y="2249424"/>
            <a:ext cx="1481328" cy="274320"/>
          </a:xfrm>
          <a:prstGeom prst="roundRect">
            <a:avLst>
              <a:gd name="adj" fmla="val 50000"/>
            </a:avLst>
          </a:prstGeom>
          <a:solidFill>
            <a:srgbClr val="0719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7671816" y="2249424"/>
            <a:ext cx="1481328" cy="274320"/>
          </a:xfrm>
          <a:prstGeom prst="rect">
            <a:avLst/>
          </a:prstGeom>
          <a:noFill/>
        </p:spPr>
        <p:txBody>
          <a:bodyPr wrap="square" lIns="0" rIns="0" tIns="0" bIns="0" anchor="ctr">
            <a:spAutoFit/>
          </a:bodyPr>
          <a:lstStyle/>
          <a:p>
            <a:pPr algn="ctr">
              <a:lnSpc>
                <a:spcPct val="100000"/>
              </a:lnSpc>
              <a:spcBef>
                <a:spcPts val="0"/>
              </a:spcBef>
              <a:spcAft>
                <a:spcPts val="0"/>
              </a:spcAft>
            </a:pPr>
            <a:r>
              <a:rPr sz="800" b="1" i="0">
                <a:solidFill>
                  <a:srgbClr val="FFFFFF"/>
                </a:solidFill>
                <a:latin typeface="Segoe UI"/>
              </a:rPr>
              <a:t>BACKEND</a:t>
            </a:r>
          </a:p>
        </p:txBody>
      </p:sp>
      <p:sp>
        <p:nvSpPr>
          <p:cNvPr id="44" name="TextBox 43"/>
          <p:cNvSpPr txBox="1"/>
          <p:nvPr/>
        </p:nvSpPr>
        <p:spPr>
          <a:xfrm>
            <a:off x="9281160" y="2249424"/>
            <a:ext cx="2221991" cy="402336"/>
          </a:xfrm>
          <a:prstGeom prst="rect">
            <a:avLst/>
          </a:prstGeom>
          <a:noFill/>
        </p:spPr>
        <p:txBody>
          <a:bodyPr wrap="square" lIns="0" rIns="0" tIns="0" bIns="0" anchor="t">
            <a:spAutoFit/>
          </a:bodyPr>
          <a:lstStyle/>
          <a:p>
            <a:pPr algn="l">
              <a:lnSpc>
                <a:spcPct val="102000"/>
              </a:lnSpc>
              <a:spcBef>
                <a:spcPts val="0"/>
              </a:spcBef>
              <a:spcAft>
                <a:spcPts val="0"/>
              </a:spcAft>
            </a:pPr>
            <a:r>
              <a:rPr sz="919" b="0" i="0">
                <a:solidFill>
                  <a:srgbClr val="080808"/>
                </a:solidFill>
                <a:latin typeface="Segoe UI"/>
              </a:rPr>
              <a:t>Laravel 8 · PHP</a:t>
            </a:r>
          </a:p>
        </p:txBody>
      </p:sp>
      <p:sp>
        <p:nvSpPr>
          <p:cNvPr id="45" name="Rounded Rectangle 44"/>
          <p:cNvSpPr/>
          <p:nvPr/>
        </p:nvSpPr>
        <p:spPr>
          <a:xfrm>
            <a:off x="7671816" y="2798064"/>
            <a:ext cx="1481328" cy="274320"/>
          </a:xfrm>
          <a:prstGeom prst="roundRect">
            <a:avLst>
              <a:gd name="adj" fmla="val 50000"/>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7671816" y="2798064"/>
            <a:ext cx="1481328" cy="274320"/>
          </a:xfrm>
          <a:prstGeom prst="rect">
            <a:avLst/>
          </a:prstGeom>
          <a:noFill/>
        </p:spPr>
        <p:txBody>
          <a:bodyPr wrap="square" lIns="0" rIns="0" tIns="0" bIns="0" anchor="ctr">
            <a:spAutoFit/>
          </a:bodyPr>
          <a:lstStyle/>
          <a:p>
            <a:pPr algn="ctr">
              <a:lnSpc>
                <a:spcPct val="100000"/>
              </a:lnSpc>
              <a:spcBef>
                <a:spcPts val="0"/>
              </a:spcBef>
              <a:spcAft>
                <a:spcPts val="0"/>
              </a:spcAft>
            </a:pPr>
            <a:r>
              <a:rPr sz="800" b="1" i="0">
                <a:solidFill>
                  <a:srgbClr val="080808"/>
                </a:solidFill>
                <a:latin typeface="Segoe UI"/>
              </a:rPr>
              <a:t>DATABASE</a:t>
            </a:r>
          </a:p>
        </p:txBody>
      </p:sp>
      <p:sp>
        <p:nvSpPr>
          <p:cNvPr id="47" name="TextBox 46"/>
          <p:cNvSpPr txBox="1"/>
          <p:nvPr/>
        </p:nvSpPr>
        <p:spPr>
          <a:xfrm>
            <a:off x="9281160" y="2798064"/>
            <a:ext cx="2221991" cy="402336"/>
          </a:xfrm>
          <a:prstGeom prst="rect">
            <a:avLst/>
          </a:prstGeom>
          <a:noFill/>
        </p:spPr>
        <p:txBody>
          <a:bodyPr wrap="square" lIns="0" rIns="0" tIns="0" bIns="0" anchor="t">
            <a:spAutoFit/>
          </a:bodyPr>
          <a:lstStyle/>
          <a:p>
            <a:pPr algn="l">
              <a:lnSpc>
                <a:spcPct val="102000"/>
              </a:lnSpc>
              <a:spcBef>
                <a:spcPts val="0"/>
              </a:spcBef>
              <a:spcAft>
                <a:spcPts val="0"/>
              </a:spcAft>
            </a:pPr>
            <a:r>
              <a:rPr sz="919" b="0" i="0">
                <a:solidFill>
                  <a:srgbClr val="080808"/>
                </a:solidFill>
                <a:latin typeface="Segoe UI"/>
              </a:rPr>
              <a:t>MySQL / MariaDB</a:t>
            </a:r>
          </a:p>
        </p:txBody>
      </p:sp>
      <p:sp>
        <p:nvSpPr>
          <p:cNvPr id="48" name="Rounded Rectangle 47"/>
          <p:cNvSpPr/>
          <p:nvPr/>
        </p:nvSpPr>
        <p:spPr>
          <a:xfrm>
            <a:off x="7671816" y="3346704"/>
            <a:ext cx="1481328" cy="274320"/>
          </a:xfrm>
          <a:prstGeom prst="roundRect">
            <a:avLst>
              <a:gd name="adj" fmla="val 50000"/>
            </a:avLst>
          </a:prstGeom>
          <a:solidFill>
            <a:srgbClr val="683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7671816" y="3346704"/>
            <a:ext cx="1481328" cy="274320"/>
          </a:xfrm>
          <a:prstGeom prst="rect">
            <a:avLst/>
          </a:prstGeom>
          <a:noFill/>
        </p:spPr>
        <p:txBody>
          <a:bodyPr wrap="square" lIns="0" rIns="0" tIns="0" bIns="0" anchor="ctr">
            <a:spAutoFit/>
          </a:bodyPr>
          <a:lstStyle/>
          <a:p>
            <a:pPr algn="ctr">
              <a:lnSpc>
                <a:spcPct val="100000"/>
              </a:lnSpc>
              <a:spcBef>
                <a:spcPts val="0"/>
              </a:spcBef>
              <a:spcAft>
                <a:spcPts val="0"/>
              </a:spcAft>
            </a:pPr>
            <a:r>
              <a:rPr sz="800" b="1" i="0">
                <a:solidFill>
                  <a:srgbClr val="FFFFFF"/>
                </a:solidFill>
                <a:latin typeface="Segoe UI"/>
              </a:rPr>
              <a:t>EMERGENCY STATE</a:t>
            </a:r>
          </a:p>
        </p:txBody>
      </p:sp>
      <p:sp>
        <p:nvSpPr>
          <p:cNvPr id="50" name="TextBox 49"/>
          <p:cNvSpPr txBox="1"/>
          <p:nvPr/>
        </p:nvSpPr>
        <p:spPr>
          <a:xfrm>
            <a:off x="9281160" y="3346704"/>
            <a:ext cx="2221991" cy="402336"/>
          </a:xfrm>
          <a:prstGeom prst="rect">
            <a:avLst/>
          </a:prstGeom>
          <a:noFill/>
        </p:spPr>
        <p:txBody>
          <a:bodyPr wrap="square" lIns="0" rIns="0" tIns="0" bIns="0" anchor="t">
            <a:spAutoFit/>
          </a:bodyPr>
          <a:lstStyle/>
          <a:p>
            <a:pPr algn="l">
              <a:lnSpc>
                <a:spcPct val="102000"/>
              </a:lnSpc>
              <a:spcBef>
                <a:spcPts val="0"/>
              </a:spcBef>
              <a:spcAft>
                <a:spcPts val="0"/>
              </a:spcAft>
            </a:pPr>
            <a:r>
              <a:rPr sz="919" b="0" i="0">
                <a:solidFill>
                  <a:srgbClr val="080808"/>
                </a:solidFill>
                <a:latin typeface="Segoe UI"/>
              </a:rPr>
              <a:t>JSON state · file locking</a:t>
            </a:r>
          </a:p>
        </p:txBody>
      </p:sp>
      <p:sp>
        <p:nvSpPr>
          <p:cNvPr id="51" name="Rounded Rectangle 50"/>
          <p:cNvSpPr/>
          <p:nvPr/>
        </p:nvSpPr>
        <p:spPr>
          <a:xfrm>
            <a:off x="7671816" y="3895344"/>
            <a:ext cx="1481328" cy="274320"/>
          </a:xfrm>
          <a:prstGeom prst="roundRect">
            <a:avLst>
              <a:gd name="adj" fmla="val 50000"/>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7671816" y="3895344"/>
            <a:ext cx="1481328" cy="274320"/>
          </a:xfrm>
          <a:prstGeom prst="rect">
            <a:avLst/>
          </a:prstGeom>
          <a:noFill/>
        </p:spPr>
        <p:txBody>
          <a:bodyPr wrap="square" lIns="0" rIns="0" tIns="0" bIns="0" anchor="ctr">
            <a:spAutoFit/>
          </a:bodyPr>
          <a:lstStyle/>
          <a:p>
            <a:pPr algn="ctr">
              <a:lnSpc>
                <a:spcPct val="100000"/>
              </a:lnSpc>
              <a:spcBef>
                <a:spcPts val="0"/>
              </a:spcBef>
              <a:spcAft>
                <a:spcPts val="0"/>
              </a:spcAft>
            </a:pPr>
            <a:r>
              <a:rPr sz="800" b="1" i="0">
                <a:solidFill>
                  <a:srgbClr val="080808"/>
                </a:solidFill>
                <a:latin typeface="Segoe UI"/>
              </a:rPr>
              <a:t>FRONTEND</a:t>
            </a:r>
          </a:p>
        </p:txBody>
      </p:sp>
      <p:sp>
        <p:nvSpPr>
          <p:cNvPr id="53" name="TextBox 52"/>
          <p:cNvSpPr txBox="1"/>
          <p:nvPr/>
        </p:nvSpPr>
        <p:spPr>
          <a:xfrm>
            <a:off x="9281160" y="3895344"/>
            <a:ext cx="2221991" cy="402336"/>
          </a:xfrm>
          <a:prstGeom prst="rect">
            <a:avLst/>
          </a:prstGeom>
          <a:noFill/>
        </p:spPr>
        <p:txBody>
          <a:bodyPr wrap="square" lIns="0" rIns="0" tIns="0" bIns="0" anchor="t">
            <a:spAutoFit/>
          </a:bodyPr>
          <a:lstStyle/>
          <a:p>
            <a:pPr algn="l">
              <a:lnSpc>
                <a:spcPct val="102000"/>
              </a:lnSpc>
              <a:spcBef>
                <a:spcPts val="0"/>
              </a:spcBef>
              <a:spcAft>
                <a:spcPts val="0"/>
              </a:spcAft>
            </a:pPr>
            <a:r>
              <a:rPr sz="919" b="0" i="0">
                <a:solidFill>
                  <a:srgbClr val="080808"/>
                </a:solidFill>
                <a:latin typeface="Segoe UI"/>
              </a:rPr>
              <a:t>Blade · Bootstrap · custom styles · JS polling</a:t>
            </a:r>
          </a:p>
        </p:txBody>
      </p:sp>
      <p:sp>
        <p:nvSpPr>
          <p:cNvPr id="54" name="Rounded Rectangle 53"/>
          <p:cNvSpPr/>
          <p:nvPr/>
        </p:nvSpPr>
        <p:spPr>
          <a:xfrm>
            <a:off x="7671816" y="4443983"/>
            <a:ext cx="1481328" cy="274320"/>
          </a:xfrm>
          <a:prstGeom prst="roundRect">
            <a:avLst>
              <a:gd name="adj" fmla="val 50000"/>
            </a:avLst>
          </a:prstGeom>
          <a:solidFill>
            <a:srgbClr val="F326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7671816" y="4443983"/>
            <a:ext cx="1481328" cy="274320"/>
          </a:xfrm>
          <a:prstGeom prst="rect">
            <a:avLst/>
          </a:prstGeom>
          <a:noFill/>
        </p:spPr>
        <p:txBody>
          <a:bodyPr wrap="square" lIns="0" rIns="0" tIns="0" bIns="0" anchor="ctr">
            <a:spAutoFit/>
          </a:bodyPr>
          <a:lstStyle/>
          <a:p>
            <a:pPr algn="ctr">
              <a:lnSpc>
                <a:spcPct val="100000"/>
              </a:lnSpc>
              <a:spcBef>
                <a:spcPts val="0"/>
              </a:spcBef>
              <a:spcAft>
                <a:spcPts val="0"/>
              </a:spcAft>
            </a:pPr>
            <a:r>
              <a:rPr sz="800" b="1" i="0">
                <a:solidFill>
                  <a:srgbClr val="FFFFFF"/>
                </a:solidFill>
                <a:latin typeface="Segoe UI"/>
              </a:rPr>
              <a:t>AUTH</a:t>
            </a:r>
          </a:p>
        </p:txBody>
      </p:sp>
      <p:sp>
        <p:nvSpPr>
          <p:cNvPr id="56" name="TextBox 55"/>
          <p:cNvSpPr txBox="1"/>
          <p:nvPr/>
        </p:nvSpPr>
        <p:spPr>
          <a:xfrm>
            <a:off x="9281160" y="4443983"/>
            <a:ext cx="2221991" cy="402336"/>
          </a:xfrm>
          <a:prstGeom prst="rect">
            <a:avLst/>
          </a:prstGeom>
          <a:noFill/>
        </p:spPr>
        <p:txBody>
          <a:bodyPr wrap="square" lIns="0" rIns="0" tIns="0" bIns="0" anchor="t">
            <a:spAutoFit/>
          </a:bodyPr>
          <a:lstStyle/>
          <a:p>
            <a:pPr algn="l">
              <a:lnSpc>
                <a:spcPct val="102000"/>
              </a:lnSpc>
              <a:spcBef>
                <a:spcPts val="0"/>
              </a:spcBef>
              <a:spcAft>
                <a:spcPts val="0"/>
              </a:spcAft>
            </a:pPr>
            <a:r>
              <a:rPr sz="919" b="0" i="0">
                <a:solidFill>
                  <a:srgbClr val="080808"/>
                </a:solidFill>
                <a:latin typeface="Segoe UI"/>
              </a:rPr>
              <a:t>Laravel UI sessions · Sanctum API route</a:t>
            </a:r>
          </a:p>
        </p:txBody>
      </p:sp>
      <p:sp>
        <p:nvSpPr>
          <p:cNvPr id="57" name="Rounded Rectangle 56"/>
          <p:cNvSpPr/>
          <p:nvPr/>
        </p:nvSpPr>
        <p:spPr>
          <a:xfrm>
            <a:off x="7671816" y="4992623"/>
            <a:ext cx="1481328" cy="274320"/>
          </a:xfrm>
          <a:prstGeom prst="roundRect">
            <a:avLst>
              <a:gd name="adj" fmla="val 50000"/>
            </a:avLst>
          </a:prstGeom>
          <a:solidFill>
            <a:srgbClr val="FFD2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7671816" y="4992623"/>
            <a:ext cx="1481328" cy="274320"/>
          </a:xfrm>
          <a:prstGeom prst="rect">
            <a:avLst/>
          </a:prstGeom>
          <a:noFill/>
        </p:spPr>
        <p:txBody>
          <a:bodyPr wrap="square" lIns="0" rIns="0" tIns="0" bIns="0" anchor="ctr">
            <a:spAutoFit/>
          </a:bodyPr>
          <a:lstStyle/>
          <a:p>
            <a:pPr algn="ctr">
              <a:lnSpc>
                <a:spcPct val="100000"/>
              </a:lnSpc>
              <a:spcBef>
                <a:spcPts val="0"/>
              </a:spcBef>
              <a:spcAft>
                <a:spcPts val="0"/>
              </a:spcAft>
            </a:pPr>
            <a:r>
              <a:rPr sz="800" b="1" i="0">
                <a:solidFill>
                  <a:srgbClr val="080808"/>
                </a:solidFill>
                <a:latin typeface="Segoe UI"/>
              </a:rPr>
              <a:t>BUILD TOOLS</a:t>
            </a:r>
          </a:p>
        </p:txBody>
      </p:sp>
      <p:sp>
        <p:nvSpPr>
          <p:cNvPr id="59" name="TextBox 58"/>
          <p:cNvSpPr txBox="1"/>
          <p:nvPr/>
        </p:nvSpPr>
        <p:spPr>
          <a:xfrm>
            <a:off x="9281160" y="4992623"/>
            <a:ext cx="2221991" cy="402336"/>
          </a:xfrm>
          <a:prstGeom prst="rect">
            <a:avLst/>
          </a:prstGeom>
          <a:noFill/>
        </p:spPr>
        <p:txBody>
          <a:bodyPr wrap="square" lIns="0" rIns="0" tIns="0" bIns="0" anchor="t">
            <a:spAutoFit/>
          </a:bodyPr>
          <a:lstStyle/>
          <a:p>
            <a:pPr algn="l">
              <a:lnSpc>
                <a:spcPct val="102000"/>
              </a:lnSpc>
              <a:spcBef>
                <a:spcPts val="0"/>
              </a:spcBef>
              <a:spcAft>
                <a:spcPts val="0"/>
              </a:spcAft>
            </a:pPr>
            <a:r>
              <a:rPr sz="919" b="0" i="0">
                <a:solidFill>
                  <a:srgbClr val="080808"/>
                </a:solidFill>
                <a:latin typeface="Segoe UI"/>
              </a:rPr>
              <a:t>Composer · Laravel Mix 6 · Sass · Axios</a:t>
            </a:r>
          </a:p>
        </p:txBody>
      </p:sp>
      <p:sp>
        <p:nvSpPr>
          <p:cNvPr id="60" name="Rounded Rectangle 59"/>
          <p:cNvSpPr/>
          <p:nvPr/>
        </p:nvSpPr>
        <p:spPr>
          <a:xfrm>
            <a:off x="7671816" y="5577839"/>
            <a:ext cx="3794760" cy="402336"/>
          </a:xfrm>
          <a:prstGeom prst="roundRect">
            <a:avLst>
              <a:gd name="adj" fmla="val 14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7836408" y="5614415"/>
            <a:ext cx="3502152" cy="329184"/>
          </a:xfrm>
          <a:prstGeom prst="rect">
            <a:avLst/>
          </a:prstGeom>
          <a:noFill/>
        </p:spPr>
        <p:txBody>
          <a:bodyPr wrap="square" lIns="0" rIns="0" tIns="0" bIns="0" anchor="ctr">
            <a:spAutoFit/>
          </a:bodyPr>
          <a:lstStyle/>
          <a:p>
            <a:pPr algn="l">
              <a:lnSpc>
                <a:spcPct val="104000"/>
              </a:lnSpc>
              <a:spcBef>
                <a:spcPts val="0"/>
              </a:spcBef>
              <a:spcAft>
                <a:spcPts val="0"/>
              </a:spcAft>
            </a:pPr>
            <a:r>
              <a:rPr sz="880" b="1" i="0">
                <a:solidFill>
                  <a:srgbClr val="0719C8"/>
                </a:solidFill>
                <a:latin typeface="Segoe UI"/>
              </a:rPr>
              <a:t>Five demo hospitals with predefined distances seed the prototype.</a:t>
            </a:r>
          </a:p>
        </p:txBody>
      </p:sp>
      <p:sp>
        <p:nvSpPr>
          <p:cNvPr id="62" name="TextBox 61"/>
          <p:cNvSpPr txBox="1"/>
          <p:nvPr/>
        </p:nvSpPr>
        <p:spPr>
          <a:xfrm>
            <a:off x="502920" y="6492240"/>
            <a:ext cx="7315200" cy="237744"/>
          </a:xfrm>
          <a:prstGeom prst="rect">
            <a:avLst/>
          </a:prstGeom>
          <a:noFill/>
        </p:spPr>
        <p:txBody>
          <a:bodyPr wrap="square" lIns="0" rIns="0" tIns="0" bIns="0" anchor="t">
            <a:spAutoFit/>
          </a:bodyPr>
          <a:lstStyle/>
          <a:p>
            <a:pPr algn="l">
              <a:lnSpc>
                <a:spcPct val="100000"/>
              </a:lnSpc>
              <a:spcBef>
                <a:spcPts val="0"/>
              </a:spcBef>
              <a:spcAft>
                <a:spcPts val="0"/>
              </a:spcAft>
            </a:pPr>
            <a:r>
              <a:rPr sz="850" b="0" i="0">
                <a:solidFill>
                  <a:srgbClr val="8A90A6"/>
                </a:solidFill>
                <a:latin typeface="Segoe UI"/>
              </a:rPr>
              <a:t>CareRoute — Emergency Bed Coordination System   ·   Team Tech Head</a:t>
            </a:r>
          </a:p>
        </p:txBody>
      </p:sp>
      <p:sp>
        <p:nvSpPr>
          <p:cNvPr id="63" name="TextBox 62"/>
          <p:cNvSpPr txBox="1"/>
          <p:nvPr/>
        </p:nvSpPr>
        <p:spPr>
          <a:xfrm>
            <a:off x="10378440" y="6492240"/>
            <a:ext cx="1307592" cy="237744"/>
          </a:xfrm>
          <a:prstGeom prst="rect">
            <a:avLst/>
          </a:prstGeom>
          <a:noFill/>
        </p:spPr>
        <p:txBody>
          <a:bodyPr wrap="square" lIns="0" rIns="0" tIns="0" bIns="0" anchor="t">
            <a:spAutoFit/>
          </a:bodyPr>
          <a:lstStyle/>
          <a:p>
            <a:pPr algn="r">
              <a:lnSpc>
                <a:spcPct val="100000"/>
              </a:lnSpc>
              <a:spcBef>
                <a:spcPts val="0"/>
              </a:spcBef>
              <a:spcAft>
                <a:spcPts val="0"/>
              </a:spcAft>
            </a:pPr>
            <a:r>
              <a:rPr sz="850" b="1" i="0">
                <a:solidFill>
                  <a:srgbClr val="8A90A6"/>
                </a:solidFill>
                <a:latin typeface="Segoe UI"/>
              </a:rPr>
              <a:t>05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F326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502920" y="384048"/>
            <a:ext cx="91440" cy="274320"/>
          </a:xfrm>
          <a:prstGeom prst="roundRect">
            <a:avLst>
              <a:gd name="adj" fmla="val 50000"/>
            </a:avLst>
          </a:prstGeom>
          <a:solidFill>
            <a:srgbClr val="F326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85800" y="397764"/>
            <a:ext cx="7863840" cy="274320"/>
          </a:xfrm>
          <a:prstGeom prst="rect">
            <a:avLst/>
          </a:prstGeom>
          <a:noFill/>
        </p:spPr>
        <p:txBody>
          <a:bodyPr wrap="square" lIns="0" rIns="0" tIns="0" bIns="0" anchor="ctr">
            <a:spAutoFit/>
          </a:bodyPr>
          <a:lstStyle/>
          <a:p>
            <a:pPr algn="l">
              <a:lnSpc>
                <a:spcPct val="100000"/>
              </a:lnSpc>
              <a:spcBef>
                <a:spcPts val="0"/>
              </a:spcBef>
              <a:spcAft>
                <a:spcPts val="0"/>
              </a:spcAft>
            </a:pPr>
            <a:r>
              <a:rPr sz="1050" b="1" i="0">
                <a:solidFill>
                  <a:srgbClr val="F3265B"/>
                </a:solidFill>
                <a:latin typeface="Segoe UI"/>
              </a:rPr>
              <a:t>05  ·  LIVE DEMO WORKFLOW</a:t>
            </a:r>
          </a:p>
        </p:txBody>
      </p:sp>
      <p:sp>
        <p:nvSpPr>
          <p:cNvPr id="6" name="TextBox 5"/>
          <p:cNvSpPr txBox="1"/>
          <p:nvPr/>
        </p:nvSpPr>
        <p:spPr>
          <a:xfrm>
            <a:off x="502920" y="749808"/>
            <a:ext cx="11155680" cy="566928"/>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0719C8"/>
                </a:solidFill>
                <a:latin typeface="Segoe UI"/>
              </a:rPr>
              <a:t>From Emergency Request to Occupied Bed</a:t>
            </a:r>
          </a:p>
        </p:txBody>
      </p:sp>
      <p:sp>
        <p:nvSpPr>
          <p:cNvPr id="7" name="TextBox 6"/>
          <p:cNvSpPr txBox="1"/>
          <p:nvPr/>
        </p:nvSpPr>
        <p:spPr>
          <a:xfrm>
            <a:off x="502920" y="1353312"/>
            <a:ext cx="10607040" cy="310896"/>
          </a:xfrm>
          <a:prstGeom prst="rect">
            <a:avLst/>
          </a:prstGeom>
          <a:noFill/>
        </p:spPr>
        <p:txBody>
          <a:bodyPr wrap="square" lIns="0" rIns="0" tIns="0" bIns="0" anchor="t">
            <a:spAutoFit/>
          </a:bodyPr>
          <a:lstStyle/>
          <a:p>
            <a:pPr algn="l">
              <a:lnSpc>
                <a:spcPct val="100000"/>
              </a:lnSpc>
              <a:spcBef>
                <a:spcPts val="0"/>
              </a:spcBef>
              <a:spcAft>
                <a:spcPts val="0"/>
              </a:spcAft>
            </a:pPr>
            <a:r>
              <a:rPr sz="1250" b="0" i="0">
                <a:solidFill>
                  <a:srgbClr val="3A3F52"/>
                </a:solidFill>
                <a:latin typeface="Segoe UI"/>
              </a:rPr>
              <a:t>The documented six-step demonstration, run on seeded demo data.</a:t>
            </a:r>
          </a:p>
        </p:txBody>
      </p:sp>
      <p:sp>
        <p:nvSpPr>
          <p:cNvPr id="8" name="Rounded Rectangle 7"/>
          <p:cNvSpPr/>
          <p:nvPr/>
        </p:nvSpPr>
        <p:spPr>
          <a:xfrm>
            <a:off x="547725" y="1755648"/>
            <a:ext cx="1737360" cy="1572768"/>
          </a:xfrm>
          <a:prstGeom prst="roundRect">
            <a:avLst>
              <a:gd name="adj" fmla="val 8000"/>
            </a:avLst>
          </a:prstGeom>
          <a:solidFill>
            <a:srgbClr val="FFFFFF"/>
          </a:solidFill>
          <a:ln w="12700">
            <a:solidFill>
              <a:srgbClr val="D8DC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 Same Side Corner Rectangle 8"/>
          <p:cNvSpPr/>
          <p:nvPr/>
        </p:nvSpPr>
        <p:spPr>
          <a:xfrm>
            <a:off x="547725" y="1755648"/>
            <a:ext cx="1737360" cy="91440"/>
          </a:xfrm>
          <a:prstGeom prst="round2SameRect">
            <a:avLst/>
          </a:prstGeom>
          <a:solidFill>
            <a:srgbClr val="683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675741" y="1975104"/>
            <a:ext cx="384048" cy="384048"/>
          </a:xfrm>
          <a:prstGeom prst="ellipse">
            <a:avLst/>
          </a:prstGeom>
          <a:solidFill>
            <a:srgbClr val="683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Block Arc 10"/>
          <p:cNvSpPr/>
          <p:nvPr/>
        </p:nvSpPr>
        <p:spPr>
          <a:xfrm rot="1800000">
            <a:off x="779983" y="2079345"/>
            <a:ext cx="175564" cy="175564"/>
          </a:xfrm>
          <a:prstGeom prst="blockArc">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Isosceles Triangle 11"/>
          <p:cNvSpPr/>
          <p:nvPr/>
        </p:nvSpPr>
        <p:spPr>
          <a:xfrm rot="5400000">
            <a:off x="872154" y="2061789"/>
            <a:ext cx="65836" cy="57058"/>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132941" y="1975104"/>
            <a:ext cx="1060704" cy="384048"/>
          </a:xfrm>
          <a:prstGeom prst="rect">
            <a:avLst/>
          </a:prstGeom>
          <a:noFill/>
        </p:spPr>
        <p:txBody>
          <a:bodyPr wrap="square" lIns="0" rIns="0" tIns="0" bIns="0" anchor="ctr">
            <a:spAutoFit/>
          </a:bodyPr>
          <a:lstStyle/>
          <a:p>
            <a:pPr algn="l">
              <a:lnSpc>
                <a:spcPct val="100000"/>
              </a:lnSpc>
              <a:spcBef>
                <a:spcPts val="0"/>
              </a:spcBef>
              <a:spcAft>
                <a:spcPts val="0"/>
              </a:spcAft>
            </a:pPr>
            <a:r>
              <a:rPr sz="840" b="1" i="0">
                <a:solidFill>
                  <a:srgbClr val="3A3F52"/>
                </a:solidFill>
                <a:latin typeface="Segoe UI"/>
              </a:rPr>
              <a:t>STEP 1</a:t>
            </a:r>
          </a:p>
        </p:txBody>
      </p:sp>
      <p:sp>
        <p:nvSpPr>
          <p:cNvPr id="14" name="TextBox 13"/>
          <p:cNvSpPr txBox="1"/>
          <p:nvPr/>
        </p:nvSpPr>
        <p:spPr>
          <a:xfrm>
            <a:off x="675741" y="2450591"/>
            <a:ext cx="1499616" cy="274320"/>
          </a:xfrm>
          <a:prstGeom prst="rect">
            <a:avLst/>
          </a:prstGeom>
          <a:noFill/>
        </p:spPr>
        <p:txBody>
          <a:bodyPr wrap="square" lIns="0" rIns="0" tIns="0" bIns="0" anchor="t">
            <a:spAutoFit/>
          </a:bodyPr>
          <a:lstStyle/>
          <a:p>
            <a:pPr algn="l">
              <a:lnSpc>
                <a:spcPct val="100000"/>
              </a:lnSpc>
              <a:spcBef>
                <a:spcPts val="0"/>
              </a:spcBef>
              <a:spcAft>
                <a:spcPts val="0"/>
              </a:spcAft>
            </a:pPr>
            <a:r>
              <a:rPr sz="1060" b="1" i="0">
                <a:solidFill>
                  <a:srgbClr val="080808"/>
                </a:solidFill>
                <a:latin typeface="Segoe UI"/>
              </a:rPr>
              <a:t>Admin reset</a:t>
            </a:r>
          </a:p>
        </p:txBody>
      </p:sp>
      <p:sp>
        <p:nvSpPr>
          <p:cNvPr id="15" name="TextBox 14"/>
          <p:cNvSpPr txBox="1"/>
          <p:nvPr/>
        </p:nvSpPr>
        <p:spPr>
          <a:xfrm>
            <a:off x="675741" y="2724912"/>
            <a:ext cx="1499616" cy="585216"/>
          </a:xfrm>
          <a:prstGeom prst="rect">
            <a:avLst/>
          </a:prstGeom>
          <a:noFill/>
        </p:spPr>
        <p:txBody>
          <a:bodyPr wrap="square" lIns="0" rIns="0" tIns="0" bIns="0" anchor="t">
            <a:spAutoFit/>
          </a:bodyPr>
          <a:lstStyle/>
          <a:p>
            <a:pPr algn="l">
              <a:lnSpc>
                <a:spcPct val="102000"/>
              </a:lnSpc>
              <a:spcBef>
                <a:spcPts val="0"/>
              </a:spcBef>
              <a:spcAft>
                <a:spcPts val="0"/>
              </a:spcAft>
            </a:pPr>
            <a:r>
              <a:rPr sz="840" b="0" i="0">
                <a:solidFill>
                  <a:srgbClr val="3A3F52"/>
                </a:solidFill>
                <a:latin typeface="Segoe UI"/>
              </a:rPr>
              <a:t>Administrator resets the emergency demo state.</a:t>
            </a:r>
          </a:p>
        </p:txBody>
      </p:sp>
      <p:sp>
        <p:nvSpPr>
          <p:cNvPr id="16" name="Right Arrow 15"/>
          <p:cNvSpPr/>
          <p:nvPr/>
        </p:nvSpPr>
        <p:spPr>
          <a:xfrm>
            <a:off x="2296058" y="2473451"/>
            <a:ext cx="112471" cy="137160"/>
          </a:xfrm>
          <a:prstGeom prst="rightArrow">
            <a:avLst>
              <a:gd name="adj1" fmla="val 55000"/>
              <a:gd name="adj2" fmla="val 34000"/>
            </a:avLst>
          </a:prstGeom>
          <a:solidFill>
            <a:srgbClr val="D8DC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2419502" y="1755648"/>
            <a:ext cx="1737360" cy="1572768"/>
          </a:xfrm>
          <a:prstGeom prst="roundRect">
            <a:avLst>
              <a:gd name="adj" fmla="val 8000"/>
            </a:avLst>
          </a:prstGeom>
          <a:solidFill>
            <a:srgbClr val="FFFFFF"/>
          </a:solidFill>
          <a:ln w="12700">
            <a:solidFill>
              <a:srgbClr val="D8DC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 Same Side Corner Rectangle 17"/>
          <p:cNvSpPr/>
          <p:nvPr/>
        </p:nvSpPr>
        <p:spPr>
          <a:xfrm>
            <a:off x="2419502" y="1755648"/>
            <a:ext cx="1737360" cy="91440"/>
          </a:xfrm>
          <a:prstGeom prst="round2SameRect">
            <a:avLst/>
          </a:prstGeom>
          <a:solidFill>
            <a:srgbClr val="F326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2547518" y="1975104"/>
            <a:ext cx="384048" cy="384048"/>
          </a:xfrm>
          <a:prstGeom prst="ellipse">
            <a:avLst/>
          </a:prstGeom>
          <a:solidFill>
            <a:srgbClr val="F326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Isosceles Triangle 19"/>
          <p:cNvSpPr/>
          <p:nvPr/>
        </p:nvSpPr>
        <p:spPr>
          <a:xfrm>
            <a:off x="2642981" y="2079345"/>
            <a:ext cx="193121" cy="175564"/>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2729666" y="2132015"/>
            <a:ext cx="19751" cy="658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2728569" y="2211019"/>
            <a:ext cx="21945" cy="2194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004718" y="1975104"/>
            <a:ext cx="1060704" cy="384048"/>
          </a:xfrm>
          <a:prstGeom prst="rect">
            <a:avLst/>
          </a:prstGeom>
          <a:noFill/>
        </p:spPr>
        <p:txBody>
          <a:bodyPr wrap="square" lIns="0" rIns="0" tIns="0" bIns="0" anchor="ctr">
            <a:spAutoFit/>
          </a:bodyPr>
          <a:lstStyle/>
          <a:p>
            <a:pPr algn="l">
              <a:lnSpc>
                <a:spcPct val="100000"/>
              </a:lnSpc>
              <a:spcBef>
                <a:spcPts val="0"/>
              </a:spcBef>
              <a:spcAft>
                <a:spcPts val="0"/>
              </a:spcAft>
            </a:pPr>
            <a:r>
              <a:rPr sz="840" b="1" i="0">
                <a:solidFill>
                  <a:srgbClr val="3A3F52"/>
                </a:solidFill>
                <a:latin typeface="Segoe UI"/>
              </a:rPr>
              <a:t>STEP 2</a:t>
            </a:r>
          </a:p>
        </p:txBody>
      </p:sp>
      <p:sp>
        <p:nvSpPr>
          <p:cNvPr id="24" name="TextBox 23"/>
          <p:cNvSpPr txBox="1"/>
          <p:nvPr/>
        </p:nvSpPr>
        <p:spPr>
          <a:xfrm>
            <a:off x="2547518" y="2450591"/>
            <a:ext cx="1499616" cy="274320"/>
          </a:xfrm>
          <a:prstGeom prst="rect">
            <a:avLst/>
          </a:prstGeom>
          <a:noFill/>
        </p:spPr>
        <p:txBody>
          <a:bodyPr wrap="square" lIns="0" rIns="0" tIns="0" bIns="0" anchor="t">
            <a:spAutoFit/>
          </a:bodyPr>
          <a:lstStyle/>
          <a:p>
            <a:pPr algn="l">
              <a:lnSpc>
                <a:spcPct val="100000"/>
              </a:lnSpc>
              <a:spcBef>
                <a:spcPts val="0"/>
              </a:spcBef>
              <a:spcAft>
                <a:spcPts val="0"/>
              </a:spcAft>
            </a:pPr>
            <a:r>
              <a:rPr sz="1060" b="1" i="0">
                <a:solidFill>
                  <a:srgbClr val="080808"/>
                </a:solidFill>
                <a:latin typeface="Segoe UI"/>
              </a:rPr>
              <a:t>First emergency</a:t>
            </a:r>
          </a:p>
        </p:txBody>
      </p:sp>
      <p:sp>
        <p:nvSpPr>
          <p:cNvPr id="25" name="TextBox 24"/>
          <p:cNvSpPr txBox="1"/>
          <p:nvPr/>
        </p:nvSpPr>
        <p:spPr>
          <a:xfrm>
            <a:off x="2547518" y="2724912"/>
            <a:ext cx="1499616" cy="585216"/>
          </a:xfrm>
          <a:prstGeom prst="rect">
            <a:avLst/>
          </a:prstGeom>
          <a:noFill/>
        </p:spPr>
        <p:txBody>
          <a:bodyPr wrap="square" lIns="0" rIns="0" tIns="0" bIns="0" anchor="t">
            <a:spAutoFit/>
          </a:bodyPr>
          <a:lstStyle/>
          <a:p>
            <a:pPr algn="l">
              <a:lnSpc>
                <a:spcPct val="102000"/>
              </a:lnSpc>
              <a:spcBef>
                <a:spcPts val="0"/>
              </a:spcBef>
              <a:spcAft>
                <a:spcPts val="0"/>
              </a:spcAft>
            </a:pPr>
            <a:r>
              <a:rPr sz="840" b="0" i="0">
                <a:solidFill>
                  <a:srgbClr val="3A3F52"/>
                </a:solidFill>
                <a:latin typeface="Segoe UI"/>
              </a:rPr>
              <a:t>Critical / ICU request from an accident location; patient requests Hospital C.</a:t>
            </a:r>
          </a:p>
        </p:txBody>
      </p:sp>
      <p:sp>
        <p:nvSpPr>
          <p:cNvPr id="26" name="Right Arrow 25"/>
          <p:cNvSpPr/>
          <p:nvPr/>
        </p:nvSpPr>
        <p:spPr>
          <a:xfrm>
            <a:off x="4167835" y="2473451"/>
            <a:ext cx="112471" cy="137160"/>
          </a:xfrm>
          <a:prstGeom prst="rightArrow">
            <a:avLst>
              <a:gd name="adj1" fmla="val 55000"/>
              <a:gd name="adj2" fmla="val 34000"/>
            </a:avLst>
          </a:prstGeom>
          <a:solidFill>
            <a:srgbClr val="D8DC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4291279" y="1755648"/>
            <a:ext cx="1737360" cy="1572768"/>
          </a:xfrm>
          <a:prstGeom prst="roundRect">
            <a:avLst>
              <a:gd name="adj" fmla="val 8000"/>
            </a:avLst>
          </a:prstGeom>
          <a:solidFill>
            <a:srgbClr val="FFFFFF"/>
          </a:solidFill>
          <a:ln w="12700">
            <a:solidFill>
              <a:srgbClr val="D8DC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 Same Side Corner Rectangle 27"/>
          <p:cNvSpPr/>
          <p:nvPr/>
        </p:nvSpPr>
        <p:spPr>
          <a:xfrm>
            <a:off x="4291279" y="1755648"/>
            <a:ext cx="1737360" cy="91440"/>
          </a:xfrm>
          <a:prstGeom prst="round2SameRect">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4419295" y="1975104"/>
            <a:ext cx="384048" cy="384048"/>
          </a:xfrm>
          <a:prstGeom prst="ellipse">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Pentagon 29"/>
          <p:cNvSpPr/>
          <p:nvPr/>
        </p:nvSpPr>
        <p:spPr>
          <a:xfrm rot="10800000">
            <a:off x="4523536" y="2070567"/>
            <a:ext cx="175564" cy="136062"/>
          </a:xfrm>
          <a:prstGeom prst="homePlat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rot="2700000">
            <a:off x="4554260" y="2145182"/>
            <a:ext cx="65836" cy="241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rot="18900000">
            <a:off x="4593762" y="2110069"/>
            <a:ext cx="92171" cy="241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4876495" y="1975104"/>
            <a:ext cx="1060704" cy="384048"/>
          </a:xfrm>
          <a:prstGeom prst="rect">
            <a:avLst/>
          </a:prstGeom>
          <a:noFill/>
        </p:spPr>
        <p:txBody>
          <a:bodyPr wrap="square" lIns="0" rIns="0" tIns="0" bIns="0" anchor="ctr">
            <a:spAutoFit/>
          </a:bodyPr>
          <a:lstStyle/>
          <a:p>
            <a:pPr algn="l">
              <a:lnSpc>
                <a:spcPct val="100000"/>
              </a:lnSpc>
              <a:spcBef>
                <a:spcPts val="0"/>
              </a:spcBef>
              <a:spcAft>
                <a:spcPts val="0"/>
              </a:spcAft>
            </a:pPr>
            <a:r>
              <a:rPr sz="840" b="1" i="0">
                <a:solidFill>
                  <a:srgbClr val="3A3F52"/>
                </a:solidFill>
                <a:latin typeface="Segoe UI"/>
              </a:rPr>
              <a:t>STEP 3</a:t>
            </a:r>
          </a:p>
        </p:txBody>
      </p:sp>
      <p:sp>
        <p:nvSpPr>
          <p:cNvPr id="34" name="TextBox 33"/>
          <p:cNvSpPr txBox="1"/>
          <p:nvPr/>
        </p:nvSpPr>
        <p:spPr>
          <a:xfrm>
            <a:off x="4419295" y="2450591"/>
            <a:ext cx="1499616" cy="274320"/>
          </a:xfrm>
          <a:prstGeom prst="rect">
            <a:avLst/>
          </a:prstGeom>
          <a:noFill/>
        </p:spPr>
        <p:txBody>
          <a:bodyPr wrap="square" lIns="0" rIns="0" tIns="0" bIns="0" anchor="t">
            <a:spAutoFit/>
          </a:bodyPr>
          <a:lstStyle/>
          <a:p>
            <a:pPr algn="l">
              <a:lnSpc>
                <a:spcPct val="100000"/>
              </a:lnSpc>
              <a:spcBef>
                <a:spcPts val="0"/>
              </a:spcBef>
              <a:spcAft>
                <a:spcPts val="0"/>
              </a:spcAft>
            </a:pPr>
            <a:r>
              <a:rPr sz="1060" b="1" i="0">
                <a:solidFill>
                  <a:srgbClr val="080808"/>
                </a:solidFill>
                <a:latin typeface="Segoe UI"/>
              </a:rPr>
              <a:t>Verify &amp; reserve</a:t>
            </a:r>
          </a:p>
        </p:txBody>
      </p:sp>
      <p:sp>
        <p:nvSpPr>
          <p:cNvPr id="35" name="TextBox 34"/>
          <p:cNvSpPr txBox="1"/>
          <p:nvPr/>
        </p:nvSpPr>
        <p:spPr>
          <a:xfrm>
            <a:off x="4419295" y="2724912"/>
            <a:ext cx="1499616" cy="585216"/>
          </a:xfrm>
          <a:prstGeom prst="rect">
            <a:avLst/>
          </a:prstGeom>
          <a:noFill/>
        </p:spPr>
        <p:txBody>
          <a:bodyPr wrap="square" lIns="0" rIns="0" tIns="0" bIns="0" anchor="t">
            <a:spAutoFit/>
          </a:bodyPr>
          <a:lstStyle/>
          <a:p>
            <a:pPr algn="l">
              <a:lnSpc>
                <a:spcPct val="102000"/>
              </a:lnSpc>
              <a:spcBef>
                <a:spcPts val="0"/>
              </a:spcBef>
              <a:spcAft>
                <a:spcPts val="0"/>
              </a:spcAft>
            </a:pPr>
            <a:r>
              <a:rPr sz="840" b="0" i="0">
                <a:solidFill>
                  <a:srgbClr val="3A3F52"/>
                </a:solidFill>
                <a:latin typeface="Segoe UI"/>
              </a:rPr>
              <a:t>Hospital C verifies severity and accepts the request → Reserved.</a:t>
            </a:r>
          </a:p>
        </p:txBody>
      </p:sp>
      <p:sp>
        <p:nvSpPr>
          <p:cNvPr id="36" name="Right Arrow 35"/>
          <p:cNvSpPr/>
          <p:nvPr/>
        </p:nvSpPr>
        <p:spPr>
          <a:xfrm>
            <a:off x="6039612" y="2473451"/>
            <a:ext cx="112471" cy="137160"/>
          </a:xfrm>
          <a:prstGeom prst="rightArrow">
            <a:avLst>
              <a:gd name="adj1" fmla="val 55000"/>
              <a:gd name="adj2" fmla="val 34000"/>
            </a:avLst>
          </a:prstGeom>
          <a:solidFill>
            <a:srgbClr val="D8DC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ounded Rectangle 36"/>
          <p:cNvSpPr/>
          <p:nvPr/>
        </p:nvSpPr>
        <p:spPr>
          <a:xfrm>
            <a:off x="6163056" y="1755648"/>
            <a:ext cx="1737360" cy="1572768"/>
          </a:xfrm>
          <a:prstGeom prst="roundRect">
            <a:avLst>
              <a:gd name="adj" fmla="val 8000"/>
            </a:avLst>
          </a:prstGeom>
          <a:solidFill>
            <a:srgbClr val="FFFFFF"/>
          </a:solidFill>
          <a:ln w="12700">
            <a:solidFill>
              <a:srgbClr val="D8DC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ound Same Side Corner Rectangle 37"/>
          <p:cNvSpPr/>
          <p:nvPr/>
        </p:nvSpPr>
        <p:spPr>
          <a:xfrm>
            <a:off x="6163056" y="1755648"/>
            <a:ext cx="1737360" cy="91440"/>
          </a:xfrm>
          <a:prstGeom prst="round2SameRect">
            <a:avLst/>
          </a:prstGeom>
          <a:solidFill>
            <a:srgbClr val="F326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Oval 38"/>
          <p:cNvSpPr/>
          <p:nvPr/>
        </p:nvSpPr>
        <p:spPr>
          <a:xfrm>
            <a:off x="6291072" y="1975104"/>
            <a:ext cx="384048" cy="384048"/>
          </a:xfrm>
          <a:prstGeom prst="ellipse">
            <a:avLst/>
          </a:prstGeom>
          <a:solidFill>
            <a:srgbClr val="F326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Isosceles Triangle 39"/>
          <p:cNvSpPr/>
          <p:nvPr/>
        </p:nvSpPr>
        <p:spPr>
          <a:xfrm>
            <a:off x="6386535" y="2079345"/>
            <a:ext cx="193121" cy="175564"/>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6473220" y="2132015"/>
            <a:ext cx="19751" cy="658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Oval 41"/>
          <p:cNvSpPr/>
          <p:nvPr/>
        </p:nvSpPr>
        <p:spPr>
          <a:xfrm>
            <a:off x="6472123" y="2211019"/>
            <a:ext cx="21945" cy="2194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6748272" y="1975104"/>
            <a:ext cx="1060704" cy="384048"/>
          </a:xfrm>
          <a:prstGeom prst="rect">
            <a:avLst/>
          </a:prstGeom>
          <a:noFill/>
        </p:spPr>
        <p:txBody>
          <a:bodyPr wrap="square" lIns="0" rIns="0" tIns="0" bIns="0" anchor="ctr">
            <a:spAutoFit/>
          </a:bodyPr>
          <a:lstStyle/>
          <a:p>
            <a:pPr algn="l">
              <a:lnSpc>
                <a:spcPct val="100000"/>
              </a:lnSpc>
              <a:spcBef>
                <a:spcPts val="0"/>
              </a:spcBef>
              <a:spcAft>
                <a:spcPts val="0"/>
              </a:spcAft>
            </a:pPr>
            <a:r>
              <a:rPr sz="840" b="1" i="0">
                <a:solidFill>
                  <a:srgbClr val="3A3F52"/>
                </a:solidFill>
                <a:latin typeface="Segoe UI"/>
              </a:rPr>
              <a:t>STEP 4</a:t>
            </a:r>
          </a:p>
        </p:txBody>
      </p:sp>
      <p:sp>
        <p:nvSpPr>
          <p:cNvPr id="44" name="TextBox 43"/>
          <p:cNvSpPr txBox="1"/>
          <p:nvPr/>
        </p:nvSpPr>
        <p:spPr>
          <a:xfrm>
            <a:off x="6291072" y="2450591"/>
            <a:ext cx="1499616" cy="274320"/>
          </a:xfrm>
          <a:prstGeom prst="rect">
            <a:avLst/>
          </a:prstGeom>
          <a:noFill/>
        </p:spPr>
        <p:txBody>
          <a:bodyPr wrap="square" lIns="0" rIns="0" tIns="0" bIns="0" anchor="t">
            <a:spAutoFit/>
          </a:bodyPr>
          <a:lstStyle/>
          <a:p>
            <a:pPr algn="l">
              <a:lnSpc>
                <a:spcPct val="100000"/>
              </a:lnSpc>
              <a:spcBef>
                <a:spcPts val="0"/>
              </a:spcBef>
              <a:spcAft>
                <a:spcPts val="0"/>
              </a:spcAft>
            </a:pPr>
            <a:r>
              <a:rPr sz="1060" b="1" i="0">
                <a:solidFill>
                  <a:srgbClr val="080808"/>
                </a:solidFill>
                <a:latin typeface="Segoe UI"/>
              </a:rPr>
              <a:t>Second emergency</a:t>
            </a:r>
          </a:p>
        </p:txBody>
      </p:sp>
      <p:sp>
        <p:nvSpPr>
          <p:cNvPr id="45" name="TextBox 44"/>
          <p:cNvSpPr txBox="1"/>
          <p:nvPr/>
        </p:nvSpPr>
        <p:spPr>
          <a:xfrm>
            <a:off x="6291072" y="2724912"/>
            <a:ext cx="1499616" cy="585216"/>
          </a:xfrm>
          <a:prstGeom prst="rect">
            <a:avLst/>
          </a:prstGeom>
          <a:noFill/>
        </p:spPr>
        <p:txBody>
          <a:bodyPr wrap="square" lIns="0" rIns="0" tIns="0" bIns="0" anchor="t">
            <a:spAutoFit/>
          </a:bodyPr>
          <a:lstStyle/>
          <a:p>
            <a:pPr algn="l">
              <a:lnSpc>
                <a:spcPct val="102000"/>
              </a:lnSpc>
              <a:spcBef>
                <a:spcPts val="0"/>
              </a:spcBef>
              <a:spcAft>
                <a:spcPts val="0"/>
              </a:spcAft>
            </a:pPr>
            <a:r>
              <a:rPr sz="840" b="0" i="0">
                <a:solidFill>
                  <a:srgbClr val="3A3F52"/>
                </a:solidFill>
                <a:latin typeface="Segoe UI"/>
              </a:rPr>
              <a:t>Second ICU request; Hospital C's reservation is protected, so Hospital B is recommended.</a:t>
            </a:r>
          </a:p>
        </p:txBody>
      </p:sp>
      <p:sp>
        <p:nvSpPr>
          <p:cNvPr id="46" name="Right Arrow 45"/>
          <p:cNvSpPr/>
          <p:nvPr/>
        </p:nvSpPr>
        <p:spPr>
          <a:xfrm>
            <a:off x="7911388" y="2473451"/>
            <a:ext cx="112471" cy="137160"/>
          </a:xfrm>
          <a:prstGeom prst="rightArrow">
            <a:avLst>
              <a:gd name="adj1" fmla="val 55000"/>
              <a:gd name="adj2" fmla="val 34000"/>
            </a:avLst>
          </a:prstGeom>
          <a:solidFill>
            <a:srgbClr val="D8DC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ounded Rectangle 46"/>
          <p:cNvSpPr/>
          <p:nvPr/>
        </p:nvSpPr>
        <p:spPr>
          <a:xfrm>
            <a:off x="8034832" y="1755648"/>
            <a:ext cx="1737360" cy="1572768"/>
          </a:xfrm>
          <a:prstGeom prst="roundRect">
            <a:avLst>
              <a:gd name="adj" fmla="val 8000"/>
            </a:avLst>
          </a:prstGeom>
          <a:solidFill>
            <a:srgbClr val="FFFFFF"/>
          </a:solidFill>
          <a:ln w="12700">
            <a:solidFill>
              <a:srgbClr val="D8DC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ound Same Side Corner Rectangle 47"/>
          <p:cNvSpPr/>
          <p:nvPr/>
        </p:nvSpPr>
        <p:spPr>
          <a:xfrm>
            <a:off x="8034832" y="1755648"/>
            <a:ext cx="1737360" cy="91440"/>
          </a:xfrm>
          <a:prstGeom prst="round2SameRect">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Oval 48"/>
          <p:cNvSpPr/>
          <p:nvPr/>
        </p:nvSpPr>
        <p:spPr>
          <a:xfrm>
            <a:off x="8162848" y="1975104"/>
            <a:ext cx="384048" cy="384048"/>
          </a:xfrm>
          <a:prstGeom prst="ellipse">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Pentagon 49"/>
          <p:cNvSpPr/>
          <p:nvPr/>
        </p:nvSpPr>
        <p:spPr>
          <a:xfrm rot="10800000">
            <a:off x="8267090" y="2070567"/>
            <a:ext cx="175564" cy="136062"/>
          </a:xfrm>
          <a:prstGeom prst="homePlat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ectangle 50"/>
          <p:cNvSpPr/>
          <p:nvPr/>
        </p:nvSpPr>
        <p:spPr>
          <a:xfrm rot="2700000">
            <a:off x="8297814" y="2145182"/>
            <a:ext cx="65836" cy="241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ectangle 51"/>
          <p:cNvSpPr/>
          <p:nvPr/>
        </p:nvSpPr>
        <p:spPr>
          <a:xfrm rot="18900000">
            <a:off x="8337316" y="2110069"/>
            <a:ext cx="92171" cy="241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8620048" y="1975104"/>
            <a:ext cx="1060704" cy="384048"/>
          </a:xfrm>
          <a:prstGeom prst="rect">
            <a:avLst/>
          </a:prstGeom>
          <a:noFill/>
        </p:spPr>
        <p:txBody>
          <a:bodyPr wrap="square" lIns="0" rIns="0" tIns="0" bIns="0" anchor="ctr">
            <a:spAutoFit/>
          </a:bodyPr>
          <a:lstStyle/>
          <a:p>
            <a:pPr algn="l">
              <a:lnSpc>
                <a:spcPct val="100000"/>
              </a:lnSpc>
              <a:spcBef>
                <a:spcPts val="0"/>
              </a:spcBef>
              <a:spcAft>
                <a:spcPts val="0"/>
              </a:spcAft>
            </a:pPr>
            <a:r>
              <a:rPr sz="840" b="1" i="0">
                <a:solidFill>
                  <a:srgbClr val="3A3F52"/>
                </a:solidFill>
                <a:latin typeface="Segoe UI"/>
              </a:rPr>
              <a:t>STEP 5</a:t>
            </a:r>
          </a:p>
        </p:txBody>
      </p:sp>
      <p:sp>
        <p:nvSpPr>
          <p:cNvPr id="54" name="TextBox 53"/>
          <p:cNvSpPr txBox="1"/>
          <p:nvPr/>
        </p:nvSpPr>
        <p:spPr>
          <a:xfrm>
            <a:off x="8162848" y="2450591"/>
            <a:ext cx="1499616" cy="274320"/>
          </a:xfrm>
          <a:prstGeom prst="rect">
            <a:avLst/>
          </a:prstGeom>
          <a:noFill/>
        </p:spPr>
        <p:txBody>
          <a:bodyPr wrap="square" lIns="0" rIns="0" tIns="0" bIns="0" anchor="t">
            <a:spAutoFit/>
          </a:bodyPr>
          <a:lstStyle/>
          <a:p>
            <a:pPr algn="l">
              <a:lnSpc>
                <a:spcPct val="100000"/>
              </a:lnSpc>
              <a:spcBef>
                <a:spcPts val="0"/>
              </a:spcBef>
              <a:spcAft>
                <a:spcPts val="0"/>
              </a:spcAft>
            </a:pPr>
            <a:r>
              <a:rPr sz="1060" b="1" i="0">
                <a:solidFill>
                  <a:srgbClr val="080808"/>
                </a:solidFill>
                <a:latin typeface="Segoe UI"/>
              </a:rPr>
              <a:t>Second reservation</a:t>
            </a:r>
          </a:p>
        </p:txBody>
      </p:sp>
      <p:sp>
        <p:nvSpPr>
          <p:cNvPr id="55" name="TextBox 54"/>
          <p:cNvSpPr txBox="1"/>
          <p:nvPr/>
        </p:nvSpPr>
        <p:spPr>
          <a:xfrm>
            <a:off x="8162848" y="2724912"/>
            <a:ext cx="1499616" cy="585216"/>
          </a:xfrm>
          <a:prstGeom prst="rect">
            <a:avLst/>
          </a:prstGeom>
          <a:noFill/>
        </p:spPr>
        <p:txBody>
          <a:bodyPr wrap="square" lIns="0" rIns="0" tIns="0" bIns="0" anchor="t">
            <a:spAutoFit/>
          </a:bodyPr>
          <a:lstStyle/>
          <a:p>
            <a:pPr algn="l">
              <a:lnSpc>
                <a:spcPct val="102000"/>
              </a:lnSpc>
              <a:spcBef>
                <a:spcPts val="0"/>
              </a:spcBef>
              <a:spcAft>
                <a:spcPts val="0"/>
              </a:spcAft>
            </a:pPr>
            <a:r>
              <a:rPr sz="840" b="0" i="0">
                <a:solidFill>
                  <a:srgbClr val="3A3F52"/>
                </a:solidFill>
                <a:latin typeface="Segoe UI"/>
              </a:rPr>
              <a:t>Hospital B verifies and accepts the second request.</a:t>
            </a:r>
          </a:p>
        </p:txBody>
      </p:sp>
      <p:sp>
        <p:nvSpPr>
          <p:cNvPr id="56" name="Right Arrow 55"/>
          <p:cNvSpPr/>
          <p:nvPr/>
        </p:nvSpPr>
        <p:spPr>
          <a:xfrm>
            <a:off x="9783165" y="2473451"/>
            <a:ext cx="112471" cy="137160"/>
          </a:xfrm>
          <a:prstGeom prst="rightArrow">
            <a:avLst>
              <a:gd name="adj1" fmla="val 55000"/>
              <a:gd name="adj2" fmla="val 34000"/>
            </a:avLst>
          </a:prstGeom>
          <a:solidFill>
            <a:srgbClr val="D8DC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Rounded Rectangle 56"/>
          <p:cNvSpPr/>
          <p:nvPr/>
        </p:nvSpPr>
        <p:spPr>
          <a:xfrm>
            <a:off x="9906609" y="1755648"/>
            <a:ext cx="1737360" cy="1572768"/>
          </a:xfrm>
          <a:prstGeom prst="roundRect">
            <a:avLst>
              <a:gd name="adj" fmla="val 8000"/>
            </a:avLst>
          </a:prstGeom>
          <a:solidFill>
            <a:srgbClr val="FFFFFF"/>
          </a:solidFill>
          <a:ln w="12700">
            <a:solidFill>
              <a:srgbClr val="D8DC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Round Same Side Corner Rectangle 57"/>
          <p:cNvSpPr/>
          <p:nvPr/>
        </p:nvSpPr>
        <p:spPr>
          <a:xfrm>
            <a:off x="9906609" y="1755648"/>
            <a:ext cx="1737360" cy="91440"/>
          </a:xfrm>
          <a:prstGeom prst="round2SameRect">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Oval 58"/>
          <p:cNvSpPr/>
          <p:nvPr/>
        </p:nvSpPr>
        <p:spPr>
          <a:xfrm>
            <a:off x="10034625" y="1975104"/>
            <a:ext cx="384048" cy="384048"/>
          </a:xfrm>
          <a:prstGeom prst="ellipse">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Rectangle 59"/>
          <p:cNvSpPr/>
          <p:nvPr/>
        </p:nvSpPr>
        <p:spPr>
          <a:xfrm rot="2700000">
            <a:off x="10147645" y="2151766"/>
            <a:ext cx="96560" cy="351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Rectangle 60"/>
          <p:cNvSpPr/>
          <p:nvPr/>
        </p:nvSpPr>
        <p:spPr>
          <a:xfrm rot="18900000">
            <a:off x="10204704" y="2101291"/>
            <a:ext cx="136062" cy="351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10491825" y="1975104"/>
            <a:ext cx="1060704" cy="384048"/>
          </a:xfrm>
          <a:prstGeom prst="rect">
            <a:avLst/>
          </a:prstGeom>
          <a:noFill/>
        </p:spPr>
        <p:txBody>
          <a:bodyPr wrap="square" lIns="0" rIns="0" tIns="0" bIns="0" anchor="ctr">
            <a:spAutoFit/>
          </a:bodyPr>
          <a:lstStyle/>
          <a:p>
            <a:pPr algn="l">
              <a:lnSpc>
                <a:spcPct val="100000"/>
              </a:lnSpc>
              <a:spcBef>
                <a:spcPts val="0"/>
              </a:spcBef>
              <a:spcAft>
                <a:spcPts val="0"/>
              </a:spcAft>
            </a:pPr>
            <a:r>
              <a:rPr sz="840" b="1" i="0">
                <a:solidFill>
                  <a:srgbClr val="3A3F52"/>
                </a:solidFill>
                <a:latin typeface="Segoe UI"/>
              </a:rPr>
              <a:t>STEP 6</a:t>
            </a:r>
          </a:p>
        </p:txBody>
      </p:sp>
      <p:sp>
        <p:nvSpPr>
          <p:cNvPr id="63" name="TextBox 62"/>
          <p:cNvSpPr txBox="1"/>
          <p:nvPr/>
        </p:nvSpPr>
        <p:spPr>
          <a:xfrm>
            <a:off x="10034625" y="2450591"/>
            <a:ext cx="1499616" cy="274320"/>
          </a:xfrm>
          <a:prstGeom prst="rect">
            <a:avLst/>
          </a:prstGeom>
          <a:noFill/>
        </p:spPr>
        <p:txBody>
          <a:bodyPr wrap="square" lIns="0" rIns="0" tIns="0" bIns="0" anchor="t">
            <a:spAutoFit/>
          </a:bodyPr>
          <a:lstStyle/>
          <a:p>
            <a:pPr algn="l">
              <a:lnSpc>
                <a:spcPct val="100000"/>
              </a:lnSpc>
              <a:spcBef>
                <a:spcPts val="0"/>
              </a:spcBef>
              <a:spcAft>
                <a:spcPts val="0"/>
              </a:spcAft>
            </a:pPr>
            <a:r>
              <a:rPr sz="1060" b="1" i="0">
                <a:solidFill>
                  <a:srgbClr val="080808"/>
                </a:solidFill>
                <a:latin typeface="Segoe UI"/>
              </a:rPr>
              <a:t>Arrival confirmed</a:t>
            </a:r>
          </a:p>
        </p:txBody>
      </p:sp>
      <p:sp>
        <p:nvSpPr>
          <p:cNvPr id="64" name="TextBox 63"/>
          <p:cNvSpPr txBox="1"/>
          <p:nvPr/>
        </p:nvSpPr>
        <p:spPr>
          <a:xfrm>
            <a:off x="10034625" y="2724912"/>
            <a:ext cx="1499616" cy="585216"/>
          </a:xfrm>
          <a:prstGeom prst="rect">
            <a:avLst/>
          </a:prstGeom>
          <a:noFill/>
        </p:spPr>
        <p:txBody>
          <a:bodyPr wrap="square" lIns="0" rIns="0" tIns="0" bIns="0" anchor="t">
            <a:spAutoFit/>
          </a:bodyPr>
          <a:lstStyle/>
          <a:p>
            <a:pPr algn="l">
              <a:lnSpc>
                <a:spcPct val="102000"/>
              </a:lnSpc>
              <a:spcBef>
                <a:spcPts val="0"/>
              </a:spcBef>
              <a:spcAft>
                <a:spcPts val="0"/>
              </a:spcAft>
            </a:pPr>
            <a:r>
              <a:rPr sz="840" b="0" i="0">
                <a:solidFill>
                  <a:srgbClr val="3A3F52"/>
                </a:solidFill>
                <a:latin typeface="Segoe UI"/>
              </a:rPr>
              <a:t>Hospital C marks the first patient arrived → bed state becomes Occupied.</a:t>
            </a:r>
          </a:p>
        </p:txBody>
      </p:sp>
      <p:sp>
        <p:nvSpPr>
          <p:cNvPr id="65" name="TextBox 64"/>
          <p:cNvSpPr txBox="1"/>
          <p:nvPr/>
        </p:nvSpPr>
        <p:spPr>
          <a:xfrm>
            <a:off x="502920" y="3474720"/>
            <a:ext cx="1097280" cy="310896"/>
          </a:xfrm>
          <a:prstGeom prst="rect">
            <a:avLst/>
          </a:prstGeom>
          <a:noFill/>
        </p:spPr>
        <p:txBody>
          <a:bodyPr wrap="square" lIns="0" rIns="0" tIns="0" bIns="0" anchor="ctr">
            <a:spAutoFit/>
          </a:bodyPr>
          <a:lstStyle/>
          <a:p>
            <a:pPr algn="l">
              <a:lnSpc>
                <a:spcPct val="100000"/>
              </a:lnSpc>
              <a:spcBef>
                <a:spcPts val="0"/>
              </a:spcBef>
              <a:spcAft>
                <a:spcPts val="0"/>
              </a:spcAft>
            </a:pPr>
            <a:r>
              <a:rPr sz="940" b="1" i="0">
                <a:solidFill>
                  <a:srgbClr val="0719C8"/>
                </a:solidFill>
                <a:latin typeface="Segoe UI"/>
              </a:rPr>
              <a:t>BED STATES</a:t>
            </a:r>
          </a:p>
        </p:txBody>
      </p:sp>
      <p:sp>
        <p:nvSpPr>
          <p:cNvPr id="66" name="Rounded Rectangle 65"/>
          <p:cNvSpPr/>
          <p:nvPr/>
        </p:nvSpPr>
        <p:spPr>
          <a:xfrm>
            <a:off x="1645920" y="3474720"/>
            <a:ext cx="1417320" cy="310896"/>
          </a:xfrm>
          <a:prstGeom prst="roundRect">
            <a:avLst>
              <a:gd name="adj" fmla="val 50000"/>
            </a:avLst>
          </a:prstGeom>
          <a:solidFill>
            <a:srgbClr val="FFF6E5"/>
          </a:solidFill>
          <a:ln w="15240">
            <a:solidFill>
              <a:srgbClr val="FFAA1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TextBox 66"/>
          <p:cNvSpPr txBox="1"/>
          <p:nvPr/>
        </p:nvSpPr>
        <p:spPr>
          <a:xfrm>
            <a:off x="1645920" y="3474720"/>
            <a:ext cx="1417320" cy="310896"/>
          </a:xfrm>
          <a:prstGeom prst="rect">
            <a:avLst/>
          </a:prstGeom>
          <a:noFill/>
        </p:spPr>
        <p:txBody>
          <a:bodyPr wrap="square" lIns="0" rIns="0" tIns="0" bIns="0" anchor="ctr">
            <a:spAutoFit/>
          </a:bodyPr>
          <a:lstStyle/>
          <a:p>
            <a:pPr algn="ctr">
              <a:lnSpc>
                <a:spcPct val="100000"/>
              </a:lnSpc>
              <a:spcBef>
                <a:spcPts val="0"/>
              </a:spcBef>
              <a:spcAft>
                <a:spcPts val="0"/>
              </a:spcAft>
            </a:pPr>
            <a:r>
              <a:rPr sz="940" b="1" i="0">
                <a:solidFill>
                  <a:srgbClr val="FFAA16"/>
                </a:solidFill>
                <a:latin typeface="Segoe UI"/>
              </a:rPr>
              <a:t>Temporary Hold</a:t>
            </a:r>
          </a:p>
        </p:txBody>
      </p:sp>
      <p:sp>
        <p:nvSpPr>
          <p:cNvPr id="68" name="Right Arrow 67"/>
          <p:cNvSpPr/>
          <p:nvPr/>
        </p:nvSpPr>
        <p:spPr>
          <a:xfrm>
            <a:off x="3108960" y="3557015"/>
            <a:ext cx="237744" cy="146304"/>
          </a:xfrm>
          <a:prstGeom prst="rightArrow">
            <a:avLst>
              <a:gd name="adj1" fmla="val 55000"/>
              <a:gd name="adj2" fmla="val 34000"/>
            </a:avLst>
          </a:prstGeom>
          <a:solidFill>
            <a:srgbClr val="0719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Rounded Rectangle 68"/>
          <p:cNvSpPr/>
          <p:nvPr/>
        </p:nvSpPr>
        <p:spPr>
          <a:xfrm>
            <a:off x="3392424" y="3474720"/>
            <a:ext cx="1417320" cy="310896"/>
          </a:xfrm>
          <a:prstGeom prst="roundRect">
            <a:avLst>
              <a:gd name="adj" fmla="val 50000"/>
            </a:avLst>
          </a:prstGeom>
          <a:solidFill>
            <a:srgbClr val="FFAA16"/>
          </a:solidFill>
          <a:ln w="15240">
            <a:solidFill>
              <a:srgbClr val="FFAA1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TextBox 69"/>
          <p:cNvSpPr txBox="1"/>
          <p:nvPr/>
        </p:nvSpPr>
        <p:spPr>
          <a:xfrm>
            <a:off x="3392424" y="3474720"/>
            <a:ext cx="1417320" cy="310896"/>
          </a:xfrm>
          <a:prstGeom prst="rect">
            <a:avLst/>
          </a:prstGeom>
          <a:noFill/>
        </p:spPr>
        <p:txBody>
          <a:bodyPr wrap="square" lIns="0" rIns="0" tIns="0" bIns="0" anchor="ctr">
            <a:spAutoFit/>
          </a:bodyPr>
          <a:lstStyle/>
          <a:p>
            <a:pPr algn="ctr">
              <a:lnSpc>
                <a:spcPct val="100000"/>
              </a:lnSpc>
              <a:spcBef>
                <a:spcPts val="0"/>
              </a:spcBef>
              <a:spcAft>
                <a:spcPts val="0"/>
              </a:spcAft>
            </a:pPr>
            <a:r>
              <a:rPr sz="940" b="1" i="0">
                <a:solidFill>
                  <a:srgbClr val="080808"/>
                </a:solidFill>
                <a:latin typeface="Segoe UI"/>
              </a:rPr>
              <a:t>Reserved</a:t>
            </a:r>
          </a:p>
        </p:txBody>
      </p:sp>
      <p:sp>
        <p:nvSpPr>
          <p:cNvPr id="71" name="Right Arrow 70"/>
          <p:cNvSpPr/>
          <p:nvPr/>
        </p:nvSpPr>
        <p:spPr>
          <a:xfrm>
            <a:off x="4855464" y="3557015"/>
            <a:ext cx="237744" cy="146304"/>
          </a:xfrm>
          <a:prstGeom prst="rightArrow">
            <a:avLst>
              <a:gd name="adj1" fmla="val 55000"/>
              <a:gd name="adj2" fmla="val 34000"/>
            </a:avLst>
          </a:prstGeom>
          <a:solidFill>
            <a:srgbClr val="0719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Rounded Rectangle 71"/>
          <p:cNvSpPr/>
          <p:nvPr/>
        </p:nvSpPr>
        <p:spPr>
          <a:xfrm>
            <a:off x="5138928" y="3474720"/>
            <a:ext cx="1417320" cy="310896"/>
          </a:xfrm>
          <a:prstGeom prst="roundRect">
            <a:avLst>
              <a:gd name="adj" fmla="val 50000"/>
            </a:avLst>
          </a:prstGeom>
          <a:solidFill>
            <a:srgbClr val="58BE98"/>
          </a:solidFill>
          <a:ln w="15240">
            <a:solidFill>
              <a:srgbClr val="58BE9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TextBox 72"/>
          <p:cNvSpPr txBox="1"/>
          <p:nvPr/>
        </p:nvSpPr>
        <p:spPr>
          <a:xfrm>
            <a:off x="5138928" y="3474720"/>
            <a:ext cx="1417320" cy="310896"/>
          </a:xfrm>
          <a:prstGeom prst="rect">
            <a:avLst/>
          </a:prstGeom>
          <a:noFill/>
        </p:spPr>
        <p:txBody>
          <a:bodyPr wrap="square" lIns="0" rIns="0" tIns="0" bIns="0" anchor="ctr">
            <a:spAutoFit/>
          </a:bodyPr>
          <a:lstStyle/>
          <a:p>
            <a:pPr algn="ctr">
              <a:lnSpc>
                <a:spcPct val="100000"/>
              </a:lnSpc>
              <a:spcBef>
                <a:spcPts val="0"/>
              </a:spcBef>
              <a:spcAft>
                <a:spcPts val="0"/>
              </a:spcAft>
            </a:pPr>
            <a:r>
              <a:rPr sz="940" b="1" i="0">
                <a:solidFill>
                  <a:srgbClr val="080808"/>
                </a:solidFill>
                <a:latin typeface="Segoe UI"/>
              </a:rPr>
              <a:t>Occupied</a:t>
            </a:r>
          </a:p>
        </p:txBody>
      </p:sp>
      <p:sp>
        <p:nvSpPr>
          <p:cNvPr id="74" name="TextBox 73"/>
          <p:cNvSpPr txBox="1"/>
          <p:nvPr/>
        </p:nvSpPr>
        <p:spPr>
          <a:xfrm>
            <a:off x="6931152" y="3474720"/>
            <a:ext cx="1371600" cy="310896"/>
          </a:xfrm>
          <a:prstGeom prst="rect">
            <a:avLst/>
          </a:prstGeom>
          <a:noFill/>
        </p:spPr>
        <p:txBody>
          <a:bodyPr wrap="square" lIns="0" rIns="0" tIns="0" bIns="0" anchor="ctr">
            <a:spAutoFit/>
          </a:bodyPr>
          <a:lstStyle/>
          <a:p>
            <a:pPr algn="l">
              <a:lnSpc>
                <a:spcPct val="100000"/>
              </a:lnSpc>
              <a:spcBef>
                <a:spcPts val="0"/>
              </a:spcBef>
              <a:spcAft>
                <a:spcPts val="0"/>
              </a:spcAft>
            </a:pPr>
            <a:r>
              <a:rPr sz="860" b="0" i="1">
                <a:solidFill>
                  <a:srgbClr val="3A3F52"/>
                </a:solidFill>
                <a:latin typeface="Segoe UI"/>
              </a:rPr>
              <a:t>also possible:</a:t>
            </a:r>
          </a:p>
        </p:txBody>
      </p:sp>
      <p:sp>
        <p:nvSpPr>
          <p:cNvPr id="75" name="Rounded Rectangle 74"/>
          <p:cNvSpPr/>
          <p:nvPr/>
        </p:nvSpPr>
        <p:spPr>
          <a:xfrm>
            <a:off x="7845552" y="3474720"/>
            <a:ext cx="960120" cy="310896"/>
          </a:xfrm>
          <a:prstGeom prst="roundRect">
            <a:avLst>
              <a:gd name="adj" fmla="val 50000"/>
            </a:avLst>
          </a:prstGeom>
          <a:solidFill>
            <a:srgbClr val="FFFFFF"/>
          </a:solidFill>
          <a:ln w="15240">
            <a:solidFill>
              <a:srgbClr val="F326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TextBox 75"/>
          <p:cNvSpPr txBox="1"/>
          <p:nvPr/>
        </p:nvSpPr>
        <p:spPr>
          <a:xfrm>
            <a:off x="7845552" y="3474720"/>
            <a:ext cx="960120" cy="310896"/>
          </a:xfrm>
          <a:prstGeom prst="rect">
            <a:avLst/>
          </a:prstGeom>
          <a:noFill/>
        </p:spPr>
        <p:txBody>
          <a:bodyPr wrap="square" lIns="0" rIns="0" tIns="0" bIns="0" anchor="ctr">
            <a:spAutoFit/>
          </a:bodyPr>
          <a:lstStyle/>
          <a:p>
            <a:pPr algn="ctr">
              <a:lnSpc>
                <a:spcPct val="100000"/>
              </a:lnSpc>
              <a:spcBef>
                <a:spcPts val="0"/>
              </a:spcBef>
              <a:spcAft>
                <a:spcPts val="0"/>
              </a:spcAft>
            </a:pPr>
            <a:r>
              <a:rPr sz="900" b="1" i="0">
                <a:solidFill>
                  <a:srgbClr val="F3265B"/>
                </a:solidFill>
                <a:latin typeface="Segoe UI"/>
              </a:rPr>
              <a:t>Rejected</a:t>
            </a:r>
          </a:p>
        </p:txBody>
      </p:sp>
      <p:sp>
        <p:nvSpPr>
          <p:cNvPr id="77" name="Rounded Rectangle 76"/>
          <p:cNvSpPr/>
          <p:nvPr/>
        </p:nvSpPr>
        <p:spPr>
          <a:xfrm>
            <a:off x="8897112" y="3474720"/>
            <a:ext cx="1481328" cy="310896"/>
          </a:xfrm>
          <a:prstGeom prst="roundRect">
            <a:avLst>
              <a:gd name="adj" fmla="val 50000"/>
            </a:avLst>
          </a:prstGeom>
          <a:solidFill>
            <a:srgbClr val="FFFFFF"/>
          </a:solidFill>
          <a:ln w="15240">
            <a:solidFill>
              <a:srgbClr val="683C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8" name="TextBox 77"/>
          <p:cNvSpPr txBox="1"/>
          <p:nvPr/>
        </p:nvSpPr>
        <p:spPr>
          <a:xfrm>
            <a:off x="8897112" y="3474720"/>
            <a:ext cx="1481328" cy="310896"/>
          </a:xfrm>
          <a:prstGeom prst="rect">
            <a:avLst/>
          </a:prstGeom>
          <a:noFill/>
        </p:spPr>
        <p:txBody>
          <a:bodyPr wrap="square" lIns="0" rIns="0" tIns="0" bIns="0" anchor="ctr">
            <a:spAutoFit/>
          </a:bodyPr>
          <a:lstStyle/>
          <a:p>
            <a:pPr algn="ctr">
              <a:lnSpc>
                <a:spcPct val="100000"/>
              </a:lnSpc>
              <a:spcBef>
                <a:spcPts val="0"/>
              </a:spcBef>
              <a:spcAft>
                <a:spcPts val="0"/>
              </a:spcAft>
            </a:pPr>
            <a:r>
              <a:rPr sz="900" b="1" i="0">
                <a:solidFill>
                  <a:srgbClr val="683C9E"/>
                </a:solidFill>
                <a:latin typeface="Segoe UI"/>
              </a:rPr>
              <a:t>Expired (5 min)</a:t>
            </a:r>
          </a:p>
        </p:txBody>
      </p:sp>
      <p:sp>
        <p:nvSpPr>
          <p:cNvPr id="79" name="Rounded Rectangle 78"/>
          <p:cNvSpPr/>
          <p:nvPr/>
        </p:nvSpPr>
        <p:spPr>
          <a:xfrm>
            <a:off x="502920" y="3950208"/>
            <a:ext cx="6720840" cy="2103120"/>
          </a:xfrm>
          <a:prstGeom prst="roundRect">
            <a:avLst>
              <a:gd name="adj" fmla="val 5000"/>
            </a:avLst>
          </a:prstGeom>
          <a:solidFill>
            <a:srgbClr val="FFFFFF"/>
          </a:solidFill>
          <a:ln w="12700">
            <a:solidFill>
              <a:srgbClr val="D8DC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0" name="Round Same Side Corner Rectangle 79"/>
          <p:cNvSpPr/>
          <p:nvPr/>
        </p:nvSpPr>
        <p:spPr>
          <a:xfrm>
            <a:off x="502920" y="3950208"/>
            <a:ext cx="6720840" cy="310896"/>
          </a:xfrm>
          <a:prstGeom prst="round2SameRect">
            <a:avLst/>
          </a:prstGeom>
          <a:solidFill>
            <a:srgbClr val="080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1" name="Oval 80"/>
          <p:cNvSpPr/>
          <p:nvPr/>
        </p:nvSpPr>
        <p:spPr>
          <a:xfrm>
            <a:off x="649224" y="4050792"/>
            <a:ext cx="109728" cy="109728"/>
          </a:xfrm>
          <a:prstGeom prst="ellipse">
            <a:avLst/>
          </a:prstGeom>
          <a:solidFill>
            <a:srgbClr val="F326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2" name="Oval 81"/>
          <p:cNvSpPr/>
          <p:nvPr/>
        </p:nvSpPr>
        <p:spPr>
          <a:xfrm>
            <a:off x="813816" y="4050792"/>
            <a:ext cx="109728" cy="109728"/>
          </a:xfrm>
          <a:prstGeom prst="ellipse">
            <a:avLst/>
          </a:prstGeom>
          <a:solidFill>
            <a:srgbClr val="FFD2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3" name="Oval 82"/>
          <p:cNvSpPr/>
          <p:nvPr/>
        </p:nvSpPr>
        <p:spPr>
          <a:xfrm>
            <a:off x="978408" y="4050792"/>
            <a:ext cx="109728" cy="109728"/>
          </a:xfrm>
          <a:prstGeom prst="ellipse">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4" name="TextBox 83"/>
          <p:cNvSpPr txBox="1"/>
          <p:nvPr/>
        </p:nvSpPr>
        <p:spPr>
          <a:xfrm>
            <a:off x="1216152" y="3950208"/>
            <a:ext cx="4937760" cy="310896"/>
          </a:xfrm>
          <a:prstGeom prst="rect">
            <a:avLst/>
          </a:prstGeom>
          <a:noFill/>
        </p:spPr>
        <p:txBody>
          <a:bodyPr wrap="square" lIns="0" rIns="0" tIns="0" bIns="0" anchor="ctr">
            <a:spAutoFit/>
          </a:bodyPr>
          <a:lstStyle/>
          <a:p>
            <a:pPr algn="l">
              <a:lnSpc>
                <a:spcPct val="100000"/>
              </a:lnSpc>
              <a:spcBef>
                <a:spcPts val="0"/>
              </a:spcBef>
              <a:spcAft>
                <a:spcPts val="0"/>
              </a:spcAft>
            </a:pPr>
            <a:r>
              <a:rPr sz="860" b="1" i="0">
                <a:solidFill>
                  <a:srgbClr val="FFFFFF"/>
                </a:solidFill>
                <a:latin typeface="Segoe UI"/>
              </a:rPr>
              <a:t>CareRoute — operator dashboard  (illustrative mock)</a:t>
            </a:r>
          </a:p>
        </p:txBody>
      </p:sp>
      <p:sp>
        <p:nvSpPr>
          <p:cNvPr id="85" name="Rounded Rectangle 84"/>
          <p:cNvSpPr/>
          <p:nvPr/>
        </p:nvSpPr>
        <p:spPr>
          <a:xfrm>
            <a:off x="6035040" y="4005072"/>
            <a:ext cx="1078992" cy="201168"/>
          </a:xfrm>
          <a:prstGeom prst="roundRect">
            <a:avLst>
              <a:gd name="adj" fmla="val 50000"/>
            </a:avLst>
          </a:prstGeom>
          <a:solidFill>
            <a:srgbClr val="F326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6" name="TextBox 85"/>
          <p:cNvSpPr txBox="1"/>
          <p:nvPr/>
        </p:nvSpPr>
        <p:spPr>
          <a:xfrm>
            <a:off x="6035040" y="4005072"/>
            <a:ext cx="1078992" cy="201168"/>
          </a:xfrm>
          <a:prstGeom prst="rect">
            <a:avLst/>
          </a:prstGeom>
          <a:noFill/>
        </p:spPr>
        <p:txBody>
          <a:bodyPr wrap="square" lIns="0" rIns="0" tIns="0" bIns="0" anchor="ctr">
            <a:spAutoFit/>
          </a:bodyPr>
          <a:lstStyle/>
          <a:p>
            <a:pPr algn="ctr">
              <a:lnSpc>
                <a:spcPct val="100000"/>
              </a:lnSpc>
              <a:spcBef>
                <a:spcPts val="0"/>
              </a:spcBef>
              <a:spcAft>
                <a:spcPts val="0"/>
              </a:spcAft>
            </a:pPr>
            <a:r>
              <a:rPr sz="740" b="1" i="0">
                <a:solidFill>
                  <a:srgbClr val="FFFFFF"/>
                </a:solidFill>
                <a:latin typeface="Segoe UI"/>
              </a:rPr>
              <a:t>LIVE POLL 5s</a:t>
            </a:r>
          </a:p>
        </p:txBody>
      </p:sp>
      <p:sp>
        <p:nvSpPr>
          <p:cNvPr id="87" name="TextBox 86"/>
          <p:cNvSpPr txBox="1"/>
          <p:nvPr/>
        </p:nvSpPr>
        <p:spPr>
          <a:xfrm>
            <a:off x="685800" y="4352544"/>
            <a:ext cx="1234440" cy="237744"/>
          </a:xfrm>
          <a:prstGeom prst="rect">
            <a:avLst/>
          </a:prstGeom>
          <a:noFill/>
        </p:spPr>
        <p:txBody>
          <a:bodyPr wrap="square" lIns="0" rIns="0" tIns="0" bIns="0" anchor="ctr">
            <a:spAutoFit/>
          </a:bodyPr>
          <a:lstStyle/>
          <a:p>
            <a:pPr algn="l">
              <a:lnSpc>
                <a:spcPct val="100000"/>
              </a:lnSpc>
              <a:spcBef>
                <a:spcPts val="0"/>
              </a:spcBef>
              <a:spcAft>
                <a:spcPts val="0"/>
              </a:spcAft>
            </a:pPr>
            <a:r>
              <a:rPr sz="880" b="1" i="0">
                <a:solidFill>
                  <a:srgbClr val="080808"/>
                </a:solidFill>
                <a:latin typeface="Segoe UI"/>
              </a:rPr>
              <a:t>Hospital A</a:t>
            </a:r>
          </a:p>
        </p:txBody>
      </p:sp>
      <p:sp>
        <p:nvSpPr>
          <p:cNvPr id="88" name="Rounded Rectangle 87"/>
          <p:cNvSpPr/>
          <p:nvPr/>
        </p:nvSpPr>
        <p:spPr>
          <a:xfrm>
            <a:off x="1965960" y="4366260"/>
            <a:ext cx="658368" cy="201168"/>
          </a:xfrm>
          <a:prstGeom prst="roundRect">
            <a:avLst>
              <a:gd name="adj" fmla="val 50000"/>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9" name="TextBox 88"/>
          <p:cNvSpPr txBox="1"/>
          <p:nvPr/>
        </p:nvSpPr>
        <p:spPr>
          <a:xfrm>
            <a:off x="1965960" y="4366260"/>
            <a:ext cx="658368" cy="201168"/>
          </a:xfrm>
          <a:prstGeom prst="rect">
            <a:avLst/>
          </a:prstGeom>
          <a:noFill/>
        </p:spPr>
        <p:txBody>
          <a:bodyPr wrap="square" lIns="0" rIns="0" tIns="0" bIns="0" anchor="ctr">
            <a:spAutoFit/>
          </a:bodyPr>
          <a:lstStyle/>
          <a:p>
            <a:pPr algn="ctr">
              <a:lnSpc>
                <a:spcPct val="100000"/>
              </a:lnSpc>
              <a:spcBef>
                <a:spcPts val="0"/>
              </a:spcBef>
              <a:spcAft>
                <a:spcPts val="0"/>
              </a:spcAft>
            </a:pPr>
            <a:r>
              <a:rPr sz="720" b="1" i="0">
                <a:solidFill>
                  <a:srgbClr val="080808"/>
                </a:solidFill>
                <a:latin typeface="Segoe UI"/>
              </a:rPr>
              <a:t>ICU</a:t>
            </a:r>
          </a:p>
        </p:txBody>
      </p:sp>
      <p:sp>
        <p:nvSpPr>
          <p:cNvPr id="90" name="Rounded Rectangle 89"/>
          <p:cNvSpPr/>
          <p:nvPr/>
        </p:nvSpPr>
        <p:spPr>
          <a:xfrm>
            <a:off x="2697480" y="4366260"/>
            <a:ext cx="658368" cy="201168"/>
          </a:xfrm>
          <a:prstGeom prst="roundRect">
            <a:avLst>
              <a:gd name="adj" fmla="val 50000"/>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1" name="TextBox 90"/>
          <p:cNvSpPr txBox="1"/>
          <p:nvPr/>
        </p:nvSpPr>
        <p:spPr>
          <a:xfrm>
            <a:off x="2697480" y="4366260"/>
            <a:ext cx="658368" cy="201168"/>
          </a:xfrm>
          <a:prstGeom prst="rect">
            <a:avLst/>
          </a:prstGeom>
          <a:noFill/>
        </p:spPr>
        <p:txBody>
          <a:bodyPr wrap="square" lIns="0" rIns="0" tIns="0" bIns="0" anchor="ctr">
            <a:spAutoFit/>
          </a:bodyPr>
          <a:lstStyle/>
          <a:p>
            <a:pPr algn="ctr">
              <a:lnSpc>
                <a:spcPct val="100000"/>
              </a:lnSpc>
              <a:spcBef>
                <a:spcPts val="0"/>
              </a:spcBef>
              <a:spcAft>
                <a:spcPts val="0"/>
              </a:spcAft>
            </a:pPr>
            <a:r>
              <a:rPr sz="720" b="1" i="0">
                <a:solidFill>
                  <a:srgbClr val="080808"/>
                </a:solidFill>
                <a:latin typeface="Segoe UI"/>
              </a:rPr>
              <a:t>GEN</a:t>
            </a:r>
          </a:p>
        </p:txBody>
      </p:sp>
      <p:sp>
        <p:nvSpPr>
          <p:cNvPr id="92" name="TextBox 91"/>
          <p:cNvSpPr txBox="1"/>
          <p:nvPr/>
        </p:nvSpPr>
        <p:spPr>
          <a:xfrm>
            <a:off x="685800" y="4613148"/>
            <a:ext cx="1234440" cy="237744"/>
          </a:xfrm>
          <a:prstGeom prst="rect">
            <a:avLst/>
          </a:prstGeom>
          <a:noFill/>
        </p:spPr>
        <p:txBody>
          <a:bodyPr wrap="square" lIns="0" rIns="0" tIns="0" bIns="0" anchor="ctr">
            <a:spAutoFit/>
          </a:bodyPr>
          <a:lstStyle/>
          <a:p>
            <a:pPr algn="l">
              <a:lnSpc>
                <a:spcPct val="100000"/>
              </a:lnSpc>
              <a:spcBef>
                <a:spcPts val="0"/>
              </a:spcBef>
              <a:spcAft>
                <a:spcPts val="0"/>
              </a:spcAft>
            </a:pPr>
            <a:r>
              <a:rPr sz="880" b="1" i="0">
                <a:solidFill>
                  <a:srgbClr val="080808"/>
                </a:solidFill>
                <a:latin typeface="Segoe UI"/>
              </a:rPr>
              <a:t>Hospital B</a:t>
            </a:r>
          </a:p>
        </p:txBody>
      </p:sp>
      <p:sp>
        <p:nvSpPr>
          <p:cNvPr id="93" name="Rounded Rectangle 92"/>
          <p:cNvSpPr/>
          <p:nvPr/>
        </p:nvSpPr>
        <p:spPr>
          <a:xfrm>
            <a:off x="1965960" y="4626864"/>
            <a:ext cx="658368" cy="201168"/>
          </a:xfrm>
          <a:prstGeom prst="roundRect">
            <a:avLst>
              <a:gd name="adj" fmla="val 50000"/>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4" name="TextBox 93"/>
          <p:cNvSpPr txBox="1"/>
          <p:nvPr/>
        </p:nvSpPr>
        <p:spPr>
          <a:xfrm>
            <a:off x="1965960" y="4626864"/>
            <a:ext cx="658368" cy="201168"/>
          </a:xfrm>
          <a:prstGeom prst="rect">
            <a:avLst/>
          </a:prstGeom>
          <a:noFill/>
        </p:spPr>
        <p:txBody>
          <a:bodyPr wrap="square" lIns="0" rIns="0" tIns="0" bIns="0" anchor="ctr">
            <a:spAutoFit/>
          </a:bodyPr>
          <a:lstStyle/>
          <a:p>
            <a:pPr algn="ctr">
              <a:lnSpc>
                <a:spcPct val="100000"/>
              </a:lnSpc>
              <a:spcBef>
                <a:spcPts val="0"/>
              </a:spcBef>
              <a:spcAft>
                <a:spcPts val="0"/>
              </a:spcAft>
            </a:pPr>
            <a:r>
              <a:rPr sz="720" b="1" i="0">
                <a:solidFill>
                  <a:srgbClr val="080808"/>
                </a:solidFill>
                <a:latin typeface="Segoe UI"/>
              </a:rPr>
              <a:t>ICU</a:t>
            </a:r>
          </a:p>
        </p:txBody>
      </p:sp>
      <p:sp>
        <p:nvSpPr>
          <p:cNvPr id="95" name="Rounded Rectangle 94"/>
          <p:cNvSpPr/>
          <p:nvPr/>
        </p:nvSpPr>
        <p:spPr>
          <a:xfrm>
            <a:off x="2697480" y="4626864"/>
            <a:ext cx="658368" cy="201168"/>
          </a:xfrm>
          <a:prstGeom prst="roundRect">
            <a:avLst>
              <a:gd name="adj" fmla="val 50000"/>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6" name="TextBox 95"/>
          <p:cNvSpPr txBox="1"/>
          <p:nvPr/>
        </p:nvSpPr>
        <p:spPr>
          <a:xfrm>
            <a:off x="2697480" y="4626864"/>
            <a:ext cx="658368" cy="201168"/>
          </a:xfrm>
          <a:prstGeom prst="rect">
            <a:avLst/>
          </a:prstGeom>
          <a:noFill/>
        </p:spPr>
        <p:txBody>
          <a:bodyPr wrap="square" lIns="0" rIns="0" tIns="0" bIns="0" anchor="ctr">
            <a:spAutoFit/>
          </a:bodyPr>
          <a:lstStyle/>
          <a:p>
            <a:pPr algn="ctr">
              <a:lnSpc>
                <a:spcPct val="100000"/>
              </a:lnSpc>
              <a:spcBef>
                <a:spcPts val="0"/>
              </a:spcBef>
              <a:spcAft>
                <a:spcPts val="0"/>
              </a:spcAft>
            </a:pPr>
            <a:r>
              <a:rPr sz="720" b="1" i="0">
                <a:solidFill>
                  <a:srgbClr val="080808"/>
                </a:solidFill>
                <a:latin typeface="Segoe UI"/>
              </a:rPr>
              <a:t>GEN</a:t>
            </a:r>
          </a:p>
        </p:txBody>
      </p:sp>
      <p:sp>
        <p:nvSpPr>
          <p:cNvPr id="97" name="TextBox 96"/>
          <p:cNvSpPr txBox="1"/>
          <p:nvPr/>
        </p:nvSpPr>
        <p:spPr>
          <a:xfrm>
            <a:off x="685800" y="4873752"/>
            <a:ext cx="1234440" cy="237744"/>
          </a:xfrm>
          <a:prstGeom prst="rect">
            <a:avLst/>
          </a:prstGeom>
          <a:noFill/>
        </p:spPr>
        <p:txBody>
          <a:bodyPr wrap="square" lIns="0" rIns="0" tIns="0" bIns="0" anchor="ctr">
            <a:spAutoFit/>
          </a:bodyPr>
          <a:lstStyle/>
          <a:p>
            <a:pPr algn="l">
              <a:lnSpc>
                <a:spcPct val="100000"/>
              </a:lnSpc>
              <a:spcBef>
                <a:spcPts val="0"/>
              </a:spcBef>
              <a:spcAft>
                <a:spcPts val="0"/>
              </a:spcAft>
            </a:pPr>
            <a:r>
              <a:rPr sz="880" b="1" i="0">
                <a:solidFill>
                  <a:srgbClr val="080808"/>
                </a:solidFill>
                <a:latin typeface="Segoe UI"/>
              </a:rPr>
              <a:t>Hospital C</a:t>
            </a:r>
          </a:p>
        </p:txBody>
      </p:sp>
      <p:sp>
        <p:nvSpPr>
          <p:cNvPr id="98" name="Rounded Rectangle 97"/>
          <p:cNvSpPr/>
          <p:nvPr/>
        </p:nvSpPr>
        <p:spPr>
          <a:xfrm>
            <a:off x="1965960" y="4887468"/>
            <a:ext cx="658368" cy="201168"/>
          </a:xfrm>
          <a:prstGeom prst="roundRect">
            <a:avLst>
              <a:gd name="adj" fmla="val 50000"/>
            </a:avLst>
          </a:prstGeom>
          <a:solidFill>
            <a:srgbClr val="F326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9" name="TextBox 98"/>
          <p:cNvSpPr txBox="1"/>
          <p:nvPr/>
        </p:nvSpPr>
        <p:spPr>
          <a:xfrm>
            <a:off x="1965960" y="4887468"/>
            <a:ext cx="658368" cy="201168"/>
          </a:xfrm>
          <a:prstGeom prst="rect">
            <a:avLst/>
          </a:prstGeom>
          <a:noFill/>
        </p:spPr>
        <p:txBody>
          <a:bodyPr wrap="square" lIns="0" rIns="0" tIns="0" bIns="0" anchor="ctr">
            <a:spAutoFit/>
          </a:bodyPr>
          <a:lstStyle/>
          <a:p>
            <a:pPr algn="ctr">
              <a:lnSpc>
                <a:spcPct val="100000"/>
              </a:lnSpc>
              <a:spcBef>
                <a:spcPts val="0"/>
              </a:spcBef>
              <a:spcAft>
                <a:spcPts val="0"/>
              </a:spcAft>
            </a:pPr>
            <a:r>
              <a:rPr sz="720" b="1" i="0">
                <a:solidFill>
                  <a:srgbClr val="080808"/>
                </a:solidFill>
                <a:latin typeface="Segoe UI"/>
              </a:rPr>
              <a:t>ICU</a:t>
            </a:r>
          </a:p>
        </p:txBody>
      </p:sp>
      <p:sp>
        <p:nvSpPr>
          <p:cNvPr id="100" name="Rounded Rectangle 99"/>
          <p:cNvSpPr/>
          <p:nvPr/>
        </p:nvSpPr>
        <p:spPr>
          <a:xfrm>
            <a:off x="2697480" y="4887468"/>
            <a:ext cx="658368" cy="201168"/>
          </a:xfrm>
          <a:prstGeom prst="roundRect">
            <a:avLst>
              <a:gd name="adj" fmla="val 50000"/>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1" name="TextBox 100"/>
          <p:cNvSpPr txBox="1"/>
          <p:nvPr/>
        </p:nvSpPr>
        <p:spPr>
          <a:xfrm>
            <a:off x="2697480" y="4887468"/>
            <a:ext cx="658368" cy="201168"/>
          </a:xfrm>
          <a:prstGeom prst="rect">
            <a:avLst/>
          </a:prstGeom>
          <a:noFill/>
        </p:spPr>
        <p:txBody>
          <a:bodyPr wrap="square" lIns="0" rIns="0" tIns="0" bIns="0" anchor="ctr">
            <a:spAutoFit/>
          </a:bodyPr>
          <a:lstStyle/>
          <a:p>
            <a:pPr algn="ctr">
              <a:lnSpc>
                <a:spcPct val="100000"/>
              </a:lnSpc>
              <a:spcBef>
                <a:spcPts val="0"/>
              </a:spcBef>
              <a:spcAft>
                <a:spcPts val="0"/>
              </a:spcAft>
            </a:pPr>
            <a:r>
              <a:rPr sz="720" b="1" i="0">
                <a:solidFill>
                  <a:srgbClr val="080808"/>
                </a:solidFill>
                <a:latin typeface="Segoe UI"/>
              </a:rPr>
              <a:t>VENT</a:t>
            </a:r>
          </a:p>
        </p:txBody>
      </p:sp>
      <p:sp>
        <p:nvSpPr>
          <p:cNvPr id="102" name="TextBox 101"/>
          <p:cNvSpPr txBox="1"/>
          <p:nvPr/>
        </p:nvSpPr>
        <p:spPr>
          <a:xfrm>
            <a:off x="685800" y="5134356"/>
            <a:ext cx="1234440" cy="237744"/>
          </a:xfrm>
          <a:prstGeom prst="rect">
            <a:avLst/>
          </a:prstGeom>
          <a:noFill/>
        </p:spPr>
        <p:txBody>
          <a:bodyPr wrap="square" lIns="0" rIns="0" tIns="0" bIns="0" anchor="ctr">
            <a:spAutoFit/>
          </a:bodyPr>
          <a:lstStyle/>
          <a:p>
            <a:pPr algn="l">
              <a:lnSpc>
                <a:spcPct val="100000"/>
              </a:lnSpc>
              <a:spcBef>
                <a:spcPts val="0"/>
              </a:spcBef>
              <a:spcAft>
                <a:spcPts val="0"/>
              </a:spcAft>
            </a:pPr>
            <a:r>
              <a:rPr sz="880" b="1" i="0">
                <a:solidFill>
                  <a:srgbClr val="080808"/>
                </a:solidFill>
                <a:latin typeface="Segoe UI"/>
              </a:rPr>
              <a:t>Hospital D</a:t>
            </a:r>
          </a:p>
        </p:txBody>
      </p:sp>
      <p:sp>
        <p:nvSpPr>
          <p:cNvPr id="103" name="Rounded Rectangle 102"/>
          <p:cNvSpPr/>
          <p:nvPr/>
        </p:nvSpPr>
        <p:spPr>
          <a:xfrm>
            <a:off x="1965960" y="5148072"/>
            <a:ext cx="658368" cy="201168"/>
          </a:xfrm>
          <a:prstGeom prst="roundRect">
            <a:avLst>
              <a:gd name="adj" fmla="val 50000"/>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 name="TextBox 103"/>
          <p:cNvSpPr txBox="1"/>
          <p:nvPr/>
        </p:nvSpPr>
        <p:spPr>
          <a:xfrm>
            <a:off x="1965960" y="5148072"/>
            <a:ext cx="658368" cy="201168"/>
          </a:xfrm>
          <a:prstGeom prst="rect">
            <a:avLst/>
          </a:prstGeom>
          <a:noFill/>
        </p:spPr>
        <p:txBody>
          <a:bodyPr wrap="square" lIns="0" rIns="0" tIns="0" bIns="0" anchor="ctr">
            <a:spAutoFit/>
          </a:bodyPr>
          <a:lstStyle/>
          <a:p>
            <a:pPr algn="ctr">
              <a:lnSpc>
                <a:spcPct val="100000"/>
              </a:lnSpc>
              <a:spcBef>
                <a:spcPts val="0"/>
              </a:spcBef>
              <a:spcAft>
                <a:spcPts val="0"/>
              </a:spcAft>
            </a:pPr>
            <a:r>
              <a:rPr sz="720" b="1" i="0">
                <a:solidFill>
                  <a:srgbClr val="080808"/>
                </a:solidFill>
                <a:latin typeface="Segoe UI"/>
              </a:rPr>
              <a:t>ICU</a:t>
            </a:r>
          </a:p>
        </p:txBody>
      </p:sp>
      <p:sp>
        <p:nvSpPr>
          <p:cNvPr id="105" name="Rounded Rectangle 104"/>
          <p:cNvSpPr/>
          <p:nvPr/>
        </p:nvSpPr>
        <p:spPr>
          <a:xfrm>
            <a:off x="2697480" y="5148072"/>
            <a:ext cx="658368" cy="201168"/>
          </a:xfrm>
          <a:prstGeom prst="roundRect">
            <a:avLst>
              <a:gd name="adj" fmla="val 50000"/>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6" name="TextBox 105"/>
          <p:cNvSpPr txBox="1"/>
          <p:nvPr/>
        </p:nvSpPr>
        <p:spPr>
          <a:xfrm>
            <a:off x="2697480" y="5148072"/>
            <a:ext cx="658368" cy="201168"/>
          </a:xfrm>
          <a:prstGeom prst="rect">
            <a:avLst/>
          </a:prstGeom>
          <a:noFill/>
        </p:spPr>
        <p:txBody>
          <a:bodyPr wrap="square" lIns="0" rIns="0" tIns="0" bIns="0" anchor="ctr">
            <a:spAutoFit/>
          </a:bodyPr>
          <a:lstStyle/>
          <a:p>
            <a:pPr algn="ctr">
              <a:lnSpc>
                <a:spcPct val="100000"/>
              </a:lnSpc>
              <a:spcBef>
                <a:spcPts val="0"/>
              </a:spcBef>
              <a:spcAft>
                <a:spcPts val="0"/>
              </a:spcAft>
            </a:pPr>
            <a:r>
              <a:rPr sz="720" b="1" i="0">
                <a:solidFill>
                  <a:srgbClr val="080808"/>
                </a:solidFill>
                <a:latin typeface="Segoe UI"/>
              </a:rPr>
              <a:t>GEN</a:t>
            </a:r>
          </a:p>
        </p:txBody>
      </p:sp>
      <p:sp>
        <p:nvSpPr>
          <p:cNvPr id="107" name="TextBox 106"/>
          <p:cNvSpPr txBox="1"/>
          <p:nvPr/>
        </p:nvSpPr>
        <p:spPr>
          <a:xfrm>
            <a:off x="685800" y="5394960"/>
            <a:ext cx="1234440" cy="237744"/>
          </a:xfrm>
          <a:prstGeom prst="rect">
            <a:avLst/>
          </a:prstGeom>
          <a:noFill/>
        </p:spPr>
        <p:txBody>
          <a:bodyPr wrap="square" lIns="0" rIns="0" tIns="0" bIns="0" anchor="ctr">
            <a:spAutoFit/>
          </a:bodyPr>
          <a:lstStyle/>
          <a:p>
            <a:pPr algn="l">
              <a:lnSpc>
                <a:spcPct val="100000"/>
              </a:lnSpc>
              <a:spcBef>
                <a:spcPts val="0"/>
              </a:spcBef>
              <a:spcAft>
                <a:spcPts val="0"/>
              </a:spcAft>
            </a:pPr>
            <a:r>
              <a:rPr sz="880" b="1" i="0">
                <a:solidFill>
                  <a:srgbClr val="080808"/>
                </a:solidFill>
                <a:latin typeface="Segoe UI"/>
              </a:rPr>
              <a:t>Hospital E</a:t>
            </a:r>
          </a:p>
        </p:txBody>
      </p:sp>
      <p:sp>
        <p:nvSpPr>
          <p:cNvPr id="108" name="Rounded Rectangle 107"/>
          <p:cNvSpPr/>
          <p:nvPr/>
        </p:nvSpPr>
        <p:spPr>
          <a:xfrm>
            <a:off x="1965960" y="5408676"/>
            <a:ext cx="658368" cy="201168"/>
          </a:xfrm>
          <a:prstGeom prst="roundRect">
            <a:avLst>
              <a:gd name="adj" fmla="val 50000"/>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9" name="TextBox 108"/>
          <p:cNvSpPr txBox="1"/>
          <p:nvPr/>
        </p:nvSpPr>
        <p:spPr>
          <a:xfrm>
            <a:off x="1965960" y="5408676"/>
            <a:ext cx="658368" cy="201168"/>
          </a:xfrm>
          <a:prstGeom prst="rect">
            <a:avLst/>
          </a:prstGeom>
          <a:noFill/>
        </p:spPr>
        <p:txBody>
          <a:bodyPr wrap="square" lIns="0" rIns="0" tIns="0" bIns="0" anchor="ctr">
            <a:spAutoFit/>
          </a:bodyPr>
          <a:lstStyle/>
          <a:p>
            <a:pPr algn="ctr">
              <a:lnSpc>
                <a:spcPct val="100000"/>
              </a:lnSpc>
              <a:spcBef>
                <a:spcPts val="0"/>
              </a:spcBef>
              <a:spcAft>
                <a:spcPts val="0"/>
              </a:spcAft>
            </a:pPr>
            <a:r>
              <a:rPr sz="720" b="1" i="0">
                <a:solidFill>
                  <a:srgbClr val="080808"/>
                </a:solidFill>
                <a:latin typeface="Segoe UI"/>
              </a:rPr>
              <a:t>ICU</a:t>
            </a:r>
          </a:p>
        </p:txBody>
      </p:sp>
      <p:sp>
        <p:nvSpPr>
          <p:cNvPr id="110" name="Rounded Rectangle 109"/>
          <p:cNvSpPr/>
          <p:nvPr/>
        </p:nvSpPr>
        <p:spPr>
          <a:xfrm>
            <a:off x="2697480" y="5408676"/>
            <a:ext cx="658368" cy="201168"/>
          </a:xfrm>
          <a:prstGeom prst="roundRect">
            <a:avLst>
              <a:gd name="adj" fmla="val 50000"/>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1" name="TextBox 110"/>
          <p:cNvSpPr txBox="1"/>
          <p:nvPr/>
        </p:nvSpPr>
        <p:spPr>
          <a:xfrm>
            <a:off x="2697480" y="5408676"/>
            <a:ext cx="658368" cy="201168"/>
          </a:xfrm>
          <a:prstGeom prst="rect">
            <a:avLst/>
          </a:prstGeom>
          <a:noFill/>
        </p:spPr>
        <p:txBody>
          <a:bodyPr wrap="square" lIns="0" rIns="0" tIns="0" bIns="0" anchor="ctr">
            <a:spAutoFit/>
          </a:bodyPr>
          <a:lstStyle/>
          <a:p>
            <a:pPr algn="ctr">
              <a:lnSpc>
                <a:spcPct val="100000"/>
              </a:lnSpc>
              <a:spcBef>
                <a:spcPts val="0"/>
              </a:spcBef>
              <a:spcAft>
                <a:spcPts val="0"/>
              </a:spcAft>
            </a:pPr>
            <a:r>
              <a:rPr sz="720" b="1" i="0">
                <a:solidFill>
                  <a:srgbClr val="080808"/>
                </a:solidFill>
                <a:latin typeface="Segoe UI"/>
              </a:rPr>
              <a:t>GEN</a:t>
            </a:r>
          </a:p>
        </p:txBody>
      </p:sp>
      <p:sp>
        <p:nvSpPr>
          <p:cNvPr id="112" name="TextBox 111"/>
          <p:cNvSpPr txBox="1"/>
          <p:nvPr/>
        </p:nvSpPr>
        <p:spPr>
          <a:xfrm>
            <a:off x="685800" y="5673852"/>
            <a:ext cx="4023360" cy="219456"/>
          </a:xfrm>
          <a:prstGeom prst="rect">
            <a:avLst/>
          </a:prstGeom>
          <a:noFill/>
        </p:spPr>
        <p:txBody>
          <a:bodyPr wrap="square" lIns="0" rIns="0" tIns="0" bIns="0" anchor="t">
            <a:spAutoFit/>
          </a:bodyPr>
          <a:lstStyle/>
          <a:p>
            <a:pPr algn="l">
              <a:lnSpc>
                <a:spcPct val="100000"/>
              </a:lnSpc>
              <a:spcBef>
                <a:spcPts val="0"/>
              </a:spcBef>
              <a:spcAft>
                <a:spcPts val="0"/>
              </a:spcAft>
            </a:pPr>
            <a:r>
              <a:rPr sz="760" b="0" i="1">
                <a:solidFill>
                  <a:srgbClr val="3A3F52"/>
                </a:solidFill>
                <a:latin typeface="Segoe UI"/>
              </a:rPr>
              <a:t>bed-state chips: hold · reserved · occupied</a:t>
            </a:r>
          </a:p>
        </p:txBody>
      </p:sp>
      <p:sp>
        <p:nvSpPr>
          <p:cNvPr id="113" name="Rounded Rectangle 112"/>
          <p:cNvSpPr/>
          <p:nvPr/>
        </p:nvSpPr>
        <p:spPr>
          <a:xfrm>
            <a:off x="4480559" y="4370832"/>
            <a:ext cx="2578608" cy="1481328"/>
          </a:xfrm>
          <a:prstGeom prst="roundRect">
            <a:avLst>
              <a:gd name="adj" fmla="val 8000"/>
            </a:avLst>
          </a:prstGeom>
          <a:solidFill>
            <a:srgbClr val="EEF1FB"/>
          </a:solidFill>
          <a:ln w="12700">
            <a:solidFill>
              <a:srgbClr val="0719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4" name="Rounded Rectangle 113"/>
          <p:cNvSpPr/>
          <p:nvPr/>
        </p:nvSpPr>
        <p:spPr>
          <a:xfrm>
            <a:off x="4608575" y="4480560"/>
            <a:ext cx="1188720" cy="219456"/>
          </a:xfrm>
          <a:prstGeom prst="roundRect">
            <a:avLst>
              <a:gd name="adj" fmla="val 50000"/>
            </a:avLst>
          </a:prstGeom>
          <a:solidFill>
            <a:srgbClr val="F326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5" name="TextBox 114"/>
          <p:cNvSpPr txBox="1"/>
          <p:nvPr/>
        </p:nvSpPr>
        <p:spPr>
          <a:xfrm>
            <a:off x="4608575" y="4480560"/>
            <a:ext cx="1188720" cy="219456"/>
          </a:xfrm>
          <a:prstGeom prst="rect">
            <a:avLst/>
          </a:prstGeom>
          <a:noFill/>
        </p:spPr>
        <p:txBody>
          <a:bodyPr wrap="square" lIns="0" rIns="0" tIns="0" bIns="0" anchor="ctr">
            <a:spAutoFit/>
          </a:bodyPr>
          <a:lstStyle/>
          <a:p>
            <a:pPr algn="ctr">
              <a:lnSpc>
                <a:spcPct val="100000"/>
              </a:lnSpc>
              <a:spcBef>
                <a:spcPts val="0"/>
              </a:spcBef>
              <a:spcAft>
                <a:spcPts val="0"/>
              </a:spcAft>
            </a:pPr>
            <a:r>
              <a:rPr sz="760" b="1" i="0">
                <a:solidFill>
                  <a:srgbClr val="FFFFFF"/>
                </a:solidFill>
                <a:latin typeface="Segoe UI"/>
              </a:rPr>
              <a:t>CRITICAL · verified</a:t>
            </a:r>
          </a:p>
        </p:txBody>
      </p:sp>
      <p:sp>
        <p:nvSpPr>
          <p:cNvPr id="116" name="TextBox 115"/>
          <p:cNvSpPr txBox="1"/>
          <p:nvPr/>
        </p:nvSpPr>
        <p:spPr>
          <a:xfrm>
            <a:off x="4608575" y="4754880"/>
            <a:ext cx="2331720" cy="548640"/>
          </a:xfrm>
          <a:prstGeom prst="rect">
            <a:avLst/>
          </a:prstGeom>
          <a:noFill/>
        </p:spPr>
        <p:txBody>
          <a:bodyPr wrap="square" lIns="0" rIns="0" tIns="0" bIns="0" anchor="t">
            <a:spAutoFit/>
          </a:bodyPr>
          <a:lstStyle/>
          <a:p>
            <a:pPr algn="l">
              <a:lnSpc>
                <a:spcPct val="102000"/>
              </a:lnSpc>
              <a:spcBef>
                <a:spcPts val="0"/>
              </a:spcBef>
              <a:spcAft>
                <a:spcPts val="0"/>
              </a:spcAft>
            </a:pPr>
            <a:r>
              <a:rPr sz="819" b="0" i="0">
                <a:solidFill>
                  <a:srgbClr val="080808"/>
                </a:solidFill>
                <a:latin typeface="Segoe UI"/>
              </a:rPr>
              <a:t>REQ-002 · ICU · accident junction · requests nearest compatible hospital</a:t>
            </a:r>
          </a:p>
        </p:txBody>
      </p:sp>
      <p:sp>
        <p:nvSpPr>
          <p:cNvPr id="117" name="Rounded Rectangle 116"/>
          <p:cNvSpPr/>
          <p:nvPr/>
        </p:nvSpPr>
        <p:spPr>
          <a:xfrm>
            <a:off x="4608575" y="5504688"/>
            <a:ext cx="1133856" cy="237744"/>
          </a:xfrm>
          <a:prstGeom prst="roundRect">
            <a:avLst>
              <a:gd name="adj" fmla="val 50000"/>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8" name="TextBox 117"/>
          <p:cNvSpPr txBox="1"/>
          <p:nvPr/>
        </p:nvSpPr>
        <p:spPr>
          <a:xfrm>
            <a:off x="4608575" y="5504688"/>
            <a:ext cx="1133856" cy="237744"/>
          </a:xfrm>
          <a:prstGeom prst="rect">
            <a:avLst/>
          </a:prstGeom>
          <a:noFill/>
        </p:spPr>
        <p:txBody>
          <a:bodyPr wrap="square" lIns="0" rIns="0" tIns="0" bIns="0" anchor="ctr">
            <a:spAutoFit/>
          </a:bodyPr>
          <a:lstStyle/>
          <a:p>
            <a:pPr algn="ctr">
              <a:lnSpc>
                <a:spcPct val="100000"/>
              </a:lnSpc>
              <a:spcBef>
                <a:spcPts val="0"/>
              </a:spcBef>
              <a:spcAft>
                <a:spcPts val="0"/>
              </a:spcAft>
            </a:pPr>
            <a:r>
              <a:rPr sz="780" b="1" i="0">
                <a:solidFill>
                  <a:srgbClr val="080808"/>
                </a:solidFill>
                <a:latin typeface="Segoe UI"/>
              </a:rPr>
              <a:t>Accept → Reserved</a:t>
            </a:r>
          </a:p>
        </p:txBody>
      </p:sp>
      <p:sp>
        <p:nvSpPr>
          <p:cNvPr id="119" name="Rounded Rectangle 118"/>
          <p:cNvSpPr/>
          <p:nvPr/>
        </p:nvSpPr>
        <p:spPr>
          <a:xfrm>
            <a:off x="5815583" y="5504688"/>
            <a:ext cx="786384" cy="237744"/>
          </a:xfrm>
          <a:prstGeom prst="roundRect">
            <a:avLst>
              <a:gd name="adj" fmla="val 50000"/>
            </a:avLst>
          </a:prstGeom>
          <a:solidFill>
            <a:srgbClr val="FFFFFF"/>
          </a:solidFill>
          <a:ln w="12700">
            <a:solidFill>
              <a:srgbClr val="F326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0" name="TextBox 119"/>
          <p:cNvSpPr txBox="1"/>
          <p:nvPr/>
        </p:nvSpPr>
        <p:spPr>
          <a:xfrm>
            <a:off x="5815583" y="5504688"/>
            <a:ext cx="786384" cy="237744"/>
          </a:xfrm>
          <a:prstGeom prst="rect">
            <a:avLst/>
          </a:prstGeom>
          <a:noFill/>
        </p:spPr>
        <p:txBody>
          <a:bodyPr wrap="square" lIns="0" rIns="0" tIns="0" bIns="0" anchor="ctr">
            <a:spAutoFit/>
          </a:bodyPr>
          <a:lstStyle/>
          <a:p>
            <a:pPr algn="ctr">
              <a:lnSpc>
                <a:spcPct val="100000"/>
              </a:lnSpc>
              <a:spcBef>
                <a:spcPts val="0"/>
              </a:spcBef>
              <a:spcAft>
                <a:spcPts val="0"/>
              </a:spcAft>
            </a:pPr>
            <a:r>
              <a:rPr sz="780" b="1" i="0">
                <a:solidFill>
                  <a:srgbClr val="F3265B"/>
                </a:solidFill>
                <a:latin typeface="Segoe UI"/>
              </a:rPr>
              <a:t>Reject</a:t>
            </a:r>
          </a:p>
        </p:txBody>
      </p:sp>
      <p:sp>
        <p:nvSpPr>
          <p:cNvPr id="121" name="Rounded Rectangle 120"/>
          <p:cNvSpPr/>
          <p:nvPr/>
        </p:nvSpPr>
        <p:spPr>
          <a:xfrm>
            <a:off x="7452360" y="3950208"/>
            <a:ext cx="4233672" cy="2103120"/>
          </a:xfrm>
          <a:prstGeom prst="roundRect">
            <a:avLst>
              <a:gd name="adj" fmla="val 5000"/>
            </a:avLst>
          </a:prstGeom>
          <a:solidFill>
            <a:srgbClr val="FFFFFF"/>
          </a:solidFill>
          <a:ln w="12700">
            <a:solidFill>
              <a:srgbClr val="D8DC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2" name="TextBox 121"/>
          <p:cNvSpPr txBox="1"/>
          <p:nvPr/>
        </p:nvSpPr>
        <p:spPr>
          <a:xfrm>
            <a:off x="7671816" y="4059936"/>
            <a:ext cx="3840480" cy="237744"/>
          </a:xfrm>
          <a:prstGeom prst="rect">
            <a:avLst/>
          </a:prstGeom>
          <a:noFill/>
        </p:spPr>
        <p:txBody>
          <a:bodyPr wrap="square" lIns="0" rIns="0" tIns="0" bIns="0" anchor="t">
            <a:spAutoFit/>
          </a:bodyPr>
          <a:lstStyle/>
          <a:p>
            <a:pPr algn="l">
              <a:lnSpc>
                <a:spcPct val="100000"/>
              </a:lnSpc>
              <a:spcBef>
                <a:spcPts val="0"/>
              </a:spcBef>
              <a:spcAft>
                <a:spcPts val="0"/>
              </a:spcAft>
            </a:pPr>
            <a:r>
              <a:rPr sz="1050" b="1" i="0">
                <a:solidFill>
                  <a:srgbClr val="0719C8"/>
                </a:solidFill>
                <a:latin typeface="Segoe UI"/>
              </a:rPr>
              <a:t>DEMO SCOPE</a:t>
            </a:r>
          </a:p>
        </p:txBody>
      </p:sp>
      <p:sp>
        <p:nvSpPr>
          <p:cNvPr id="123" name="TextBox 122"/>
          <p:cNvSpPr txBox="1"/>
          <p:nvPr/>
        </p:nvSpPr>
        <p:spPr>
          <a:xfrm>
            <a:off x="7671816" y="4334256"/>
            <a:ext cx="3840480" cy="914400"/>
          </a:xfrm>
          <a:prstGeom prst="rect">
            <a:avLst/>
          </a:prstGeom>
          <a:noFill/>
        </p:spPr>
        <p:txBody>
          <a:bodyPr wrap="square" lIns="0" rIns="0" tIns="0" bIns="0" anchor="t">
            <a:spAutoFit/>
          </a:bodyPr>
          <a:lstStyle/>
          <a:p>
            <a:pPr algn="l">
              <a:lnSpc>
                <a:spcPct val="100000"/>
              </a:lnSpc>
              <a:spcBef>
                <a:spcPts val="0"/>
              </a:spcBef>
              <a:spcAft>
                <a:spcPts val="200"/>
              </a:spcAft>
            </a:pPr>
            <a:r>
              <a:rPr sz="880" b="1" i="0">
                <a:solidFill>
                  <a:srgbClr val="0719C8"/>
                </a:solidFill>
                <a:latin typeface="Segoe UI"/>
              </a:rPr>
              <a:t>•  </a:t>
            </a:r>
            <a:r>
              <a:rPr sz="880" b="0" i="0">
                <a:solidFill>
                  <a:srgbClr val="080808"/>
                </a:solidFill>
                <a:latin typeface="Segoe UI"/>
              </a:rPr>
              <a:t>Five seeded demo hospitals</a:t>
            </a:r>
          </a:p>
          <a:p>
            <a:pPr algn="l">
              <a:lnSpc>
                <a:spcPct val="100000"/>
              </a:lnSpc>
              <a:spcBef>
                <a:spcPts val="0"/>
              </a:spcBef>
              <a:spcAft>
                <a:spcPts val="200"/>
              </a:spcAft>
            </a:pPr>
            <a:r>
              <a:rPr sz="880" b="1" i="0">
                <a:solidFill>
                  <a:srgbClr val="0719C8"/>
                </a:solidFill>
                <a:latin typeface="Segoe UI"/>
              </a:rPr>
              <a:t>•  </a:t>
            </a:r>
            <a:r>
              <a:rPr sz="880" b="0" i="0">
                <a:solidFill>
                  <a:srgbClr val="080808"/>
                </a:solidFill>
                <a:latin typeface="Segoe UI"/>
              </a:rPr>
              <a:t>Predefined distances between locations</a:t>
            </a:r>
          </a:p>
          <a:p>
            <a:pPr algn="l">
              <a:lnSpc>
                <a:spcPct val="100000"/>
              </a:lnSpc>
              <a:spcBef>
                <a:spcPts val="0"/>
              </a:spcBef>
              <a:spcAft>
                <a:spcPts val="200"/>
              </a:spcAft>
            </a:pPr>
            <a:r>
              <a:rPr sz="880" b="1" i="0">
                <a:solidFill>
                  <a:srgbClr val="0719C8"/>
                </a:solidFill>
                <a:latin typeface="Segoe UI"/>
              </a:rPr>
              <a:t>•  </a:t>
            </a:r>
            <a:r>
              <a:rPr sz="880" b="0" i="0">
                <a:solidFill>
                  <a:srgbClr val="080808"/>
                </a:solidFill>
                <a:latin typeface="Segoe UI"/>
              </a:rPr>
              <a:t>Admin-resettable emergency state</a:t>
            </a:r>
          </a:p>
          <a:p>
            <a:pPr algn="l">
              <a:lnSpc>
                <a:spcPct val="100000"/>
              </a:lnSpc>
              <a:spcBef>
                <a:spcPts val="0"/>
              </a:spcBef>
              <a:spcAft>
                <a:spcPts val="200"/>
              </a:spcAft>
            </a:pPr>
            <a:r>
              <a:rPr sz="880" b="1" i="0">
                <a:solidFill>
                  <a:srgbClr val="0719C8"/>
                </a:solidFill>
                <a:latin typeface="Segoe UI"/>
              </a:rPr>
              <a:t>•  </a:t>
            </a:r>
            <a:r>
              <a:rPr sz="880" b="0" i="0">
                <a:solidFill>
                  <a:srgbClr val="080808"/>
                </a:solidFill>
                <a:latin typeface="Segoe UI"/>
              </a:rPr>
              <a:t>Protected reservations steer recommendations</a:t>
            </a:r>
          </a:p>
        </p:txBody>
      </p:sp>
      <p:sp>
        <p:nvSpPr>
          <p:cNvPr id="124" name="Rounded Rectangle 123"/>
          <p:cNvSpPr/>
          <p:nvPr/>
        </p:nvSpPr>
        <p:spPr>
          <a:xfrm>
            <a:off x="7671816" y="5468112"/>
            <a:ext cx="3794760" cy="438912"/>
          </a:xfrm>
          <a:prstGeom prst="roundRect">
            <a:avLst>
              <a:gd name="adj" fmla="val 16000"/>
            </a:avLst>
          </a:prstGeom>
          <a:solidFill>
            <a:srgbClr val="FDEBF0"/>
          </a:solidFill>
          <a:ln w="12700">
            <a:solidFill>
              <a:srgbClr val="F326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5" name="TextBox 124"/>
          <p:cNvSpPr txBox="1"/>
          <p:nvPr/>
        </p:nvSpPr>
        <p:spPr>
          <a:xfrm>
            <a:off x="7818120" y="5468112"/>
            <a:ext cx="3520440" cy="438912"/>
          </a:xfrm>
          <a:prstGeom prst="rect">
            <a:avLst/>
          </a:prstGeom>
          <a:noFill/>
        </p:spPr>
        <p:txBody>
          <a:bodyPr wrap="square" lIns="0" rIns="0" tIns="0" bIns="0" anchor="ctr">
            <a:spAutoFit/>
          </a:bodyPr>
          <a:lstStyle/>
          <a:p>
            <a:pPr algn="l">
              <a:lnSpc>
                <a:spcPct val="102000"/>
              </a:lnSpc>
              <a:spcBef>
                <a:spcPts val="0"/>
              </a:spcBef>
              <a:spcAft>
                <a:spcPts val="0"/>
              </a:spcAft>
            </a:pPr>
            <a:r>
              <a:rPr sz="840" b="1" i="0">
                <a:solidFill>
                  <a:srgbClr val="F3265B"/>
                </a:solidFill>
                <a:latin typeface="Segoe UI"/>
              </a:rPr>
              <a:t>Seeded prototype — not a live connection to real hospital capacity.</a:t>
            </a:r>
          </a:p>
        </p:txBody>
      </p:sp>
      <p:sp>
        <p:nvSpPr>
          <p:cNvPr id="126" name="TextBox 125"/>
          <p:cNvSpPr txBox="1"/>
          <p:nvPr/>
        </p:nvSpPr>
        <p:spPr>
          <a:xfrm>
            <a:off x="502920" y="6492240"/>
            <a:ext cx="7315200" cy="237744"/>
          </a:xfrm>
          <a:prstGeom prst="rect">
            <a:avLst/>
          </a:prstGeom>
          <a:noFill/>
        </p:spPr>
        <p:txBody>
          <a:bodyPr wrap="square" lIns="0" rIns="0" tIns="0" bIns="0" anchor="t">
            <a:spAutoFit/>
          </a:bodyPr>
          <a:lstStyle/>
          <a:p>
            <a:pPr algn="l">
              <a:lnSpc>
                <a:spcPct val="100000"/>
              </a:lnSpc>
              <a:spcBef>
                <a:spcPts val="0"/>
              </a:spcBef>
              <a:spcAft>
                <a:spcPts val="0"/>
              </a:spcAft>
            </a:pPr>
            <a:r>
              <a:rPr sz="850" b="0" i="0">
                <a:solidFill>
                  <a:srgbClr val="8A90A6"/>
                </a:solidFill>
                <a:latin typeface="Segoe UI"/>
              </a:rPr>
              <a:t>CareRoute — Emergency Bed Coordination System   ·   Team Tech Head</a:t>
            </a:r>
          </a:p>
        </p:txBody>
      </p:sp>
      <p:sp>
        <p:nvSpPr>
          <p:cNvPr id="127" name="TextBox 126"/>
          <p:cNvSpPr txBox="1"/>
          <p:nvPr/>
        </p:nvSpPr>
        <p:spPr>
          <a:xfrm>
            <a:off x="10378440" y="6492240"/>
            <a:ext cx="1307592" cy="237744"/>
          </a:xfrm>
          <a:prstGeom prst="rect">
            <a:avLst/>
          </a:prstGeom>
          <a:noFill/>
        </p:spPr>
        <p:txBody>
          <a:bodyPr wrap="square" lIns="0" rIns="0" tIns="0" bIns="0" anchor="t">
            <a:spAutoFit/>
          </a:bodyPr>
          <a:lstStyle/>
          <a:p>
            <a:pPr algn="r">
              <a:lnSpc>
                <a:spcPct val="100000"/>
              </a:lnSpc>
              <a:spcBef>
                <a:spcPts val="0"/>
              </a:spcBef>
              <a:spcAft>
                <a:spcPts val="0"/>
              </a:spcAft>
            </a:pPr>
            <a:r>
              <a:rPr sz="850" b="1" i="0">
                <a:solidFill>
                  <a:srgbClr val="8A90A6"/>
                </a:solidFill>
                <a:latin typeface="Segoe UI"/>
              </a:rPr>
              <a:t>06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683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502920" y="384048"/>
            <a:ext cx="91440" cy="274320"/>
          </a:xfrm>
          <a:prstGeom prst="roundRect">
            <a:avLst>
              <a:gd name="adj" fmla="val 50000"/>
            </a:avLst>
          </a:prstGeom>
          <a:solidFill>
            <a:srgbClr val="683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85800" y="397764"/>
            <a:ext cx="7863840" cy="274320"/>
          </a:xfrm>
          <a:prstGeom prst="rect">
            <a:avLst/>
          </a:prstGeom>
          <a:noFill/>
        </p:spPr>
        <p:txBody>
          <a:bodyPr wrap="square" lIns="0" rIns="0" tIns="0" bIns="0" anchor="ctr">
            <a:spAutoFit/>
          </a:bodyPr>
          <a:lstStyle/>
          <a:p>
            <a:pPr algn="l">
              <a:lnSpc>
                <a:spcPct val="100000"/>
              </a:lnSpc>
              <a:spcBef>
                <a:spcPts val="0"/>
              </a:spcBef>
              <a:spcAft>
                <a:spcPts val="0"/>
              </a:spcAft>
            </a:pPr>
            <a:r>
              <a:rPr sz="1050" b="1" i="0">
                <a:solidFill>
                  <a:srgbClr val="683C9E"/>
                </a:solidFill>
                <a:latin typeface="Segoe UI"/>
              </a:rPr>
              <a:t>06  ·  SECURITY, ACCESS CONTROL &amp; RELIABILITY</a:t>
            </a:r>
          </a:p>
        </p:txBody>
      </p:sp>
      <p:sp>
        <p:nvSpPr>
          <p:cNvPr id="6" name="TextBox 5"/>
          <p:cNvSpPr txBox="1"/>
          <p:nvPr/>
        </p:nvSpPr>
        <p:spPr>
          <a:xfrm>
            <a:off x="502920" y="749808"/>
            <a:ext cx="11155680" cy="566928"/>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0719C8"/>
                </a:solidFill>
                <a:latin typeface="Segoe UI"/>
              </a:rPr>
              <a:t>Controlled Access. Structured Decisions.</a:t>
            </a:r>
          </a:p>
        </p:txBody>
      </p:sp>
      <p:sp>
        <p:nvSpPr>
          <p:cNvPr id="7" name="TextBox 6"/>
          <p:cNvSpPr txBox="1"/>
          <p:nvPr/>
        </p:nvSpPr>
        <p:spPr>
          <a:xfrm>
            <a:off x="502920" y="1353312"/>
            <a:ext cx="10607040" cy="310896"/>
          </a:xfrm>
          <a:prstGeom prst="rect">
            <a:avLst/>
          </a:prstGeom>
          <a:noFill/>
        </p:spPr>
        <p:txBody>
          <a:bodyPr wrap="square" lIns="0" rIns="0" tIns="0" bIns="0" anchor="t">
            <a:spAutoFit/>
          </a:bodyPr>
          <a:lstStyle/>
          <a:p>
            <a:pPr algn="l">
              <a:lnSpc>
                <a:spcPct val="100000"/>
              </a:lnSpc>
              <a:spcBef>
                <a:spcPts val="0"/>
              </a:spcBef>
              <a:spcAft>
                <a:spcPts val="0"/>
              </a:spcAft>
            </a:pPr>
            <a:r>
              <a:rPr sz="1250" b="0" i="0">
                <a:solidFill>
                  <a:srgbClr val="3A3F52"/>
                </a:solidFill>
                <a:latin typeface="Segoe UI"/>
              </a:rPr>
              <a:t>Protections and coordination mechanisms present in the prototype today.</a:t>
            </a:r>
          </a:p>
        </p:txBody>
      </p:sp>
      <p:sp>
        <p:nvSpPr>
          <p:cNvPr id="8" name="Rounded Rectangle 7"/>
          <p:cNvSpPr/>
          <p:nvPr/>
        </p:nvSpPr>
        <p:spPr>
          <a:xfrm>
            <a:off x="502920" y="1773936"/>
            <a:ext cx="3669487" cy="1975104"/>
          </a:xfrm>
          <a:prstGeom prst="roundRect">
            <a:avLst>
              <a:gd name="adj" fmla="val 6000"/>
            </a:avLst>
          </a:prstGeom>
          <a:solidFill>
            <a:srgbClr val="FFFFFF"/>
          </a:solidFill>
          <a:ln w="12700">
            <a:solidFill>
              <a:srgbClr val="D8DC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 Same Side Corner Rectangle 8"/>
          <p:cNvSpPr/>
          <p:nvPr/>
        </p:nvSpPr>
        <p:spPr>
          <a:xfrm>
            <a:off x="502920" y="1773936"/>
            <a:ext cx="3669487" cy="457200"/>
          </a:xfrm>
          <a:prstGeom prst="round2SameRect">
            <a:avLst/>
          </a:prstGeom>
          <a:solidFill>
            <a:srgbClr val="0719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71022" y="1897928"/>
            <a:ext cx="85587" cy="85587"/>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 Same Side Corner Rectangle 10"/>
          <p:cNvSpPr/>
          <p:nvPr/>
        </p:nvSpPr>
        <p:spPr>
          <a:xfrm>
            <a:off x="723473" y="2016800"/>
            <a:ext cx="180685" cy="104607"/>
          </a:xfrm>
          <a:prstGeom prst="round2Same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51560" y="1773936"/>
            <a:ext cx="3017520" cy="457200"/>
          </a:xfrm>
          <a:prstGeom prst="rect">
            <a:avLst/>
          </a:prstGeom>
          <a:noFill/>
        </p:spPr>
        <p:txBody>
          <a:bodyPr wrap="square" lIns="0" rIns="0" tIns="0" bIns="0" anchor="ctr">
            <a:spAutoFit/>
          </a:bodyPr>
          <a:lstStyle/>
          <a:p>
            <a:pPr algn="l">
              <a:lnSpc>
                <a:spcPct val="100000"/>
              </a:lnSpc>
              <a:spcBef>
                <a:spcPts val="0"/>
              </a:spcBef>
              <a:spcAft>
                <a:spcPts val="0"/>
              </a:spcAft>
            </a:pPr>
            <a:r>
              <a:rPr sz="1250" b="1" i="0">
                <a:solidFill>
                  <a:srgbClr val="FFFFFF"/>
                </a:solidFill>
                <a:latin typeface="Segoe UI"/>
              </a:rPr>
              <a:t>Patient</a:t>
            </a:r>
          </a:p>
        </p:txBody>
      </p:sp>
      <p:sp>
        <p:nvSpPr>
          <p:cNvPr id="13" name="Oval 12"/>
          <p:cNvSpPr/>
          <p:nvPr/>
        </p:nvSpPr>
        <p:spPr>
          <a:xfrm>
            <a:off x="722376" y="2404872"/>
            <a:ext cx="182880" cy="182880"/>
          </a:xfrm>
          <a:prstGeom prst="ellipse">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rot="2700000">
            <a:off x="771022" y="2487990"/>
            <a:ext cx="52303" cy="190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rot="18900000">
            <a:off x="801928" y="2460650"/>
            <a:ext cx="73700" cy="190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978408" y="2377440"/>
            <a:ext cx="3017520" cy="256032"/>
          </a:xfrm>
          <a:prstGeom prst="rect">
            <a:avLst/>
          </a:prstGeom>
          <a:noFill/>
        </p:spPr>
        <p:txBody>
          <a:bodyPr wrap="square" lIns="0" rIns="0" tIns="0" bIns="0" anchor="ctr">
            <a:spAutoFit/>
          </a:bodyPr>
          <a:lstStyle/>
          <a:p>
            <a:pPr algn="l">
              <a:lnSpc>
                <a:spcPct val="100000"/>
              </a:lnSpc>
              <a:spcBef>
                <a:spcPts val="0"/>
              </a:spcBef>
              <a:spcAft>
                <a:spcPts val="0"/>
              </a:spcAft>
            </a:pPr>
            <a:r>
              <a:rPr sz="940" b="0" i="0">
                <a:solidFill>
                  <a:srgbClr val="080808"/>
                </a:solidFill>
                <a:latin typeface="Segoe UI"/>
              </a:rPr>
              <a:t>Submit &amp; track own emergency requests</a:t>
            </a:r>
          </a:p>
        </p:txBody>
      </p:sp>
      <p:sp>
        <p:nvSpPr>
          <p:cNvPr id="17" name="Oval 16"/>
          <p:cNvSpPr/>
          <p:nvPr/>
        </p:nvSpPr>
        <p:spPr>
          <a:xfrm>
            <a:off x="722376" y="2715768"/>
            <a:ext cx="182880" cy="182880"/>
          </a:xfrm>
          <a:prstGeom prst="ellipse">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rot="2700000">
            <a:off x="771022" y="2798886"/>
            <a:ext cx="52303" cy="190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rot="18900000">
            <a:off x="801928" y="2771546"/>
            <a:ext cx="73700" cy="190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978408" y="2688336"/>
            <a:ext cx="3017520" cy="256032"/>
          </a:xfrm>
          <a:prstGeom prst="rect">
            <a:avLst/>
          </a:prstGeom>
          <a:noFill/>
        </p:spPr>
        <p:txBody>
          <a:bodyPr wrap="square" lIns="0" rIns="0" tIns="0" bIns="0" anchor="ctr">
            <a:spAutoFit/>
          </a:bodyPr>
          <a:lstStyle/>
          <a:p>
            <a:pPr algn="l">
              <a:lnSpc>
                <a:spcPct val="100000"/>
              </a:lnSpc>
              <a:spcBef>
                <a:spcPts val="0"/>
              </a:spcBef>
              <a:spcAft>
                <a:spcPts val="0"/>
              </a:spcAft>
            </a:pPr>
            <a:r>
              <a:rPr sz="940" b="0" i="0">
                <a:solidFill>
                  <a:srgbClr val="080808"/>
                </a:solidFill>
                <a:latin typeface="Segoe UI"/>
              </a:rPr>
              <a:t>Patient ownership checks enforced</a:t>
            </a:r>
          </a:p>
        </p:txBody>
      </p:sp>
      <p:sp>
        <p:nvSpPr>
          <p:cNvPr id="21" name="Oval 20"/>
          <p:cNvSpPr/>
          <p:nvPr/>
        </p:nvSpPr>
        <p:spPr>
          <a:xfrm>
            <a:off x="722376" y="3044951"/>
            <a:ext cx="182880" cy="182880"/>
          </a:xfrm>
          <a:prstGeom prst="ellipse">
            <a:avLst/>
          </a:prstGeom>
          <a:solidFill>
            <a:srgbClr val="FDEBF0"/>
          </a:solidFill>
          <a:ln w="12700">
            <a:solidFill>
              <a:srgbClr val="F326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787481" y="3085917"/>
            <a:ext cx="52669" cy="52669"/>
          </a:xfrm>
          <a:prstGeom prst="ellipse">
            <a:avLst/>
          </a:prstGeom>
          <a:noFill/>
          <a:ln w="30480">
            <a:solidFill>
              <a:srgbClr val="F326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772119" y="3134197"/>
            <a:ext cx="83393" cy="57058"/>
          </a:xfrm>
          <a:prstGeom prst="roundRect">
            <a:avLst>
              <a:gd name="adj" fmla="val 18000"/>
            </a:avLst>
          </a:prstGeom>
          <a:solidFill>
            <a:srgbClr val="F326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78408" y="3017520"/>
            <a:ext cx="3017520" cy="256032"/>
          </a:xfrm>
          <a:prstGeom prst="rect">
            <a:avLst/>
          </a:prstGeom>
          <a:noFill/>
        </p:spPr>
        <p:txBody>
          <a:bodyPr wrap="square" lIns="0" rIns="0" tIns="0" bIns="0" anchor="ctr">
            <a:spAutoFit/>
          </a:bodyPr>
          <a:lstStyle/>
          <a:p>
            <a:pPr algn="l">
              <a:lnSpc>
                <a:spcPct val="100000"/>
              </a:lnSpc>
              <a:spcBef>
                <a:spcPts val="0"/>
              </a:spcBef>
              <a:spcAft>
                <a:spcPts val="0"/>
              </a:spcAft>
            </a:pPr>
            <a:r>
              <a:rPr sz="919" b="1" i="0">
                <a:solidFill>
                  <a:srgbClr val="F3265B"/>
                </a:solidFill>
                <a:latin typeface="Segoe UI"/>
              </a:rPr>
              <a:t>Cannot act on other patients' requests</a:t>
            </a:r>
          </a:p>
        </p:txBody>
      </p:sp>
      <p:sp>
        <p:nvSpPr>
          <p:cNvPr id="25" name="Rounded Rectangle 24"/>
          <p:cNvSpPr/>
          <p:nvPr/>
        </p:nvSpPr>
        <p:spPr>
          <a:xfrm>
            <a:off x="4263847" y="1773936"/>
            <a:ext cx="3669487" cy="1975104"/>
          </a:xfrm>
          <a:prstGeom prst="roundRect">
            <a:avLst>
              <a:gd name="adj" fmla="val 6000"/>
            </a:avLst>
          </a:prstGeom>
          <a:solidFill>
            <a:srgbClr val="FFFFFF"/>
          </a:solidFill>
          <a:ln w="12700">
            <a:solidFill>
              <a:srgbClr val="D8DC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 Same Side Corner Rectangle 25"/>
          <p:cNvSpPr/>
          <p:nvPr/>
        </p:nvSpPr>
        <p:spPr>
          <a:xfrm>
            <a:off x="4263847" y="1773936"/>
            <a:ext cx="3669487" cy="457200"/>
          </a:xfrm>
          <a:prstGeom prst="round2SameRect">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Pentagon 26"/>
          <p:cNvSpPr/>
          <p:nvPr/>
        </p:nvSpPr>
        <p:spPr>
          <a:xfrm rot="10800000">
            <a:off x="4479645" y="1897928"/>
            <a:ext cx="190195" cy="147401"/>
          </a:xfrm>
          <a:prstGeom prst="homePlate">
            <a:avLst/>
          </a:prstGeom>
          <a:solidFill>
            <a:srgbClr val="080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rot="2700000">
            <a:off x="4512929" y="1978761"/>
            <a:ext cx="71323" cy="2615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rot="18900000">
            <a:off x="4555723" y="1940722"/>
            <a:ext cx="99852" cy="2615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4812487" y="1773936"/>
            <a:ext cx="3017520" cy="457200"/>
          </a:xfrm>
          <a:prstGeom prst="rect">
            <a:avLst/>
          </a:prstGeom>
          <a:noFill/>
        </p:spPr>
        <p:txBody>
          <a:bodyPr wrap="square" lIns="0" rIns="0" tIns="0" bIns="0" anchor="ctr">
            <a:spAutoFit/>
          </a:bodyPr>
          <a:lstStyle/>
          <a:p>
            <a:pPr algn="l">
              <a:lnSpc>
                <a:spcPct val="100000"/>
              </a:lnSpc>
              <a:spcBef>
                <a:spcPts val="0"/>
              </a:spcBef>
              <a:spcAft>
                <a:spcPts val="0"/>
              </a:spcAft>
            </a:pPr>
            <a:r>
              <a:rPr sz="1250" b="1" i="0">
                <a:solidFill>
                  <a:srgbClr val="080808"/>
                </a:solidFill>
                <a:latin typeface="Segoe UI"/>
              </a:rPr>
              <a:t>Hospital Operator</a:t>
            </a:r>
          </a:p>
        </p:txBody>
      </p:sp>
      <p:sp>
        <p:nvSpPr>
          <p:cNvPr id="31" name="Oval 30"/>
          <p:cNvSpPr/>
          <p:nvPr/>
        </p:nvSpPr>
        <p:spPr>
          <a:xfrm>
            <a:off x="4483303" y="2404872"/>
            <a:ext cx="182880" cy="182880"/>
          </a:xfrm>
          <a:prstGeom prst="ellipse">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rot="2700000">
            <a:off x="4531949" y="2487990"/>
            <a:ext cx="52303" cy="190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rot="18900000">
            <a:off x="4562855" y="2460650"/>
            <a:ext cx="73700" cy="190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739335" y="2377440"/>
            <a:ext cx="3017520" cy="256032"/>
          </a:xfrm>
          <a:prstGeom prst="rect">
            <a:avLst/>
          </a:prstGeom>
          <a:noFill/>
        </p:spPr>
        <p:txBody>
          <a:bodyPr wrap="square" lIns="0" rIns="0" tIns="0" bIns="0" anchor="ctr">
            <a:spAutoFit/>
          </a:bodyPr>
          <a:lstStyle/>
          <a:p>
            <a:pPr algn="l">
              <a:lnSpc>
                <a:spcPct val="100000"/>
              </a:lnSpc>
              <a:spcBef>
                <a:spcPts val="0"/>
              </a:spcBef>
              <a:spcAft>
                <a:spcPts val="0"/>
              </a:spcAft>
            </a:pPr>
            <a:r>
              <a:rPr sz="940" b="0" i="0">
                <a:solidFill>
                  <a:srgbClr val="080808"/>
                </a:solidFill>
                <a:latin typeface="Segoe UI"/>
              </a:rPr>
              <a:t>Review, verify severity, accept / reject</a:t>
            </a:r>
          </a:p>
        </p:txBody>
      </p:sp>
      <p:sp>
        <p:nvSpPr>
          <p:cNvPr id="35" name="Oval 34"/>
          <p:cNvSpPr/>
          <p:nvPr/>
        </p:nvSpPr>
        <p:spPr>
          <a:xfrm>
            <a:off x="4483303" y="2715768"/>
            <a:ext cx="182880" cy="182880"/>
          </a:xfrm>
          <a:prstGeom prst="ellipse">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rot="2700000">
            <a:off x="4531949" y="2798886"/>
            <a:ext cx="52303" cy="190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rot="18900000">
            <a:off x="4562855" y="2771546"/>
            <a:ext cx="73700" cy="190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4739335" y="2688336"/>
            <a:ext cx="3017520" cy="256032"/>
          </a:xfrm>
          <a:prstGeom prst="rect">
            <a:avLst/>
          </a:prstGeom>
          <a:noFill/>
        </p:spPr>
        <p:txBody>
          <a:bodyPr wrap="square" lIns="0" rIns="0" tIns="0" bIns="0" anchor="ctr">
            <a:spAutoFit/>
          </a:bodyPr>
          <a:lstStyle/>
          <a:p>
            <a:pPr algn="l">
              <a:lnSpc>
                <a:spcPct val="100000"/>
              </a:lnSpc>
              <a:spcBef>
                <a:spcPts val="0"/>
              </a:spcBef>
              <a:spcAft>
                <a:spcPts val="0"/>
              </a:spcAft>
            </a:pPr>
            <a:r>
              <a:rPr sz="940" b="0" i="0">
                <a:solidFill>
                  <a:srgbClr val="080808"/>
                </a:solidFill>
                <a:latin typeface="Segoe UI"/>
              </a:rPr>
              <a:t>Manage reservation &amp; arrival states</a:t>
            </a:r>
          </a:p>
        </p:txBody>
      </p:sp>
      <p:sp>
        <p:nvSpPr>
          <p:cNvPr id="39" name="Oval 38"/>
          <p:cNvSpPr/>
          <p:nvPr/>
        </p:nvSpPr>
        <p:spPr>
          <a:xfrm>
            <a:off x="4483303" y="3044951"/>
            <a:ext cx="182880" cy="182880"/>
          </a:xfrm>
          <a:prstGeom prst="ellipse">
            <a:avLst/>
          </a:prstGeom>
          <a:solidFill>
            <a:srgbClr val="FDEBF0"/>
          </a:solidFill>
          <a:ln w="12700">
            <a:solidFill>
              <a:srgbClr val="F326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Oval 39"/>
          <p:cNvSpPr/>
          <p:nvPr/>
        </p:nvSpPr>
        <p:spPr>
          <a:xfrm>
            <a:off x="4548408" y="3085917"/>
            <a:ext cx="52669" cy="52669"/>
          </a:xfrm>
          <a:prstGeom prst="ellipse">
            <a:avLst/>
          </a:prstGeom>
          <a:noFill/>
          <a:ln w="30480">
            <a:solidFill>
              <a:srgbClr val="F326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ounded Rectangle 40"/>
          <p:cNvSpPr/>
          <p:nvPr/>
        </p:nvSpPr>
        <p:spPr>
          <a:xfrm>
            <a:off x="4533046" y="3134197"/>
            <a:ext cx="83393" cy="57058"/>
          </a:xfrm>
          <a:prstGeom prst="roundRect">
            <a:avLst>
              <a:gd name="adj" fmla="val 18000"/>
            </a:avLst>
          </a:prstGeom>
          <a:solidFill>
            <a:srgbClr val="F326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4739335" y="3017520"/>
            <a:ext cx="3017520" cy="256032"/>
          </a:xfrm>
          <a:prstGeom prst="rect">
            <a:avLst/>
          </a:prstGeom>
          <a:noFill/>
        </p:spPr>
        <p:txBody>
          <a:bodyPr wrap="square" lIns="0" rIns="0" tIns="0" bIns="0" anchor="ctr">
            <a:spAutoFit/>
          </a:bodyPr>
          <a:lstStyle/>
          <a:p>
            <a:pPr algn="l">
              <a:lnSpc>
                <a:spcPct val="100000"/>
              </a:lnSpc>
              <a:spcBef>
                <a:spcPts val="0"/>
              </a:spcBef>
              <a:spcAft>
                <a:spcPts val="0"/>
              </a:spcAft>
            </a:pPr>
            <a:r>
              <a:rPr sz="919" b="1" i="0">
                <a:solidFill>
                  <a:srgbClr val="F3265B"/>
                </a:solidFill>
                <a:latin typeface="Segoe UI"/>
              </a:rPr>
              <a:t>Scoped to the assigned hospital only</a:t>
            </a:r>
          </a:p>
        </p:txBody>
      </p:sp>
      <p:sp>
        <p:nvSpPr>
          <p:cNvPr id="43" name="Rounded Rectangle 42"/>
          <p:cNvSpPr/>
          <p:nvPr/>
        </p:nvSpPr>
        <p:spPr>
          <a:xfrm>
            <a:off x="8024774" y="1773936"/>
            <a:ext cx="3669487" cy="1975104"/>
          </a:xfrm>
          <a:prstGeom prst="roundRect">
            <a:avLst>
              <a:gd name="adj" fmla="val 6000"/>
            </a:avLst>
          </a:prstGeom>
          <a:solidFill>
            <a:srgbClr val="FFFFFF"/>
          </a:solidFill>
          <a:ln w="12700">
            <a:solidFill>
              <a:srgbClr val="D8DC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ound Same Side Corner Rectangle 43"/>
          <p:cNvSpPr/>
          <p:nvPr/>
        </p:nvSpPr>
        <p:spPr>
          <a:xfrm>
            <a:off x="8024774" y="1773936"/>
            <a:ext cx="3669487" cy="457200"/>
          </a:xfrm>
          <a:prstGeom prst="round2SameRect">
            <a:avLst/>
          </a:prstGeom>
          <a:solidFill>
            <a:srgbClr val="683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Gear 6 44"/>
          <p:cNvSpPr/>
          <p:nvPr/>
        </p:nvSpPr>
        <p:spPr>
          <a:xfrm>
            <a:off x="8235817" y="1902683"/>
            <a:ext cx="199704" cy="199704"/>
          </a:xfrm>
          <a:prstGeom prst="gear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8573414" y="1773936"/>
            <a:ext cx="3017520" cy="457200"/>
          </a:xfrm>
          <a:prstGeom prst="rect">
            <a:avLst/>
          </a:prstGeom>
          <a:noFill/>
        </p:spPr>
        <p:txBody>
          <a:bodyPr wrap="square" lIns="0" rIns="0" tIns="0" bIns="0" anchor="ctr">
            <a:spAutoFit/>
          </a:bodyPr>
          <a:lstStyle/>
          <a:p>
            <a:pPr algn="l">
              <a:lnSpc>
                <a:spcPct val="100000"/>
              </a:lnSpc>
              <a:spcBef>
                <a:spcPts val="0"/>
              </a:spcBef>
              <a:spcAft>
                <a:spcPts val="0"/>
              </a:spcAft>
            </a:pPr>
            <a:r>
              <a:rPr sz="1250" b="1" i="0">
                <a:solidFill>
                  <a:srgbClr val="FFFFFF"/>
                </a:solidFill>
                <a:latin typeface="Segoe UI"/>
              </a:rPr>
              <a:t>Administrator</a:t>
            </a:r>
          </a:p>
        </p:txBody>
      </p:sp>
      <p:sp>
        <p:nvSpPr>
          <p:cNvPr id="47" name="Oval 46"/>
          <p:cNvSpPr/>
          <p:nvPr/>
        </p:nvSpPr>
        <p:spPr>
          <a:xfrm>
            <a:off x="8244230" y="2404872"/>
            <a:ext cx="182880" cy="182880"/>
          </a:xfrm>
          <a:prstGeom prst="ellipse">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rot="2700000">
            <a:off x="8292876" y="2487990"/>
            <a:ext cx="52303" cy="190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ectangle 48"/>
          <p:cNvSpPr/>
          <p:nvPr/>
        </p:nvSpPr>
        <p:spPr>
          <a:xfrm rot="18900000">
            <a:off x="8323783" y="2460650"/>
            <a:ext cx="73700" cy="190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8500262" y="2377440"/>
            <a:ext cx="3017520" cy="256032"/>
          </a:xfrm>
          <a:prstGeom prst="rect">
            <a:avLst/>
          </a:prstGeom>
          <a:noFill/>
        </p:spPr>
        <p:txBody>
          <a:bodyPr wrap="square" lIns="0" rIns="0" tIns="0" bIns="0" anchor="ctr">
            <a:spAutoFit/>
          </a:bodyPr>
          <a:lstStyle/>
          <a:p>
            <a:pPr algn="l">
              <a:lnSpc>
                <a:spcPct val="100000"/>
              </a:lnSpc>
              <a:spcBef>
                <a:spcPts val="0"/>
              </a:spcBef>
              <a:spcAft>
                <a:spcPts val="0"/>
              </a:spcAft>
            </a:pPr>
            <a:r>
              <a:rPr sz="940" b="0" i="0">
                <a:solidFill>
                  <a:srgbClr val="080808"/>
                </a:solidFill>
                <a:latin typeface="Segoe UI"/>
              </a:rPr>
              <a:t>View emergency records</a:t>
            </a:r>
          </a:p>
        </p:txBody>
      </p:sp>
      <p:sp>
        <p:nvSpPr>
          <p:cNvPr id="51" name="Oval 50"/>
          <p:cNvSpPr/>
          <p:nvPr/>
        </p:nvSpPr>
        <p:spPr>
          <a:xfrm>
            <a:off x="8244230" y="2715768"/>
            <a:ext cx="182880" cy="182880"/>
          </a:xfrm>
          <a:prstGeom prst="ellipse">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ectangle 51"/>
          <p:cNvSpPr/>
          <p:nvPr/>
        </p:nvSpPr>
        <p:spPr>
          <a:xfrm rot="2700000">
            <a:off x="8292876" y="2798886"/>
            <a:ext cx="52303" cy="190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ectangle 52"/>
          <p:cNvSpPr/>
          <p:nvPr/>
        </p:nvSpPr>
        <p:spPr>
          <a:xfrm rot="18900000">
            <a:off x="8323783" y="2771546"/>
            <a:ext cx="73700" cy="190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8500262" y="2688336"/>
            <a:ext cx="3017520" cy="256032"/>
          </a:xfrm>
          <a:prstGeom prst="rect">
            <a:avLst/>
          </a:prstGeom>
          <a:noFill/>
        </p:spPr>
        <p:txBody>
          <a:bodyPr wrap="square" lIns="0" rIns="0" tIns="0" bIns="0" anchor="ctr">
            <a:spAutoFit/>
          </a:bodyPr>
          <a:lstStyle/>
          <a:p>
            <a:pPr algn="l">
              <a:lnSpc>
                <a:spcPct val="100000"/>
              </a:lnSpc>
              <a:spcBef>
                <a:spcPts val="0"/>
              </a:spcBef>
              <a:spcAft>
                <a:spcPts val="0"/>
              </a:spcAft>
            </a:pPr>
            <a:r>
              <a:rPr sz="940" b="0" i="0">
                <a:solidFill>
                  <a:srgbClr val="080808"/>
                </a:solidFill>
                <a:latin typeface="Segoe UI"/>
              </a:rPr>
              <a:t>Reset demo emergency data</a:t>
            </a:r>
          </a:p>
        </p:txBody>
      </p:sp>
      <p:sp>
        <p:nvSpPr>
          <p:cNvPr id="55" name="Oval 54"/>
          <p:cNvSpPr/>
          <p:nvPr/>
        </p:nvSpPr>
        <p:spPr>
          <a:xfrm>
            <a:off x="8244230" y="3044951"/>
            <a:ext cx="182880" cy="182880"/>
          </a:xfrm>
          <a:prstGeom prst="ellipse">
            <a:avLst/>
          </a:prstGeom>
          <a:solidFill>
            <a:srgbClr val="FDEBF0"/>
          </a:solidFill>
          <a:ln w="12700">
            <a:solidFill>
              <a:srgbClr val="F326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Oval 55"/>
          <p:cNvSpPr/>
          <p:nvPr/>
        </p:nvSpPr>
        <p:spPr>
          <a:xfrm>
            <a:off x="8309335" y="3085917"/>
            <a:ext cx="52669" cy="52669"/>
          </a:xfrm>
          <a:prstGeom prst="ellipse">
            <a:avLst/>
          </a:prstGeom>
          <a:noFill/>
          <a:ln w="30480">
            <a:solidFill>
              <a:srgbClr val="F326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Rounded Rectangle 56"/>
          <p:cNvSpPr/>
          <p:nvPr/>
        </p:nvSpPr>
        <p:spPr>
          <a:xfrm>
            <a:off x="8293973" y="3134197"/>
            <a:ext cx="83393" cy="57058"/>
          </a:xfrm>
          <a:prstGeom prst="roundRect">
            <a:avLst>
              <a:gd name="adj" fmla="val 18000"/>
            </a:avLst>
          </a:prstGeom>
          <a:solidFill>
            <a:srgbClr val="F326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8500262" y="3017520"/>
            <a:ext cx="3017520" cy="256032"/>
          </a:xfrm>
          <a:prstGeom prst="rect">
            <a:avLst/>
          </a:prstGeom>
          <a:noFill/>
        </p:spPr>
        <p:txBody>
          <a:bodyPr wrap="square" lIns="0" rIns="0" tIns="0" bIns="0" anchor="ctr">
            <a:spAutoFit/>
          </a:bodyPr>
          <a:lstStyle/>
          <a:p>
            <a:pPr algn="l">
              <a:lnSpc>
                <a:spcPct val="100000"/>
              </a:lnSpc>
              <a:spcBef>
                <a:spcPts val="0"/>
              </a:spcBef>
              <a:spcAft>
                <a:spcPts val="0"/>
              </a:spcAft>
            </a:pPr>
            <a:r>
              <a:rPr sz="919" b="1" i="0">
                <a:solidFill>
                  <a:srgbClr val="F3265B"/>
                </a:solidFill>
                <a:latin typeface="Segoe UI"/>
              </a:rPr>
              <a:t>Emergency reset is admin-only</a:t>
            </a:r>
          </a:p>
        </p:txBody>
      </p:sp>
      <p:cxnSp>
        <p:nvCxnSpPr>
          <p:cNvPr id="59" name="Connector 58"/>
          <p:cNvCxnSpPr/>
          <p:nvPr/>
        </p:nvCxnSpPr>
        <p:spPr>
          <a:xfrm>
            <a:off x="502920" y="4032504"/>
            <a:ext cx="11185855" cy="0"/>
          </a:xfrm>
          <a:prstGeom prst="line">
            <a:avLst/>
          </a:prstGeom>
          <a:ln w="20320">
            <a:solidFill>
              <a:srgbClr val="683C9E"/>
            </a:solidFill>
            <a:prstDash val="dash"/>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3017520" y="3877056"/>
            <a:ext cx="6153912" cy="329184"/>
          </a:xfrm>
          <a:prstGeom prst="roundRect">
            <a:avLst>
              <a:gd name="adj" fmla="val 50000"/>
            </a:avLst>
          </a:prstGeom>
          <a:solidFill>
            <a:srgbClr val="683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Oval 60"/>
          <p:cNvSpPr/>
          <p:nvPr/>
        </p:nvSpPr>
        <p:spPr>
          <a:xfrm>
            <a:off x="3215761" y="3965935"/>
            <a:ext cx="79004" cy="79004"/>
          </a:xfrm>
          <a:prstGeom prst="ellipse">
            <a:avLst/>
          </a:prstGeom>
          <a:noFill/>
          <a:ln w="30480">
            <a:solidFill>
              <a:srgbClr val="FFD21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Rounded Rectangle 61"/>
          <p:cNvSpPr/>
          <p:nvPr/>
        </p:nvSpPr>
        <p:spPr>
          <a:xfrm>
            <a:off x="3192719" y="4038356"/>
            <a:ext cx="125089" cy="85587"/>
          </a:xfrm>
          <a:prstGeom prst="roundRect">
            <a:avLst>
              <a:gd name="adj" fmla="val 18000"/>
            </a:avLst>
          </a:prstGeom>
          <a:solidFill>
            <a:srgbClr val="FFD2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3456432" y="3877056"/>
            <a:ext cx="5577840" cy="329184"/>
          </a:xfrm>
          <a:prstGeom prst="rect">
            <a:avLst/>
          </a:prstGeom>
          <a:noFill/>
        </p:spPr>
        <p:txBody>
          <a:bodyPr wrap="square" lIns="0" rIns="0" tIns="0" bIns="0" anchor="ctr">
            <a:spAutoFit/>
          </a:bodyPr>
          <a:lstStyle/>
          <a:p>
            <a:pPr algn="l">
              <a:lnSpc>
                <a:spcPct val="100000"/>
              </a:lnSpc>
              <a:spcBef>
                <a:spcPts val="0"/>
              </a:spcBef>
              <a:spcAft>
                <a:spcPts val="0"/>
              </a:spcAft>
            </a:pPr>
            <a:r>
              <a:rPr sz="940" b="1" i="0">
                <a:solidFill>
                  <a:srgbClr val="FFFFFF"/>
                </a:solidFill>
                <a:latin typeface="Segoe UI"/>
              </a:rPr>
              <a:t>PERMISSION BOUNDARY — every role sees and does only what it is allowed</a:t>
            </a:r>
          </a:p>
        </p:txBody>
      </p:sp>
      <p:sp>
        <p:nvSpPr>
          <p:cNvPr id="64" name="Rounded Rectangle 63"/>
          <p:cNvSpPr/>
          <p:nvPr/>
        </p:nvSpPr>
        <p:spPr>
          <a:xfrm>
            <a:off x="502920" y="4352544"/>
            <a:ext cx="6720840" cy="1481328"/>
          </a:xfrm>
          <a:prstGeom prst="roundRect">
            <a:avLst>
              <a:gd name="adj" fmla="val 5000"/>
            </a:avLst>
          </a:prstGeom>
          <a:solidFill>
            <a:srgbClr val="FFFFFF"/>
          </a:solidFill>
          <a:ln w="12700">
            <a:solidFill>
              <a:srgbClr val="D8DC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TextBox 64"/>
          <p:cNvSpPr txBox="1"/>
          <p:nvPr/>
        </p:nvSpPr>
        <p:spPr>
          <a:xfrm>
            <a:off x="722376" y="4462272"/>
            <a:ext cx="6217920" cy="237744"/>
          </a:xfrm>
          <a:prstGeom prst="rect">
            <a:avLst/>
          </a:prstGeom>
          <a:noFill/>
        </p:spPr>
        <p:txBody>
          <a:bodyPr wrap="square" lIns="0" rIns="0" tIns="0" bIns="0" anchor="t">
            <a:spAutoFit/>
          </a:bodyPr>
          <a:lstStyle/>
          <a:p>
            <a:pPr algn="l">
              <a:lnSpc>
                <a:spcPct val="100000"/>
              </a:lnSpc>
              <a:spcBef>
                <a:spcPts val="0"/>
              </a:spcBef>
              <a:spcAft>
                <a:spcPts val="0"/>
              </a:spcAft>
            </a:pPr>
            <a:r>
              <a:rPr sz="1050" b="1" i="0">
                <a:solidFill>
                  <a:srgbClr val="0719C8"/>
                </a:solidFill>
                <a:latin typeface="Segoe UI"/>
              </a:rPr>
              <a:t>SECURITY &amp; RELIABILITY CHECKLIST</a:t>
            </a:r>
          </a:p>
        </p:txBody>
      </p:sp>
      <p:sp>
        <p:nvSpPr>
          <p:cNvPr id="66" name="Oval 65"/>
          <p:cNvSpPr/>
          <p:nvPr/>
        </p:nvSpPr>
        <p:spPr>
          <a:xfrm>
            <a:off x="722376" y="4791455"/>
            <a:ext cx="182880" cy="182880"/>
          </a:xfrm>
          <a:prstGeom prst="ellipse">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Rectangle 66"/>
          <p:cNvSpPr/>
          <p:nvPr/>
        </p:nvSpPr>
        <p:spPr>
          <a:xfrm rot="2700000">
            <a:off x="771022" y="4874574"/>
            <a:ext cx="52303" cy="190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Rectangle 67"/>
          <p:cNvSpPr/>
          <p:nvPr/>
        </p:nvSpPr>
        <p:spPr>
          <a:xfrm rot="18900000">
            <a:off x="801928" y="4847234"/>
            <a:ext cx="73700" cy="190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TextBox 68"/>
          <p:cNvSpPr txBox="1"/>
          <p:nvPr/>
        </p:nvSpPr>
        <p:spPr>
          <a:xfrm>
            <a:off x="978408" y="4773168"/>
            <a:ext cx="2852928" cy="256032"/>
          </a:xfrm>
          <a:prstGeom prst="rect">
            <a:avLst/>
          </a:prstGeom>
          <a:noFill/>
        </p:spPr>
        <p:txBody>
          <a:bodyPr wrap="square" lIns="0" rIns="0" tIns="0" bIns="0" anchor="ctr">
            <a:spAutoFit/>
          </a:bodyPr>
          <a:lstStyle/>
          <a:p>
            <a:pPr algn="l">
              <a:lnSpc>
                <a:spcPct val="100000"/>
              </a:lnSpc>
              <a:spcBef>
                <a:spcPts val="0"/>
              </a:spcBef>
              <a:spcAft>
                <a:spcPts val="0"/>
              </a:spcAft>
            </a:pPr>
            <a:r>
              <a:rPr sz="900" b="0" i="0">
                <a:solidFill>
                  <a:srgbClr val="080808"/>
                </a:solidFill>
                <a:latin typeface="Segoe UI"/>
              </a:rPr>
              <a:t>Session authentication</a:t>
            </a:r>
          </a:p>
        </p:txBody>
      </p:sp>
      <p:sp>
        <p:nvSpPr>
          <p:cNvPr id="70" name="Oval 69"/>
          <p:cNvSpPr/>
          <p:nvPr/>
        </p:nvSpPr>
        <p:spPr>
          <a:xfrm>
            <a:off x="722376" y="5047488"/>
            <a:ext cx="182880" cy="182880"/>
          </a:xfrm>
          <a:prstGeom prst="ellipse">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Rectangle 70"/>
          <p:cNvSpPr/>
          <p:nvPr/>
        </p:nvSpPr>
        <p:spPr>
          <a:xfrm rot="2700000">
            <a:off x="771022" y="5130606"/>
            <a:ext cx="52303" cy="190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Rectangle 71"/>
          <p:cNvSpPr/>
          <p:nvPr/>
        </p:nvSpPr>
        <p:spPr>
          <a:xfrm rot="18900000">
            <a:off x="801928" y="5103266"/>
            <a:ext cx="73700" cy="190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TextBox 72"/>
          <p:cNvSpPr txBox="1"/>
          <p:nvPr/>
        </p:nvSpPr>
        <p:spPr>
          <a:xfrm>
            <a:off x="978408" y="5029200"/>
            <a:ext cx="2852928" cy="256032"/>
          </a:xfrm>
          <a:prstGeom prst="rect">
            <a:avLst/>
          </a:prstGeom>
          <a:noFill/>
        </p:spPr>
        <p:txBody>
          <a:bodyPr wrap="square" lIns="0" rIns="0" tIns="0" bIns="0" anchor="ctr">
            <a:spAutoFit/>
          </a:bodyPr>
          <a:lstStyle/>
          <a:p>
            <a:pPr algn="l">
              <a:lnSpc>
                <a:spcPct val="100000"/>
              </a:lnSpc>
              <a:spcBef>
                <a:spcPts val="0"/>
              </a:spcBef>
              <a:spcAft>
                <a:spcPts val="0"/>
              </a:spcAft>
            </a:pPr>
            <a:r>
              <a:rPr sz="900" b="0" i="0">
                <a:solidFill>
                  <a:srgbClr val="080808"/>
                </a:solidFill>
                <a:latin typeface="Segoe UI"/>
              </a:rPr>
              <a:t>CSRF protection on emergency actions</a:t>
            </a:r>
          </a:p>
        </p:txBody>
      </p:sp>
      <p:sp>
        <p:nvSpPr>
          <p:cNvPr id="74" name="Oval 73"/>
          <p:cNvSpPr/>
          <p:nvPr/>
        </p:nvSpPr>
        <p:spPr>
          <a:xfrm>
            <a:off x="722376" y="5303519"/>
            <a:ext cx="182880" cy="182880"/>
          </a:xfrm>
          <a:prstGeom prst="ellipse">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Rectangle 74"/>
          <p:cNvSpPr/>
          <p:nvPr/>
        </p:nvSpPr>
        <p:spPr>
          <a:xfrm rot="2700000">
            <a:off x="771022" y="5386638"/>
            <a:ext cx="52303" cy="190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Rectangle 75"/>
          <p:cNvSpPr/>
          <p:nvPr/>
        </p:nvSpPr>
        <p:spPr>
          <a:xfrm rot="18900000">
            <a:off x="801928" y="5359298"/>
            <a:ext cx="73700" cy="190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7" name="TextBox 76"/>
          <p:cNvSpPr txBox="1"/>
          <p:nvPr/>
        </p:nvSpPr>
        <p:spPr>
          <a:xfrm>
            <a:off x="978408" y="5285231"/>
            <a:ext cx="2852928" cy="256032"/>
          </a:xfrm>
          <a:prstGeom prst="rect">
            <a:avLst/>
          </a:prstGeom>
          <a:noFill/>
        </p:spPr>
        <p:txBody>
          <a:bodyPr wrap="square" lIns="0" rIns="0" tIns="0" bIns="0" anchor="ctr">
            <a:spAutoFit/>
          </a:bodyPr>
          <a:lstStyle/>
          <a:p>
            <a:pPr algn="l">
              <a:lnSpc>
                <a:spcPct val="100000"/>
              </a:lnSpc>
              <a:spcBef>
                <a:spcPts val="0"/>
              </a:spcBef>
              <a:spcAft>
                <a:spcPts val="0"/>
              </a:spcAft>
            </a:pPr>
            <a:r>
              <a:rPr sz="900" b="0" i="0">
                <a:solidFill>
                  <a:srgbClr val="080808"/>
                </a:solidFill>
                <a:latin typeface="Segoe UI"/>
              </a:rPr>
              <a:t>Patient ownership checks</a:t>
            </a:r>
          </a:p>
        </p:txBody>
      </p:sp>
      <p:sp>
        <p:nvSpPr>
          <p:cNvPr id="78" name="Oval 77"/>
          <p:cNvSpPr/>
          <p:nvPr/>
        </p:nvSpPr>
        <p:spPr>
          <a:xfrm>
            <a:off x="722376" y="5559551"/>
            <a:ext cx="182880" cy="182880"/>
          </a:xfrm>
          <a:prstGeom prst="ellipse">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9" name="Rectangle 78"/>
          <p:cNvSpPr/>
          <p:nvPr/>
        </p:nvSpPr>
        <p:spPr>
          <a:xfrm rot="2700000">
            <a:off x="771022" y="5642670"/>
            <a:ext cx="52303" cy="190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0" name="Rectangle 79"/>
          <p:cNvSpPr/>
          <p:nvPr/>
        </p:nvSpPr>
        <p:spPr>
          <a:xfrm rot="18900000">
            <a:off x="801928" y="5615330"/>
            <a:ext cx="73700" cy="190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1" name="TextBox 80"/>
          <p:cNvSpPr txBox="1"/>
          <p:nvPr/>
        </p:nvSpPr>
        <p:spPr>
          <a:xfrm>
            <a:off x="978408" y="5541264"/>
            <a:ext cx="2852928" cy="256032"/>
          </a:xfrm>
          <a:prstGeom prst="rect">
            <a:avLst/>
          </a:prstGeom>
          <a:noFill/>
        </p:spPr>
        <p:txBody>
          <a:bodyPr wrap="square" lIns="0" rIns="0" tIns="0" bIns="0" anchor="ctr">
            <a:spAutoFit/>
          </a:bodyPr>
          <a:lstStyle/>
          <a:p>
            <a:pPr algn="l">
              <a:lnSpc>
                <a:spcPct val="100000"/>
              </a:lnSpc>
              <a:spcBef>
                <a:spcPts val="0"/>
              </a:spcBef>
              <a:spcAft>
                <a:spcPts val="0"/>
              </a:spcAft>
            </a:pPr>
            <a:r>
              <a:rPr sz="900" b="0" i="0">
                <a:solidFill>
                  <a:srgbClr val="080808"/>
                </a:solidFill>
                <a:latin typeface="Segoe UI"/>
              </a:rPr>
              <a:t>Hospital-scoped operator actions</a:t>
            </a:r>
          </a:p>
        </p:txBody>
      </p:sp>
      <p:sp>
        <p:nvSpPr>
          <p:cNvPr id="82" name="Oval 81"/>
          <p:cNvSpPr/>
          <p:nvPr/>
        </p:nvSpPr>
        <p:spPr>
          <a:xfrm>
            <a:off x="3977639" y="4791455"/>
            <a:ext cx="182880" cy="182880"/>
          </a:xfrm>
          <a:prstGeom prst="ellipse">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3" name="Rectangle 82"/>
          <p:cNvSpPr/>
          <p:nvPr/>
        </p:nvSpPr>
        <p:spPr>
          <a:xfrm rot="2700000">
            <a:off x="4026286" y="4874574"/>
            <a:ext cx="52303" cy="190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4" name="Rectangle 83"/>
          <p:cNvSpPr/>
          <p:nvPr/>
        </p:nvSpPr>
        <p:spPr>
          <a:xfrm rot="18900000">
            <a:off x="4057192" y="4847234"/>
            <a:ext cx="73700" cy="190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5" name="TextBox 84"/>
          <p:cNvSpPr txBox="1"/>
          <p:nvPr/>
        </p:nvSpPr>
        <p:spPr>
          <a:xfrm>
            <a:off x="4233672" y="4773168"/>
            <a:ext cx="2852928" cy="256032"/>
          </a:xfrm>
          <a:prstGeom prst="rect">
            <a:avLst/>
          </a:prstGeom>
          <a:noFill/>
        </p:spPr>
        <p:txBody>
          <a:bodyPr wrap="square" lIns="0" rIns="0" tIns="0" bIns="0" anchor="ctr">
            <a:spAutoFit/>
          </a:bodyPr>
          <a:lstStyle/>
          <a:p>
            <a:pPr algn="l">
              <a:lnSpc>
                <a:spcPct val="100000"/>
              </a:lnSpc>
              <a:spcBef>
                <a:spcPts val="0"/>
              </a:spcBef>
              <a:spcAft>
                <a:spcPts val="0"/>
              </a:spcAft>
            </a:pPr>
            <a:r>
              <a:rPr sz="900" b="0" i="0">
                <a:solidFill>
                  <a:srgbClr val="080808"/>
                </a:solidFill>
                <a:latin typeface="Segoe UI"/>
              </a:rPr>
              <a:t>Admin-only emergency reset</a:t>
            </a:r>
          </a:p>
        </p:txBody>
      </p:sp>
      <p:sp>
        <p:nvSpPr>
          <p:cNvPr id="86" name="Oval 85"/>
          <p:cNvSpPr/>
          <p:nvPr/>
        </p:nvSpPr>
        <p:spPr>
          <a:xfrm>
            <a:off x="3977639" y="5047488"/>
            <a:ext cx="182880" cy="182880"/>
          </a:xfrm>
          <a:prstGeom prst="ellipse">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7" name="Rectangle 86"/>
          <p:cNvSpPr/>
          <p:nvPr/>
        </p:nvSpPr>
        <p:spPr>
          <a:xfrm rot="2700000">
            <a:off x="4026286" y="5130606"/>
            <a:ext cx="52303" cy="190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8" name="Rectangle 87"/>
          <p:cNvSpPr/>
          <p:nvPr/>
        </p:nvSpPr>
        <p:spPr>
          <a:xfrm rot="18900000">
            <a:off x="4057192" y="5103266"/>
            <a:ext cx="73700" cy="190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9" name="TextBox 88"/>
          <p:cNvSpPr txBox="1"/>
          <p:nvPr/>
        </p:nvSpPr>
        <p:spPr>
          <a:xfrm>
            <a:off x="4233672" y="5029200"/>
            <a:ext cx="2852928" cy="256032"/>
          </a:xfrm>
          <a:prstGeom prst="rect">
            <a:avLst/>
          </a:prstGeom>
          <a:noFill/>
        </p:spPr>
        <p:txBody>
          <a:bodyPr wrap="square" lIns="0" rIns="0" tIns="0" bIns="0" anchor="ctr">
            <a:spAutoFit/>
          </a:bodyPr>
          <a:lstStyle/>
          <a:p>
            <a:pPr algn="l">
              <a:lnSpc>
                <a:spcPct val="100000"/>
              </a:lnSpc>
              <a:spcBef>
                <a:spcPts val="0"/>
              </a:spcBef>
              <a:spcAft>
                <a:spcPts val="0"/>
              </a:spcAft>
            </a:pPr>
            <a:r>
              <a:rPr sz="900" b="0" i="0">
                <a:solidFill>
                  <a:srgbClr val="080808"/>
                </a:solidFill>
                <a:latin typeface="Segoe UI"/>
              </a:rPr>
              <a:t>Decision history for emergency actions</a:t>
            </a:r>
          </a:p>
        </p:txBody>
      </p:sp>
      <p:sp>
        <p:nvSpPr>
          <p:cNvPr id="90" name="Oval 89"/>
          <p:cNvSpPr/>
          <p:nvPr/>
        </p:nvSpPr>
        <p:spPr>
          <a:xfrm>
            <a:off x="3977639" y="5303519"/>
            <a:ext cx="182880" cy="182880"/>
          </a:xfrm>
          <a:prstGeom prst="ellipse">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1" name="Rectangle 90"/>
          <p:cNvSpPr/>
          <p:nvPr/>
        </p:nvSpPr>
        <p:spPr>
          <a:xfrm rot="2700000">
            <a:off x="4026286" y="5386638"/>
            <a:ext cx="52303" cy="190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2" name="Rectangle 91"/>
          <p:cNvSpPr/>
          <p:nvPr/>
        </p:nvSpPr>
        <p:spPr>
          <a:xfrm rot="18900000">
            <a:off x="4057192" y="5359298"/>
            <a:ext cx="73700" cy="190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3" name="TextBox 92"/>
          <p:cNvSpPr txBox="1"/>
          <p:nvPr/>
        </p:nvSpPr>
        <p:spPr>
          <a:xfrm>
            <a:off x="4233672" y="5285231"/>
            <a:ext cx="2852928" cy="256032"/>
          </a:xfrm>
          <a:prstGeom prst="rect">
            <a:avLst/>
          </a:prstGeom>
          <a:noFill/>
        </p:spPr>
        <p:txBody>
          <a:bodyPr wrap="square" lIns="0" rIns="0" tIns="0" bIns="0" anchor="ctr">
            <a:spAutoFit/>
          </a:bodyPr>
          <a:lstStyle/>
          <a:p>
            <a:pPr algn="l">
              <a:lnSpc>
                <a:spcPct val="100000"/>
              </a:lnSpc>
              <a:spcBef>
                <a:spcPts val="0"/>
              </a:spcBef>
              <a:spcAft>
                <a:spcPts val="0"/>
              </a:spcAft>
            </a:pPr>
            <a:r>
              <a:rPr sz="900" b="0" i="0">
                <a:solidFill>
                  <a:srgbClr val="080808"/>
                </a:solidFill>
                <a:latin typeface="Segoe UI"/>
              </a:rPr>
              <a:t>File locking serializes JSON updates</a:t>
            </a:r>
          </a:p>
        </p:txBody>
      </p:sp>
      <p:sp>
        <p:nvSpPr>
          <p:cNvPr id="94" name="Oval 93"/>
          <p:cNvSpPr/>
          <p:nvPr/>
        </p:nvSpPr>
        <p:spPr>
          <a:xfrm>
            <a:off x="3977639" y="5559551"/>
            <a:ext cx="182880" cy="182880"/>
          </a:xfrm>
          <a:prstGeom prst="ellipse">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5" name="Rectangle 94"/>
          <p:cNvSpPr/>
          <p:nvPr/>
        </p:nvSpPr>
        <p:spPr>
          <a:xfrm rot="2700000">
            <a:off x="4026286" y="5642670"/>
            <a:ext cx="52303" cy="190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6" name="Rectangle 95"/>
          <p:cNvSpPr/>
          <p:nvPr/>
        </p:nvSpPr>
        <p:spPr>
          <a:xfrm rot="18900000">
            <a:off x="4057192" y="5615330"/>
            <a:ext cx="73700" cy="190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7" name="TextBox 96"/>
          <p:cNvSpPr txBox="1"/>
          <p:nvPr/>
        </p:nvSpPr>
        <p:spPr>
          <a:xfrm>
            <a:off x="4233672" y="5541264"/>
            <a:ext cx="2852928" cy="256032"/>
          </a:xfrm>
          <a:prstGeom prst="rect">
            <a:avLst/>
          </a:prstGeom>
          <a:noFill/>
        </p:spPr>
        <p:txBody>
          <a:bodyPr wrap="square" lIns="0" rIns="0" tIns="0" bIns="0" anchor="ctr">
            <a:spAutoFit/>
          </a:bodyPr>
          <a:lstStyle/>
          <a:p>
            <a:pPr algn="l">
              <a:lnSpc>
                <a:spcPct val="100000"/>
              </a:lnSpc>
              <a:spcBef>
                <a:spcPts val="0"/>
              </a:spcBef>
              <a:spcAft>
                <a:spcPts val="0"/>
              </a:spcAft>
            </a:pPr>
            <a:r>
              <a:rPr sz="900" b="0" i="0">
                <a:solidFill>
                  <a:srgbClr val="080808"/>
                </a:solidFill>
                <a:latin typeface="Segoe UI"/>
              </a:rPr>
              <a:t>Dashboards poll every 5 seconds</a:t>
            </a:r>
          </a:p>
        </p:txBody>
      </p:sp>
      <p:sp>
        <p:nvSpPr>
          <p:cNvPr id="98" name="Rounded Rectangle 97"/>
          <p:cNvSpPr/>
          <p:nvPr/>
        </p:nvSpPr>
        <p:spPr>
          <a:xfrm>
            <a:off x="7452360" y="4352544"/>
            <a:ext cx="4233672" cy="1481328"/>
          </a:xfrm>
          <a:prstGeom prst="roundRect">
            <a:avLst>
              <a:gd name="adj" fmla="val 6000"/>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9" name="TextBox 98"/>
          <p:cNvSpPr txBox="1"/>
          <p:nvPr/>
        </p:nvSpPr>
        <p:spPr>
          <a:xfrm>
            <a:off x="7671816" y="4462272"/>
            <a:ext cx="3840480" cy="237744"/>
          </a:xfrm>
          <a:prstGeom prst="rect">
            <a:avLst/>
          </a:prstGeom>
          <a:noFill/>
        </p:spPr>
        <p:txBody>
          <a:bodyPr wrap="square" lIns="0" rIns="0" tIns="0" bIns="0" anchor="t">
            <a:spAutoFit/>
          </a:bodyPr>
          <a:lstStyle/>
          <a:p>
            <a:pPr algn="l">
              <a:lnSpc>
                <a:spcPct val="100000"/>
              </a:lnSpc>
              <a:spcBef>
                <a:spcPts val="0"/>
              </a:spcBef>
              <a:spcAft>
                <a:spcPts val="0"/>
              </a:spcAft>
            </a:pPr>
            <a:r>
              <a:rPr sz="1000" b="1" i="0">
                <a:solidFill>
                  <a:srgbClr val="080808"/>
                </a:solidFill>
                <a:latin typeface="Segoe UI"/>
              </a:rPr>
              <a:t>PROTOTYPE LIMITATIONS — STATED PLAINLY</a:t>
            </a:r>
          </a:p>
        </p:txBody>
      </p:sp>
      <p:sp>
        <p:nvSpPr>
          <p:cNvPr id="100" name="TextBox 99"/>
          <p:cNvSpPr txBox="1"/>
          <p:nvPr/>
        </p:nvSpPr>
        <p:spPr>
          <a:xfrm>
            <a:off x="7671816" y="4754880"/>
            <a:ext cx="3794760" cy="969264"/>
          </a:xfrm>
          <a:prstGeom prst="rect">
            <a:avLst/>
          </a:prstGeom>
          <a:noFill/>
        </p:spPr>
        <p:txBody>
          <a:bodyPr wrap="square" lIns="0" rIns="0" tIns="0" bIns="0" anchor="t">
            <a:spAutoFit/>
          </a:bodyPr>
          <a:lstStyle/>
          <a:p>
            <a:pPr algn="l">
              <a:lnSpc>
                <a:spcPct val="105000"/>
              </a:lnSpc>
              <a:spcBef>
                <a:spcPts val="0"/>
              </a:spcBef>
              <a:spcAft>
                <a:spcPts val="0"/>
              </a:spcAft>
            </a:pPr>
            <a:r>
              <a:rPr sz="900" b="0" i="0">
                <a:solidFill>
                  <a:srgbClr val="080808"/>
                </a:solidFill>
                <a:latin typeface="Segoe UI"/>
              </a:rPr>
              <a:t>Validation, authorization, legacy endpoints, uploads, password-reset workflows and production security require additional review. The README does not establish that the application is production-ready.</a:t>
            </a:r>
          </a:p>
        </p:txBody>
      </p:sp>
      <p:sp>
        <p:nvSpPr>
          <p:cNvPr id="101" name="Rounded Rectangle 100"/>
          <p:cNvSpPr/>
          <p:nvPr/>
        </p:nvSpPr>
        <p:spPr>
          <a:xfrm>
            <a:off x="502920" y="5961888"/>
            <a:ext cx="11185855" cy="512064"/>
          </a:xfrm>
          <a:prstGeom prst="roundRect">
            <a:avLst>
              <a:gd name="adj" fmla="val 12000"/>
            </a:avLst>
          </a:prstGeom>
          <a:solidFill>
            <a:srgbClr val="0719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2" name="TextBox 101"/>
          <p:cNvSpPr txBox="1"/>
          <p:nvPr/>
        </p:nvSpPr>
        <p:spPr>
          <a:xfrm>
            <a:off x="758952" y="5961888"/>
            <a:ext cx="10698480" cy="512064"/>
          </a:xfrm>
          <a:prstGeom prst="rect">
            <a:avLst/>
          </a:prstGeom>
          <a:noFill/>
        </p:spPr>
        <p:txBody>
          <a:bodyPr wrap="square" lIns="0" rIns="0" tIns="0" bIns="0" anchor="ctr">
            <a:spAutoFit/>
          </a:bodyPr>
          <a:lstStyle/>
          <a:p>
            <a:pPr algn="l">
              <a:lnSpc>
                <a:spcPct val="102000"/>
              </a:lnSpc>
              <a:spcBef>
                <a:spcPts val="0"/>
              </a:spcBef>
              <a:spcAft>
                <a:spcPts val="0"/>
              </a:spcAft>
            </a:pPr>
            <a:r>
              <a:rPr sz="960" b="1" i="0">
                <a:solidFill>
                  <a:srgbClr val="FFFFFF"/>
                </a:solidFill>
                <a:latin typeface="Segoe UI"/>
              </a:rPr>
              <a:t>Why it matters:  users reach only their permitted requests  ·  operators manage only their assigned scope  ·  emergency actions flow through controlled routes  ·  concurrent updates are coordinated.</a:t>
            </a:r>
          </a:p>
        </p:txBody>
      </p:sp>
      <p:sp>
        <p:nvSpPr>
          <p:cNvPr id="103" name="TextBox 102"/>
          <p:cNvSpPr txBox="1"/>
          <p:nvPr/>
        </p:nvSpPr>
        <p:spPr>
          <a:xfrm>
            <a:off x="502920" y="6492240"/>
            <a:ext cx="7315200" cy="237744"/>
          </a:xfrm>
          <a:prstGeom prst="rect">
            <a:avLst/>
          </a:prstGeom>
          <a:noFill/>
        </p:spPr>
        <p:txBody>
          <a:bodyPr wrap="square" lIns="0" rIns="0" tIns="0" bIns="0" anchor="t">
            <a:spAutoFit/>
          </a:bodyPr>
          <a:lstStyle/>
          <a:p>
            <a:pPr algn="l">
              <a:lnSpc>
                <a:spcPct val="100000"/>
              </a:lnSpc>
              <a:spcBef>
                <a:spcPts val="0"/>
              </a:spcBef>
              <a:spcAft>
                <a:spcPts val="0"/>
              </a:spcAft>
            </a:pPr>
            <a:r>
              <a:rPr sz="850" b="0" i="0">
                <a:solidFill>
                  <a:srgbClr val="8A90A6"/>
                </a:solidFill>
                <a:latin typeface="Segoe UI"/>
              </a:rPr>
              <a:t>CareRoute — Emergency Bed Coordination System   ·   Team Tech Head</a:t>
            </a:r>
          </a:p>
        </p:txBody>
      </p:sp>
      <p:sp>
        <p:nvSpPr>
          <p:cNvPr id="104" name="TextBox 103"/>
          <p:cNvSpPr txBox="1"/>
          <p:nvPr/>
        </p:nvSpPr>
        <p:spPr>
          <a:xfrm>
            <a:off x="10378440" y="6492240"/>
            <a:ext cx="1307592" cy="237744"/>
          </a:xfrm>
          <a:prstGeom prst="rect">
            <a:avLst/>
          </a:prstGeom>
          <a:noFill/>
        </p:spPr>
        <p:txBody>
          <a:bodyPr wrap="square" lIns="0" rIns="0" tIns="0" bIns="0" anchor="t">
            <a:spAutoFit/>
          </a:bodyPr>
          <a:lstStyle/>
          <a:p>
            <a:pPr algn="r">
              <a:lnSpc>
                <a:spcPct val="100000"/>
              </a:lnSpc>
              <a:spcBef>
                <a:spcPts val="0"/>
              </a:spcBef>
              <a:spcAft>
                <a:spcPts val="0"/>
              </a:spcAft>
            </a:pPr>
            <a:r>
              <a:rPr sz="850" b="1" i="0">
                <a:solidFill>
                  <a:srgbClr val="8A90A6"/>
                </a:solidFill>
                <a:latin typeface="Segoe UI"/>
              </a:rPr>
              <a:t>07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9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9966960" y="-1280160"/>
            <a:ext cx="3108960" cy="3108960"/>
          </a:xfrm>
          <a:prstGeom prst="ellipse">
            <a:avLst/>
          </a:prstGeom>
          <a:noFill/>
          <a:ln w="27940">
            <a:solidFill>
              <a:srgbClr val="683C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822960" y="5120640"/>
            <a:ext cx="2194560" cy="2194560"/>
          </a:xfrm>
          <a:prstGeom prst="ellipse">
            <a:avLst/>
          </a:prstGeom>
          <a:noFill/>
          <a:ln w="25400">
            <a:solidFill>
              <a:srgbClr val="683C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502920" y="384048"/>
            <a:ext cx="91440" cy="274320"/>
          </a:xfrm>
          <a:prstGeom prst="roundRect">
            <a:avLst>
              <a:gd name="adj" fmla="val 50000"/>
            </a:avLst>
          </a:prstGeom>
          <a:solidFill>
            <a:srgbClr val="FFD2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397764"/>
            <a:ext cx="7863840" cy="274320"/>
          </a:xfrm>
          <a:prstGeom prst="rect">
            <a:avLst/>
          </a:prstGeom>
          <a:noFill/>
        </p:spPr>
        <p:txBody>
          <a:bodyPr wrap="square" lIns="0" rIns="0" tIns="0" bIns="0" anchor="ctr">
            <a:spAutoFit/>
          </a:bodyPr>
          <a:lstStyle/>
          <a:p>
            <a:pPr algn="l">
              <a:lnSpc>
                <a:spcPct val="100000"/>
              </a:lnSpc>
              <a:spcBef>
                <a:spcPts val="0"/>
              </a:spcBef>
              <a:spcAft>
                <a:spcPts val="0"/>
              </a:spcAft>
            </a:pPr>
            <a:r>
              <a:rPr sz="1050" b="1" i="0">
                <a:solidFill>
                  <a:srgbClr val="FFD21A"/>
                </a:solidFill>
                <a:latin typeface="Segoe UI"/>
              </a:rPr>
              <a:t>07  ·  BUSINESS MODEL &amp; MARKET OPPORTUNITY</a:t>
            </a:r>
          </a:p>
        </p:txBody>
      </p:sp>
      <p:sp>
        <p:nvSpPr>
          <p:cNvPr id="7" name="TextBox 6"/>
          <p:cNvSpPr txBox="1"/>
          <p:nvPr/>
        </p:nvSpPr>
        <p:spPr>
          <a:xfrm>
            <a:off x="502920" y="749808"/>
            <a:ext cx="11155680" cy="566928"/>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FFFFFF"/>
                </a:solidFill>
                <a:latin typeface="Segoe UI"/>
              </a:rPr>
              <a:t>Turning CareRoute into a Healthcare Coordination Platform</a:t>
            </a:r>
          </a:p>
        </p:txBody>
      </p:sp>
      <p:sp>
        <p:nvSpPr>
          <p:cNvPr id="8" name="TextBox 7"/>
          <p:cNvSpPr txBox="1"/>
          <p:nvPr/>
        </p:nvSpPr>
        <p:spPr>
          <a:xfrm>
            <a:off x="502920" y="1353312"/>
            <a:ext cx="10607040" cy="310896"/>
          </a:xfrm>
          <a:prstGeom prst="rect">
            <a:avLst/>
          </a:prstGeom>
          <a:noFill/>
        </p:spPr>
        <p:txBody>
          <a:bodyPr wrap="square" lIns="0" rIns="0" tIns="0" bIns="0" anchor="t">
            <a:spAutoFit/>
          </a:bodyPr>
          <a:lstStyle/>
          <a:p>
            <a:pPr algn="l">
              <a:lnSpc>
                <a:spcPct val="100000"/>
              </a:lnSpc>
              <a:spcBef>
                <a:spcPts val="0"/>
              </a:spcBef>
              <a:spcAft>
                <a:spcPts val="0"/>
              </a:spcAft>
            </a:pPr>
            <a:r>
              <a:rPr sz="1250" b="0" i="0">
                <a:solidFill>
                  <a:srgbClr val="FFFFFF"/>
                </a:solidFill>
                <a:latin typeface="Segoe UI"/>
              </a:rPr>
              <a:t>A proposed business model for the platform — not an existing revenue stream.</a:t>
            </a:r>
          </a:p>
        </p:txBody>
      </p:sp>
      <p:sp>
        <p:nvSpPr>
          <p:cNvPr id="9" name="Rounded Rectangle 8"/>
          <p:cNvSpPr/>
          <p:nvPr/>
        </p:nvSpPr>
        <p:spPr>
          <a:xfrm>
            <a:off x="582015" y="1755648"/>
            <a:ext cx="3310128" cy="84124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4895" y="1847088"/>
            <a:ext cx="2944368" cy="274320"/>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0719C8"/>
                </a:solidFill>
                <a:latin typeface="Segoe UI"/>
              </a:rPr>
              <a:t>Hospitals, groups &amp; networks</a:t>
            </a:r>
          </a:p>
        </p:txBody>
      </p:sp>
      <p:sp>
        <p:nvSpPr>
          <p:cNvPr id="11" name="TextBox 10"/>
          <p:cNvSpPr txBox="1"/>
          <p:nvPr/>
        </p:nvSpPr>
        <p:spPr>
          <a:xfrm>
            <a:off x="764895" y="2139696"/>
            <a:ext cx="2944368" cy="402336"/>
          </a:xfrm>
          <a:prstGeom prst="rect">
            <a:avLst/>
          </a:prstGeom>
          <a:noFill/>
        </p:spPr>
        <p:txBody>
          <a:bodyPr wrap="square" lIns="0" rIns="0" tIns="0" bIns="0" anchor="t">
            <a:spAutoFit/>
          </a:bodyPr>
          <a:lstStyle/>
          <a:p>
            <a:pPr algn="l">
              <a:lnSpc>
                <a:spcPct val="102000"/>
              </a:lnSpc>
              <a:spcBef>
                <a:spcPts val="0"/>
              </a:spcBef>
              <a:spcAft>
                <a:spcPts val="0"/>
              </a:spcAft>
            </a:pPr>
            <a:r>
              <a:rPr sz="840" b="0" i="0">
                <a:solidFill>
                  <a:srgbClr val="0719C8"/>
                </a:solidFill>
                <a:latin typeface="Segoe UI"/>
              </a:rPr>
              <a:t>private · multi-hospital · healthcare networks · emergency coordination orgs</a:t>
            </a:r>
          </a:p>
        </p:txBody>
      </p:sp>
      <p:sp>
        <p:nvSpPr>
          <p:cNvPr id="12" name="Right Arrow 11"/>
          <p:cNvSpPr/>
          <p:nvPr/>
        </p:nvSpPr>
        <p:spPr>
          <a:xfrm>
            <a:off x="3965295" y="2103120"/>
            <a:ext cx="402335" cy="164592"/>
          </a:xfrm>
          <a:prstGeom prst="rightArrow">
            <a:avLst>
              <a:gd name="adj1" fmla="val 55000"/>
              <a:gd name="adj2" fmla="val 34000"/>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4440783" y="1755648"/>
            <a:ext cx="3310128" cy="841248"/>
          </a:xfrm>
          <a:prstGeom prst="roundRect">
            <a:avLst>
              <a:gd name="adj" fmla="val 10000"/>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623663" y="1847088"/>
            <a:ext cx="2944368" cy="274320"/>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080808"/>
                </a:solidFill>
                <a:latin typeface="Segoe UI"/>
              </a:rPr>
              <a:t>CareRoute platform</a:t>
            </a:r>
          </a:p>
        </p:txBody>
      </p:sp>
      <p:sp>
        <p:nvSpPr>
          <p:cNvPr id="15" name="TextBox 14"/>
          <p:cNvSpPr txBox="1"/>
          <p:nvPr/>
        </p:nvSpPr>
        <p:spPr>
          <a:xfrm>
            <a:off x="4623663" y="2139696"/>
            <a:ext cx="2944368" cy="402336"/>
          </a:xfrm>
          <a:prstGeom prst="rect">
            <a:avLst/>
          </a:prstGeom>
          <a:noFill/>
        </p:spPr>
        <p:txBody>
          <a:bodyPr wrap="square" lIns="0" rIns="0" tIns="0" bIns="0" anchor="t">
            <a:spAutoFit/>
          </a:bodyPr>
          <a:lstStyle/>
          <a:p>
            <a:pPr algn="l">
              <a:lnSpc>
                <a:spcPct val="102000"/>
              </a:lnSpc>
              <a:spcBef>
                <a:spcPts val="0"/>
              </a:spcBef>
              <a:spcAft>
                <a:spcPts val="0"/>
              </a:spcAft>
            </a:pPr>
            <a:r>
              <a:rPr sz="840" b="0" i="0">
                <a:solidFill>
                  <a:srgbClr val="080808"/>
                </a:solidFill>
                <a:latin typeface="Segoe UI"/>
              </a:rPr>
              <a:t>coordination layer: matching, verified priority, reservations</a:t>
            </a:r>
          </a:p>
        </p:txBody>
      </p:sp>
      <p:sp>
        <p:nvSpPr>
          <p:cNvPr id="16" name="Right Arrow 15"/>
          <p:cNvSpPr/>
          <p:nvPr/>
        </p:nvSpPr>
        <p:spPr>
          <a:xfrm>
            <a:off x="7824063" y="2103120"/>
            <a:ext cx="402335" cy="164592"/>
          </a:xfrm>
          <a:prstGeom prst="rightArrow">
            <a:avLst>
              <a:gd name="adj1" fmla="val 55000"/>
              <a:gd name="adj2" fmla="val 34000"/>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8299551" y="1755648"/>
            <a:ext cx="3310128" cy="841248"/>
          </a:xfrm>
          <a:prstGeom prst="roundRect">
            <a:avLst>
              <a:gd name="adj" fmla="val 10000"/>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482431" y="1847088"/>
            <a:ext cx="2944368" cy="274320"/>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080808"/>
                </a:solidFill>
                <a:latin typeface="Segoe UI"/>
              </a:rPr>
              <a:t>Coordinated emergency workflow</a:t>
            </a:r>
          </a:p>
        </p:txBody>
      </p:sp>
      <p:sp>
        <p:nvSpPr>
          <p:cNvPr id="19" name="TextBox 18"/>
          <p:cNvSpPr txBox="1"/>
          <p:nvPr/>
        </p:nvSpPr>
        <p:spPr>
          <a:xfrm>
            <a:off x="8482431" y="2139696"/>
            <a:ext cx="2944368" cy="402336"/>
          </a:xfrm>
          <a:prstGeom prst="rect">
            <a:avLst/>
          </a:prstGeom>
          <a:noFill/>
        </p:spPr>
        <p:txBody>
          <a:bodyPr wrap="square" lIns="0" rIns="0" tIns="0" bIns="0" anchor="t">
            <a:spAutoFit/>
          </a:bodyPr>
          <a:lstStyle/>
          <a:p>
            <a:pPr algn="l">
              <a:lnSpc>
                <a:spcPct val="102000"/>
              </a:lnSpc>
              <a:spcBef>
                <a:spcPts val="0"/>
              </a:spcBef>
              <a:spcAft>
                <a:spcPts val="0"/>
              </a:spcAft>
            </a:pPr>
            <a:r>
              <a:rPr sz="840" b="0" i="0">
                <a:solidFill>
                  <a:srgbClr val="080808"/>
                </a:solidFill>
                <a:latin typeface="Segoe UI"/>
              </a:rPr>
              <a:t>structured requests · visible status · protected allocations</a:t>
            </a:r>
          </a:p>
        </p:txBody>
      </p:sp>
      <p:sp>
        <p:nvSpPr>
          <p:cNvPr id="20" name="Rounded Rectangle 19"/>
          <p:cNvSpPr/>
          <p:nvPr/>
        </p:nvSpPr>
        <p:spPr>
          <a:xfrm>
            <a:off x="502920" y="2761488"/>
            <a:ext cx="3017520" cy="274320"/>
          </a:xfrm>
          <a:prstGeom prst="roundRect">
            <a:avLst>
              <a:gd name="adj" fmla="val 50000"/>
            </a:avLst>
          </a:prstGeom>
          <a:solidFill>
            <a:srgbClr val="FFD2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02920" y="2761488"/>
            <a:ext cx="3017520" cy="274320"/>
          </a:xfrm>
          <a:prstGeom prst="rect">
            <a:avLst/>
          </a:prstGeom>
          <a:noFill/>
        </p:spPr>
        <p:txBody>
          <a:bodyPr wrap="square" lIns="0" rIns="0" tIns="0" bIns="0" anchor="ctr">
            <a:spAutoFit/>
          </a:bodyPr>
          <a:lstStyle/>
          <a:p>
            <a:pPr algn="ctr">
              <a:lnSpc>
                <a:spcPct val="100000"/>
              </a:lnSpc>
              <a:spcBef>
                <a:spcPts val="0"/>
              </a:spcBef>
              <a:spcAft>
                <a:spcPts val="0"/>
              </a:spcAft>
            </a:pPr>
            <a:r>
              <a:rPr sz="880" b="1" i="0">
                <a:solidFill>
                  <a:srgbClr val="080808"/>
                </a:solidFill>
                <a:latin typeface="Segoe UI"/>
              </a:rPr>
              <a:t>POTENTIAL REVENUE STREAMS  (PROPOSED)</a:t>
            </a:r>
          </a:p>
        </p:txBody>
      </p:sp>
      <p:sp>
        <p:nvSpPr>
          <p:cNvPr id="22" name="Rounded Rectangle 21"/>
          <p:cNvSpPr/>
          <p:nvPr/>
        </p:nvSpPr>
        <p:spPr>
          <a:xfrm>
            <a:off x="502920" y="3127248"/>
            <a:ext cx="2727655" cy="1060704"/>
          </a:xfrm>
          <a:prstGeom prst="roundRect">
            <a:avLst>
              <a:gd name="adj" fmla="val 9000"/>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649224" y="3273552"/>
            <a:ext cx="310896" cy="310896"/>
          </a:xfrm>
          <a:prstGeom prst="ellipse">
            <a:avLst/>
          </a:prstGeom>
          <a:solidFill>
            <a:srgbClr val="080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49224" y="3273552"/>
            <a:ext cx="310896" cy="310896"/>
          </a:xfrm>
          <a:prstGeom prst="rect">
            <a:avLst/>
          </a:prstGeom>
          <a:noFill/>
        </p:spPr>
        <p:txBody>
          <a:bodyPr wrap="square" lIns="0" rIns="0" tIns="0" bIns="0" anchor="ctr">
            <a:spAutoFit/>
          </a:bodyPr>
          <a:lstStyle/>
          <a:p>
            <a:pPr algn="ctr">
              <a:lnSpc>
                <a:spcPct val="100000"/>
              </a:lnSpc>
              <a:spcBef>
                <a:spcPts val="0"/>
              </a:spcBef>
              <a:spcAft>
                <a:spcPts val="0"/>
              </a:spcAft>
            </a:pPr>
            <a:r>
              <a:rPr sz="1200" b="1" i="0">
                <a:solidFill>
                  <a:srgbClr val="FFD21A"/>
                </a:solidFill>
                <a:latin typeface="Segoe UI"/>
              </a:rPr>
              <a:t>1</a:t>
            </a:r>
          </a:p>
        </p:txBody>
      </p:sp>
      <p:sp>
        <p:nvSpPr>
          <p:cNvPr id="25" name="TextBox 24"/>
          <p:cNvSpPr txBox="1"/>
          <p:nvPr/>
        </p:nvSpPr>
        <p:spPr>
          <a:xfrm>
            <a:off x="1051560" y="3273552"/>
            <a:ext cx="2057400" cy="274320"/>
          </a:xfrm>
          <a:prstGeom prst="rect">
            <a:avLst/>
          </a:prstGeom>
          <a:noFill/>
        </p:spPr>
        <p:txBody>
          <a:bodyPr wrap="square" lIns="0" rIns="0" tIns="0" bIns="0" anchor="ctr">
            <a:spAutoFit/>
          </a:bodyPr>
          <a:lstStyle/>
          <a:p>
            <a:pPr algn="l">
              <a:lnSpc>
                <a:spcPct val="100000"/>
              </a:lnSpc>
              <a:spcBef>
                <a:spcPts val="0"/>
              </a:spcBef>
              <a:spcAft>
                <a:spcPts val="0"/>
              </a:spcAft>
            </a:pPr>
            <a:r>
              <a:rPr sz="1100" b="1" i="0">
                <a:solidFill>
                  <a:srgbClr val="080808"/>
                </a:solidFill>
                <a:latin typeface="Segoe UI"/>
              </a:rPr>
              <a:t>SaaS subscription</a:t>
            </a:r>
          </a:p>
        </p:txBody>
      </p:sp>
      <p:sp>
        <p:nvSpPr>
          <p:cNvPr id="26" name="TextBox 25"/>
          <p:cNvSpPr txBox="1"/>
          <p:nvPr/>
        </p:nvSpPr>
        <p:spPr>
          <a:xfrm>
            <a:off x="667512" y="3639312"/>
            <a:ext cx="2423160" cy="493776"/>
          </a:xfrm>
          <a:prstGeom prst="rect">
            <a:avLst/>
          </a:prstGeom>
          <a:noFill/>
        </p:spPr>
        <p:txBody>
          <a:bodyPr wrap="square" lIns="0" rIns="0" tIns="0" bIns="0" anchor="t">
            <a:spAutoFit/>
          </a:bodyPr>
          <a:lstStyle/>
          <a:p>
            <a:pPr algn="l">
              <a:lnSpc>
                <a:spcPct val="102000"/>
              </a:lnSpc>
              <a:spcBef>
                <a:spcPts val="0"/>
              </a:spcBef>
              <a:spcAft>
                <a:spcPts val="0"/>
              </a:spcAft>
            </a:pPr>
            <a:r>
              <a:rPr sz="860" b="0" i="0">
                <a:solidFill>
                  <a:srgbClr val="080808"/>
                </a:solidFill>
                <a:latin typeface="Segoe UI"/>
              </a:rPr>
              <a:t>Monthly or annual subscriptions for participating hospitals.</a:t>
            </a:r>
          </a:p>
        </p:txBody>
      </p:sp>
      <p:sp>
        <p:nvSpPr>
          <p:cNvPr id="27" name="Rounded Rectangle 26"/>
          <p:cNvSpPr/>
          <p:nvPr/>
        </p:nvSpPr>
        <p:spPr>
          <a:xfrm>
            <a:off x="3322015" y="3127248"/>
            <a:ext cx="2727655" cy="1060704"/>
          </a:xfrm>
          <a:prstGeom prst="roundRect">
            <a:avLst>
              <a:gd name="adj" fmla="val 9000"/>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3468319" y="3273552"/>
            <a:ext cx="310896" cy="310896"/>
          </a:xfrm>
          <a:prstGeom prst="ellipse">
            <a:avLst/>
          </a:prstGeom>
          <a:solidFill>
            <a:srgbClr val="080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3468319" y="3273552"/>
            <a:ext cx="310896" cy="310896"/>
          </a:xfrm>
          <a:prstGeom prst="rect">
            <a:avLst/>
          </a:prstGeom>
          <a:noFill/>
        </p:spPr>
        <p:txBody>
          <a:bodyPr wrap="square" lIns="0" rIns="0" tIns="0" bIns="0" anchor="ctr">
            <a:spAutoFit/>
          </a:bodyPr>
          <a:lstStyle/>
          <a:p>
            <a:pPr algn="ctr">
              <a:lnSpc>
                <a:spcPct val="100000"/>
              </a:lnSpc>
              <a:spcBef>
                <a:spcPts val="0"/>
              </a:spcBef>
              <a:spcAft>
                <a:spcPts val="0"/>
              </a:spcAft>
            </a:pPr>
            <a:r>
              <a:rPr sz="1200" b="1" i="0">
                <a:solidFill>
                  <a:srgbClr val="FFD21A"/>
                </a:solidFill>
                <a:latin typeface="Segoe UI"/>
              </a:rPr>
              <a:t>2</a:t>
            </a:r>
          </a:p>
        </p:txBody>
      </p:sp>
      <p:sp>
        <p:nvSpPr>
          <p:cNvPr id="30" name="TextBox 29"/>
          <p:cNvSpPr txBox="1"/>
          <p:nvPr/>
        </p:nvSpPr>
        <p:spPr>
          <a:xfrm>
            <a:off x="3870655" y="3273552"/>
            <a:ext cx="2057400" cy="274320"/>
          </a:xfrm>
          <a:prstGeom prst="rect">
            <a:avLst/>
          </a:prstGeom>
          <a:noFill/>
        </p:spPr>
        <p:txBody>
          <a:bodyPr wrap="square" lIns="0" rIns="0" tIns="0" bIns="0" anchor="ctr">
            <a:spAutoFit/>
          </a:bodyPr>
          <a:lstStyle/>
          <a:p>
            <a:pPr algn="l">
              <a:lnSpc>
                <a:spcPct val="100000"/>
              </a:lnSpc>
              <a:spcBef>
                <a:spcPts val="0"/>
              </a:spcBef>
              <a:spcAft>
                <a:spcPts val="0"/>
              </a:spcAft>
            </a:pPr>
            <a:r>
              <a:rPr sz="1100" b="1" i="0">
                <a:solidFill>
                  <a:srgbClr val="080808"/>
                </a:solidFill>
                <a:latin typeface="Segoe UI"/>
              </a:rPr>
              <a:t>Enterprise plans</a:t>
            </a:r>
          </a:p>
        </p:txBody>
      </p:sp>
      <p:sp>
        <p:nvSpPr>
          <p:cNvPr id="31" name="TextBox 30"/>
          <p:cNvSpPr txBox="1"/>
          <p:nvPr/>
        </p:nvSpPr>
        <p:spPr>
          <a:xfrm>
            <a:off x="3486607" y="3639312"/>
            <a:ext cx="2423160" cy="493776"/>
          </a:xfrm>
          <a:prstGeom prst="rect">
            <a:avLst/>
          </a:prstGeom>
          <a:noFill/>
        </p:spPr>
        <p:txBody>
          <a:bodyPr wrap="square" lIns="0" rIns="0" tIns="0" bIns="0" anchor="t">
            <a:spAutoFit/>
          </a:bodyPr>
          <a:lstStyle/>
          <a:p>
            <a:pPr algn="l">
              <a:lnSpc>
                <a:spcPct val="102000"/>
              </a:lnSpc>
              <a:spcBef>
                <a:spcPts val="0"/>
              </a:spcBef>
              <a:spcAft>
                <a:spcPts val="0"/>
              </a:spcAft>
            </a:pPr>
            <a:r>
              <a:rPr sz="860" b="0" i="0">
                <a:solidFill>
                  <a:srgbClr val="080808"/>
                </a:solidFill>
                <a:latin typeface="Segoe UI"/>
              </a:rPr>
              <a:t>Priced by facilities, user accounts, operational needs and support.</a:t>
            </a:r>
          </a:p>
        </p:txBody>
      </p:sp>
      <p:sp>
        <p:nvSpPr>
          <p:cNvPr id="32" name="Rounded Rectangle 31"/>
          <p:cNvSpPr/>
          <p:nvPr/>
        </p:nvSpPr>
        <p:spPr>
          <a:xfrm>
            <a:off x="6141110" y="3127248"/>
            <a:ext cx="2727655" cy="1060704"/>
          </a:xfrm>
          <a:prstGeom prst="roundRect">
            <a:avLst>
              <a:gd name="adj" fmla="val 9000"/>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Oval 32"/>
          <p:cNvSpPr/>
          <p:nvPr/>
        </p:nvSpPr>
        <p:spPr>
          <a:xfrm>
            <a:off x="6287414" y="3273552"/>
            <a:ext cx="310896" cy="310896"/>
          </a:xfrm>
          <a:prstGeom prst="ellipse">
            <a:avLst/>
          </a:prstGeom>
          <a:solidFill>
            <a:srgbClr val="080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287414" y="3273552"/>
            <a:ext cx="310896" cy="310896"/>
          </a:xfrm>
          <a:prstGeom prst="rect">
            <a:avLst/>
          </a:prstGeom>
          <a:noFill/>
        </p:spPr>
        <p:txBody>
          <a:bodyPr wrap="square" lIns="0" rIns="0" tIns="0" bIns="0" anchor="ctr">
            <a:spAutoFit/>
          </a:bodyPr>
          <a:lstStyle/>
          <a:p>
            <a:pPr algn="ctr">
              <a:lnSpc>
                <a:spcPct val="100000"/>
              </a:lnSpc>
              <a:spcBef>
                <a:spcPts val="0"/>
              </a:spcBef>
              <a:spcAft>
                <a:spcPts val="0"/>
              </a:spcAft>
            </a:pPr>
            <a:r>
              <a:rPr sz="1200" b="1" i="0">
                <a:solidFill>
                  <a:srgbClr val="FFD21A"/>
                </a:solidFill>
                <a:latin typeface="Segoe UI"/>
              </a:rPr>
              <a:t>3</a:t>
            </a:r>
          </a:p>
        </p:txBody>
      </p:sp>
      <p:sp>
        <p:nvSpPr>
          <p:cNvPr id="35" name="TextBox 34"/>
          <p:cNvSpPr txBox="1"/>
          <p:nvPr/>
        </p:nvSpPr>
        <p:spPr>
          <a:xfrm>
            <a:off x="6689750" y="3273552"/>
            <a:ext cx="2057400" cy="274320"/>
          </a:xfrm>
          <a:prstGeom prst="rect">
            <a:avLst/>
          </a:prstGeom>
          <a:noFill/>
        </p:spPr>
        <p:txBody>
          <a:bodyPr wrap="square" lIns="0" rIns="0" tIns="0" bIns="0" anchor="ctr">
            <a:spAutoFit/>
          </a:bodyPr>
          <a:lstStyle/>
          <a:p>
            <a:pPr algn="l">
              <a:lnSpc>
                <a:spcPct val="100000"/>
              </a:lnSpc>
              <a:spcBef>
                <a:spcPts val="0"/>
              </a:spcBef>
              <a:spcAft>
                <a:spcPts val="0"/>
              </a:spcAft>
            </a:pPr>
            <a:r>
              <a:rPr sz="1100" b="1" i="0">
                <a:solidFill>
                  <a:srgbClr val="080808"/>
                </a:solidFill>
                <a:latin typeface="Segoe UI"/>
              </a:rPr>
              <a:t>Setup &amp; integration</a:t>
            </a:r>
          </a:p>
        </p:txBody>
      </p:sp>
      <p:sp>
        <p:nvSpPr>
          <p:cNvPr id="36" name="TextBox 35"/>
          <p:cNvSpPr txBox="1"/>
          <p:nvPr/>
        </p:nvSpPr>
        <p:spPr>
          <a:xfrm>
            <a:off x="6305702" y="3639312"/>
            <a:ext cx="2423160" cy="493776"/>
          </a:xfrm>
          <a:prstGeom prst="rect">
            <a:avLst/>
          </a:prstGeom>
          <a:noFill/>
        </p:spPr>
        <p:txBody>
          <a:bodyPr wrap="square" lIns="0" rIns="0" tIns="0" bIns="0" anchor="t">
            <a:spAutoFit/>
          </a:bodyPr>
          <a:lstStyle/>
          <a:p>
            <a:pPr algn="l">
              <a:lnSpc>
                <a:spcPct val="102000"/>
              </a:lnSpc>
              <a:spcBef>
                <a:spcPts val="0"/>
              </a:spcBef>
              <a:spcAft>
                <a:spcPts val="0"/>
              </a:spcAft>
            </a:pPr>
            <a:r>
              <a:rPr sz="860" b="0" i="0">
                <a:solidFill>
                  <a:srgbClr val="080808"/>
                </a:solidFill>
                <a:latin typeface="Segoe UI"/>
              </a:rPr>
              <a:t>Onboarding, configuration, training and approved integrations.</a:t>
            </a:r>
          </a:p>
        </p:txBody>
      </p:sp>
      <p:sp>
        <p:nvSpPr>
          <p:cNvPr id="37" name="Rounded Rectangle 36"/>
          <p:cNvSpPr/>
          <p:nvPr/>
        </p:nvSpPr>
        <p:spPr>
          <a:xfrm>
            <a:off x="8960205" y="3127248"/>
            <a:ext cx="2727655" cy="1060704"/>
          </a:xfrm>
          <a:prstGeom prst="roundRect">
            <a:avLst>
              <a:gd name="adj" fmla="val 9000"/>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Oval 37"/>
          <p:cNvSpPr/>
          <p:nvPr/>
        </p:nvSpPr>
        <p:spPr>
          <a:xfrm>
            <a:off x="9106509" y="3273552"/>
            <a:ext cx="310896" cy="310896"/>
          </a:xfrm>
          <a:prstGeom prst="ellipse">
            <a:avLst/>
          </a:prstGeom>
          <a:solidFill>
            <a:srgbClr val="080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9106509" y="3273552"/>
            <a:ext cx="310896" cy="310896"/>
          </a:xfrm>
          <a:prstGeom prst="rect">
            <a:avLst/>
          </a:prstGeom>
          <a:noFill/>
        </p:spPr>
        <p:txBody>
          <a:bodyPr wrap="square" lIns="0" rIns="0" tIns="0" bIns="0" anchor="ctr">
            <a:spAutoFit/>
          </a:bodyPr>
          <a:lstStyle/>
          <a:p>
            <a:pPr algn="ctr">
              <a:lnSpc>
                <a:spcPct val="100000"/>
              </a:lnSpc>
              <a:spcBef>
                <a:spcPts val="0"/>
              </a:spcBef>
              <a:spcAft>
                <a:spcPts val="0"/>
              </a:spcAft>
            </a:pPr>
            <a:r>
              <a:rPr sz="1200" b="1" i="0">
                <a:solidFill>
                  <a:srgbClr val="FFD21A"/>
                </a:solidFill>
                <a:latin typeface="Segoe UI"/>
              </a:rPr>
              <a:t>4</a:t>
            </a:r>
          </a:p>
        </p:txBody>
      </p:sp>
      <p:sp>
        <p:nvSpPr>
          <p:cNvPr id="40" name="TextBox 39"/>
          <p:cNvSpPr txBox="1"/>
          <p:nvPr/>
        </p:nvSpPr>
        <p:spPr>
          <a:xfrm>
            <a:off x="9508845" y="3273552"/>
            <a:ext cx="2057400" cy="274320"/>
          </a:xfrm>
          <a:prstGeom prst="rect">
            <a:avLst/>
          </a:prstGeom>
          <a:noFill/>
        </p:spPr>
        <p:txBody>
          <a:bodyPr wrap="square" lIns="0" rIns="0" tIns="0" bIns="0" anchor="ctr">
            <a:spAutoFit/>
          </a:bodyPr>
          <a:lstStyle/>
          <a:p>
            <a:pPr algn="l">
              <a:lnSpc>
                <a:spcPct val="100000"/>
              </a:lnSpc>
              <a:spcBef>
                <a:spcPts val="0"/>
              </a:spcBef>
              <a:spcAft>
                <a:spcPts val="0"/>
              </a:spcAft>
            </a:pPr>
            <a:r>
              <a:rPr sz="1100" b="1" i="0">
                <a:solidFill>
                  <a:srgbClr val="080808"/>
                </a:solidFill>
                <a:latin typeface="Segoe UI"/>
              </a:rPr>
              <a:t>Reporting &amp; analytics</a:t>
            </a:r>
          </a:p>
        </p:txBody>
      </p:sp>
      <p:sp>
        <p:nvSpPr>
          <p:cNvPr id="41" name="TextBox 40"/>
          <p:cNvSpPr txBox="1"/>
          <p:nvPr/>
        </p:nvSpPr>
        <p:spPr>
          <a:xfrm>
            <a:off x="9124797" y="3639312"/>
            <a:ext cx="2423160" cy="493776"/>
          </a:xfrm>
          <a:prstGeom prst="rect">
            <a:avLst/>
          </a:prstGeom>
          <a:noFill/>
        </p:spPr>
        <p:txBody>
          <a:bodyPr wrap="square" lIns="0" rIns="0" tIns="0" bIns="0" anchor="t">
            <a:spAutoFit/>
          </a:bodyPr>
          <a:lstStyle/>
          <a:p>
            <a:pPr algn="l">
              <a:lnSpc>
                <a:spcPct val="102000"/>
              </a:lnSpc>
              <a:spcBef>
                <a:spcPts val="0"/>
              </a:spcBef>
              <a:spcAft>
                <a:spcPts val="0"/>
              </a:spcAft>
            </a:pPr>
            <a:r>
              <a:rPr sz="860" b="0" i="0">
                <a:solidFill>
                  <a:srgbClr val="080808"/>
                </a:solidFill>
                <a:latin typeface="Segoe UI"/>
              </a:rPr>
              <a:t>Optional operational reporting and capacity-visibility services.</a:t>
            </a:r>
          </a:p>
        </p:txBody>
      </p:sp>
      <p:sp>
        <p:nvSpPr>
          <p:cNvPr id="42" name="Rounded Rectangle 41"/>
          <p:cNvSpPr/>
          <p:nvPr/>
        </p:nvSpPr>
        <p:spPr>
          <a:xfrm>
            <a:off x="502920" y="4352544"/>
            <a:ext cx="5486400" cy="1737360"/>
          </a:xfrm>
          <a:prstGeom prst="roundRect">
            <a:avLst>
              <a:gd name="adj" fmla="val 7000"/>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722376" y="4462272"/>
            <a:ext cx="5029200" cy="237744"/>
          </a:xfrm>
          <a:prstGeom prst="rect">
            <a:avLst/>
          </a:prstGeom>
          <a:noFill/>
        </p:spPr>
        <p:txBody>
          <a:bodyPr wrap="square" lIns="0" rIns="0" tIns="0" bIns="0" anchor="t">
            <a:spAutoFit/>
          </a:bodyPr>
          <a:lstStyle/>
          <a:p>
            <a:pPr algn="l">
              <a:lnSpc>
                <a:spcPct val="100000"/>
              </a:lnSpc>
              <a:spcBef>
                <a:spcPts val="0"/>
              </a:spcBef>
              <a:spcAft>
                <a:spcPts val="0"/>
              </a:spcAft>
            </a:pPr>
            <a:r>
              <a:rPr sz="1050" b="1" i="0">
                <a:solidFill>
                  <a:srgbClr val="080808"/>
                </a:solidFill>
                <a:latin typeface="Segoe UI"/>
              </a:rPr>
              <a:t>VALUE PROPOSITION</a:t>
            </a:r>
          </a:p>
        </p:txBody>
      </p:sp>
      <p:sp>
        <p:nvSpPr>
          <p:cNvPr id="44" name="Oval 43"/>
          <p:cNvSpPr/>
          <p:nvPr/>
        </p:nvSpPr>
        <p:spPr>
          <a:xfrm>
            <a:off x="722376" y="4773168"/>
            <a:ext cx="182880" cy="182880"/>
          </a:xfrm>
          <a:prstGeom prst="ellipse">
            <a:avLst/>
          </a:prstGeom>
          <a:solidFill>
            <a:srgbClr val="080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rot="2700000">
            <a:off x="771022" y="4856286"/>
            <a:ext cx="52303" cy="190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rot="18900000">
            <a:off x="801928" y="4828946"/>
            <a:ext cx="73700" cy="190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978408" y="4754880"/>
            <a:ext cx="4818888" cy="246888"/>
          </a:xfrm>
          <a:prstGeom prst="rect">
            <a:avLst/>
          </a:prstGeom>
          <a:noFill/>
        </p:spPr>
        <p:txBody>
          <a:bodyPr wrap="square" lIns="0" rIns="0" tIns="0" bIns="0" anchor="ctr">
            <a:spAutoFit/>
          </a:bodyPr>
          <a:lstStyle/>
          <a:p>
            <a:pPr algn="l">
              <a:lnSpc>
                <a:spcPct val="100000"/>
              </a:lnSpc>
              <a:spcBef>
                <a:spcPts val="0"/>
              </a:spcBef>
              <a:spcAft>
                <a:spcPts val="0"/>
              </a:spcAft>
            </a:pPr>
            <a:r>
              <a:rPr sz="880" b="0" i="0">
                <a:solidFill>
                  <a:srgbClr val="080808"/>
                </a:solidFill>
                <a:latin typeface="Segoe UI"/>
              </a:rPr>
              <a:t>Structured emergency request handling</a:t>
            </a:r>
          </a:p>
        </p:txBody>
      </p:sp>
      <p:sp>
        <p:nvSpPr>
          <p:cNvPr id="48" name="Oval 47"/>
          <p:cNvSpPr/>
          <p:nvPr/>
        </p:nvSpPr>
        <p:spPr>
          <a:xfrm>
            <a:off x="722376" y="5020056"/>
            <a:ext cx="182880" cy="182880"/>
          </a:xfrm>
          <a:prstGeom prst="ellipse">
            <a:avLst/>
          </a:prstGeom>
          <a:solidFill>
            <a:srgbClr val="080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ectangle 48"/>
          <p:cNvSpPr/>
          <p:nvPr/>
        </p:nvSpPr>
        <p:spPr>
          <a:xfrm rot="2700000">
            <a:off x="771022" y="5103174"/>
            <a:ext cx="52303" cy="190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ectangle 49"/>
          <p:cNvSpPr/>
          <p:nvPr/>
        </p:nvSpPr>
        <p:spPr>
          <a:xfrm rot="18900000">
            <a:off x="801928" y="5075834"/>
            <a:ext cx="73700" cy="190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978408" y="5001768"/>
            <a:ext cx="4818888" cy="246888"/>
          </a:xfrm>
          <a:prstGeom prst="rect">
            <a:avLst/>
          </a:prstGeom>
          <a:noFill/>
        </p:spPr>
        <p:txBody>
          <a:bodyPr wrap="square" lIns="0" rIns="0" tIns="0" bIns="0" anchor="ctr">
            <a:spAutoFit/>
          </a:bodyPr>
          <a:lstStyle/>
          <a:p>
            <a:pPr algn="l">
              <a:lnSpc>
                <a:spcPct val="100000"/>
              </a:lnSpc>
              <a:spcBef>
                <a:spcPts val="0"/>
              </a:spcBef>
              <a:spcAft>
                <a:spcPts val="0"/>
              </a:spcAft>
            </a:pPr>
            <a:r>
              <a:rPr sz="880" b="0" i="0">
                <a:solidFill>
                  <a:srgbClr val="080808"/>
                </a:solidFill>
                <a:latin typeface="Segoe UI"/>
              </a:rPr>
              <a:t>More visible reservation status</a:t>
            </a:r>
          </a:p>
        </p:txBody>
      </p:sp>
      <p:sp>
        <p:nvSpPr>
          <p:cNvPr id="52" name="Oval 51"/>
          <p:cNvSpPr/>
          <p:nvPr/>
        </p:nvSpPr>
        <p:spPr>
          <a:xfrm>
            <a:off x="722376" y="5266944"/>
            <a:ext cx="182880" cy="182880"/>
          </a:xfrm>
          <a:prstGeom prst="ellipse">
            <a:avLst/>
          </a:prstGeom>
          <a:solidFill>
            <a:srgbClr val="080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ectangle 52"/>
          <p:cNvSpPr/>
          <p:nvPr/>
        </p:nvSpPr>
        <p:spPr>
          <a:xfrm rot="2700000">
            <a:off x="771022" y="5350062"/>
            <a:ext cx="52303" cy="190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ectangle 53"/>
          <p:cNvSpPr/>
          <p:nvPr/>
        </p:nvSpPr>
        <p:spPr>
          <a:xfrm rot="18900000">
            <a:off x="801928" y="5322722"/>
            <a:ext cx="73700" cy="190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978408" y="5248656"/>
            <a:ext cx="4818888" cy="246888"/>
          </a:xfrm>
          <a:prstGeom prst="rect">
            <a:avLst/>
          </a:prstGeom>
          <a:noFill/>
        </p:spPr>
        <p:txBody>
          <a:bodyPr wrap="square" lIns="0" rIns="0" tIns="0" bIns="0" anchor="ctr">
            <a:spAutoFit/>
          </a:bodyPr>
          <a:lstStyle/>
          <a:p>
            <a:pPr algn="l">
              <a:lnSpc>
                <a:spcPct val="100000"/>
              </a:lnSpc>
              <a:spcBef>
                <a:spcPts val="0"/>
              </a:spcBef>
              <a:spcAft>
                <a:spcPts val="0"/>
              </a:spcAft>
            </a:pPr>
            <a:r>
              <a:rPr sz="880" b="0" i="0">
                <a:solidFill>
                  <a:srgbClr val="080808"/>
                </a:solidFill>
                <a:latin typeface="Segoe UI"/>
              </a:rPr>
              <a:t>Better coordination across participating facilities</a:t>
            </a:r>
          </a:p>
        </p:txBody>
      </p:sp>
      <p:sp>
        <p:nvSpPr>
          <p:cNvPr id="56" name="Oval 55"/>
          <p:cNvSpPr/>
          <p:nvPr/>
        </p:nvSpPr>
        <p:spPr>
          <a:xfrm>
            <a:off x="722376" y="5513831"/>
            <a:ext cx="182880" cy="182880"/>
          </a:xfrm>
          <a:prstGeom prst="ellipse">
            <a:avLst/>
          </a:prstGeom>
          <a:solidFill>
            <a:srgbClr val="080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Rectangle 56"/>
          <p:cNvSpPr/>
          <p:nvPr/>
        </p:nvSpPr>
        <p:spPr>
          <a:xfrm rot="2700000">
            <a:off x="771022" y="5596950"/>
            <a:ext cx="52303" cy="190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Rectangle 57"/>
          <p:cNvSpPr/>
          <p:nvPr/>
        </p:nvSpPr>
        <p:spPr>
          <a:xfrm rot="18900000">
            <a:off x="801928" y="5569610"/>
            <a:ext cx="73700" cy="190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978408" y="5495544"/>
            <a:ext cx="4818888" cy="246888"/>
          </a:xfrm>
          <a:prstGeom prst="rect">
            <a:avLst/>
          </a:prstGeom>
          <a:noFill/>
        </p:spPr>
        <p:txBody>
          <a:bodyPr wrap="square" lIns="0" rIns="0" tIns="0" bIns="0" anchor="ctr">
            <a:spAutoFit/>
          </a:bodyPr>
          <a:lstStyle/>
          <a:p>
            <a:pPr algn="l">
              <a:lnSpc>
                <a:spcPct val="100000"/>
              </a:lnSpc>
              <a:spcBef>
                <a:spcPts val="0"/>
              </a:spcBef>
              <a:spcAft>
                <a:spcPts val="0"/>
              </a:spcAft>
            </a:pPr>
            <a:r>
              <a:rPr sz="880" b="0" i="0">
                <a:solidFill>
                  <a:srgbClr val="080808"/>
                </a:solidFill>
                <a:latin typeface="Segoe UI"/>
              </a:rPr>
              <a:t>Potential reduction in manual coordination effort*</a:t>
            </a:r>
          </a:p>
        </p:txBody>
      </p:sp>
      <p:sp>
        <p:nvSpPr>
          <p:cNvPr id="60" name="Oval 59"/>
          <p:cNvSpPr/>
          <p:nvPr/>
        </p:nvSpPr>
        <p:spPr>
          <a:xfrm>
            <a:off x="722376" y="5760720"/>
            <a:ext cx="182880" cy="182880"/>
          </a:xfrm>
          <a:prstGeom prst="ellipse">
            <a:avLst/>
          </a:prstGeom>
          <a:solidFill>
            <a:srgbClr val="080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Rectangle 60"/>
          <p:cNvSpPr/>
          <p:nvPr/>
        </p:nvSpPr>
        <p:spPr>
          <a:xfrm rot="2700000">
            <a:off x="771022" y="5843838"/>
            <a:ext cx="52303" cy="190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Rectangle 61"/>
          <p:cNvSpPr/>
          <p:nvPr/>
        </p:nvSpPr>
        <p:spPr>
          <a:xfrm rot="18900000">
            <a:off x="801928" y="5816498"/>
            <a:ext cx="73700" cy="190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978408" y="5742432"/>
            <a:ext cx="4818888" cy="246888"/>
          </a:xfrm>
          <a:prstGeom prst="rect">
            <a:avLst/>
          </a:prstGeom>
          <a:noFill/>
        </p:spPr>
        <p:txBody>
          <a:bodyPr wrap="square" lIns="0" rIns="0" tIns="0" bIns="0" anchor="ctr">
            <a:spAutoFit/>
          </a:bodyPr>
          <a:lstStyle/>
          <a:p>
            <a:pPr algn="l">
              <a:lnSpc>
                <a:spcPct val="100000"/>
              </a:lnSpc>
              <a:spcBef>
                <a:spcPts val="0"/>
              </a:spcBef>
              <a:spcAft>
                <a:spcPts val="0"/>
              </a:spcAft>
            </a:pPr>
            <a:r>
              <a:rPr sz="880" b="0" i="0">
                <a:solidFill>
                  <a:srgbClr val="080808"/>
                </a:solidFill>
                <a:latin typeface="Segoe UI"/>
              </a:rPr>
              <a:t>Foundation for integration with verified hospital systems</a:t>
            </a:r>
          </a:p>
        </p:txBody>
      </p:sp>
      <p:sp>
        <p:nvSpPr>
          <p:cNvPr id="64" name="Rounded Rectangle 63"/>
          <p:cNvSpPr/>
          <p:nvPr/>
        </p:nvSpPr>
        <p:spPr>
          <a:xfrm>
            <a:off x="6199632" y="4352544"/>
            <a:ext cx="5477256" cy="804672"/>
          </a:xfrm>
          <a:prstGeom prst="roundRect">
            <a:avLst>
              <a:gd name="adj" fmla="val 9000"/>
            </a:avLst>
          </a:prstGeom>
          <a:solidFill>
            <a:srgbClr val="683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TextBox 64"/>
          <p:cNvSpPr txBox="1"/>
          <p:nvPr/>
        </p:nvSpPr>
        <p:spPr>
          <a:xfrm>
            <a:off x="6382512" y="4425696"/>
            <a:ext cx="5120640" cy="219456"/>
          </a:xfrm>
          <a:prstGeom prst="rect">
            <a:avLst/>
          </a:prstGeom>
          <a:noFill/>
        </p:spPr>
        <p:txBody>
          <a:bodyPr wrap="square" lIns="0" rIns="0" tIns="0" bIns="0" anchor="t">
            <a:spAutoFit/>
          </a:bodyPr>
          <a:lstStyle/>
          <a:p>
            <a:pPr algn="l">
              <a:lnSpc>
                <a:spcPct val="100000"/>
              </a:lnSpc>
              <a:spcBef>
                <a:spcPts val="0"/>
              </a:spcBef>
              <a:spcAft>
                <a:spcPts val="0"/>
              </a:spcAft>
            </a:pPr>
            <a:r>
              <a:rPr sz="960" b="1" i="0">
                <a:solidFill>
                  <a:srgbClr val="FFD21A"/>
                </a:solidFill>
                <a:latin typeface="Segoe UI"/>
              </a:rPr>
              <a:t>TARGET CUSTOMERS</a:t>
            </a:r>
          </a:p>
        </p:txBody>
      </p:sp>
      <p:sp>
        <p:nvSpPr>
          <p:cNvPr id="66" name="TextBox 65"/>
          <p:cNvSpPr txBox="1"/>
          <p:nvPr/>
        </p:nvSpPr>
        <p:spPr>
          <a:xfrm>
            <a:off x="6382512" y="4663440"/>
            <a:ext cx="5120640" cy="457200"/>
          </a:xfrm>
          <a:prstGeom prst="rect">
            <a:avLst/>
          </a:prstGeom>
          <a:noFill/>
        </p:spPr>
        <p:txBody>
          <a:bodyPr wrap="square" lIns="0" rIns="0" tIns="0" bIns="0" anchor="t">
            <a:spAutoFit/>
          </a:bodyPr>
          <a:lstStyle/>
          <a:p>
            <a:pPr algn="l">
              <a:lnSpc>
                <a:spcPct val="104000"/>
              </a:lnSpc>
              <a:spcBef>
                <a:spcPts val="0"/>
              </a:spcBef>
              <a:spcAft>
                <a:spcPts val="0"/>
              </a:spcAft>
            </a:pPr>
            <a:r>
              <a:rPr sz="860" b="0" i="0">
                <a:solidFill>
                  <a:srgbClr val="FFFFFF"/>
                </a:solidFill>
                <a:latin typeface="Segoe UI"/>
              </a:rPr>
              <a:t>Private hospitals · multi-hospital groups · healthcare networks · emergency coordination organisations · public-sector programs**</a:t>
            </a:r>
          </a:p>
        </p:txBody>
      </p:sp>
      <p:sp>
        <p:nvSpPr>
          <p:cNvPr id="67" name="Rounded Rectangle 66"/>
          <p:cNvSpPr/>
          <p:nvPr/>
        </p:nvSpPr>
        <p:spPr>
          <a:xfrm>
            <a:off x="6199632" y="5230368"/>
            <a:ext cx="5477256" cy="859536"/>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TextBox 67"/>
          <p:cNvSpPr txBox="1"/>
          <p:nvPr/>
        </p:nvSpPr>
        <p:spPr>
          <a:xfrm>
            <a:off x="6382512" y="5321808"/>
            <a:ext cx="5120640" cy="219456"/>
          </a:xfrm>
          <a:prstGeom prst="rect">
            <a:avLst/>
          </a:prstGeom>
          <a:noFill/>
        </p:spPr>
        <p:txBody>
          <a:bodyPr wrap="square" lIns="0" rIns="0" tIns="0" bIns="0" anchor="t">
            <a:spAutoFit/>
          </a:bodyPr>
          <a:lstStyle/>
          <a:p>
            <a:pPr algn="l">
              <a:lnSpc>
                <a:spcPct val="100000"/>
              </a:lnSpc>
              <a:spcBef>
                <a:spcPts val="0"/>
              </a:spcBef>
              <a:spcAft>
                <a:spcPts val="0"/>
              </a:spcAft>
            </a:pPr>
            <a:r>
              <a:rPr sz="960" b="1" i="0">
                <a:solidFill>
                  <a:srgbClr val="0719C8"/>
                </a:solidFill>
                <a:latin typeface="Segoe UI"/>
              </a:rPr>
              <a:t>GROWTH PATH — PILOT FIRST</a:t>
            </a:r>
          </a:p>
        </p:txBody>
      </p:sp>
      <p:sp>
        <p:nvSpPr>
          <p:cNvPr id="69" name="TextBox 68"/>
          <p:cNvSpPr txBox="1"/>
          <p:nvPr/>
        </p:nvSpPr>
        <p:spPr>
          <a:xfrm>
            <a:off x="6382512" y="5559552"/>
            <a:ext cx="5120640" cy="475488"/>
          </a:xfrm>
          <a:prstGeom prst="rect">
            <a:avLst/>
          </a:prstGeom>
          <a:noFill/>
        </p:spPr>
        <p:txBody>
          <a:bodyPr wrap="square" lIns="0" rIns="0" tIns="0" bIns="0" anchor="t">
            <a:spAutoFit/>
          </a:bodyPr>
          <a:lstStyle/>
          <a:p>
            <a:pPr algn="l">
              <a:lnSpc>
                <a:spcPct val="104000"/>
              </a:lnSpc>
              <a:spcBef>
                <a:spcPts val="0"/>
              </a:spcBef>
              <a:spcAft>
                <a:spcPts val="0"/>
              </a:spcAft>
            </a:pPr>
            <a:r>
              <a:rPr sz="860" b="0" i="0">
                <a:solidFill>
                  <a:srgbClr val="3A3F52"/>
                </a:solidFill>
                <a:latin typeface="Segoe UI"/>
              </a:rPr>
              <a:t>Controlled pilot → measure processing time, recommendation accuracy, reservation conflicts, operator workload &amp; adoption → then expand.</a:t>
            </a:r>
          </a:p>
        </p:txBody>
      </p:sp>
      <p:sp>
        <p:nvSpPr>
          <p:cNvPr id="70" name="TextBox 69"/>
          <p:cNvSpPr txBox="1"/>
          <p:nvPr/>
        </p:nvSpPr>
        <p:spPr>
          <a:xfrm>
            <a:off x="502920" y="6163056"/>
            <a:ext cx="11185855" cy="219456"/>
          </a:xfrm>
          <a:prstGeom prst="rect">
            <a:avLst/>
          </a:prstGeom>
          <a:noFill/>
        </p:spPr>
        <p:txBody>
          <a:bodyPr wrap="square" lIns="0" rIns="0" tIns="0" bIns="0" anchor="t">
            <a:spAutoFit/>
          </a:bodyPr>
          <a:lstStyle/>
          <a:p>
            <a:pPr algn="l">
              <a:lnSpc>
                <a:spcPct val="100000"/>
              </a:lnSpc>
              <a:spcBef>
                <a:spcPts val="0"/>
              </a:spcBef>
              <a:spcAft>
                <a:spcPts val="0"/>
              </a:spcAft>
            </a:pPr>
            <a:r>
              <a:rPr sz="780" b="0" i="1">
                <a:solidFill>
                  <a:srgbClr val="C9D2F7"/>
                </a:solidFill>
                <a:latin typeface="Segoe UI"/>
              </a:rPr>
              <a:t>*Subject to validation.   **Public-sector participation subject to authorization and procurement requirements. No market size, customers or revenue are claimed.</a:t>
            </a:r>
          </a:p>
        </p:txBody>
      </p:sp>
      <p:sp>
        <p:nvSpPr>
          <p:cNvPr id="71" name="TextBox 70"/>
          <p:cNvSpPr txBox="1"/>
          <p:nvPr/>
        </p:nvSpPr>
        <p:spPr>
          <a:xfrm>
            <a:off x="502920" y="6492240"/>
            <a:ext cx="7315200" cy="237744"/>
          </a:xfrm>
          <a:prstGeom prst="rect">
            <a:avLst/>
          </a:prstGeom>
          <a:noFill/>
        </p:spPr>
        <p:txBody>
          <a:bodyPr wrap="square" lIns="0" rIns="0" tIns="0" bIns="0" anchor="t">
            <a:spAutoFit/>
          </a:bodyPr>
          <a:lstStyle/>
          <a:p>
            <a:pPr algn="l">
              <a:lnSpc>
                <a:spcPct val="100000"/>
              </a:lnSpc>
              <a:spcBef>
                <a:spcPts val="0"/>
              </a:spcBef>
              <a:spcAft>
                <a:spcPts val="0"/>
              </a:spcAft>
            </a:pPr>
            <a:r>
              <a:rPr sz="850" b="0" i="0">
                <a:solidFill>
                  <a:srgbClr val="FFFFFF"/>
                </a:solidFill>
                <a:latin typeface="Segoe UI"/>
              </a:rPr>
              <a:t>CareRoute — Emergency Bed Coordination System   ·   Team Tech Head</a:t>
            </a:r>
          </a:p>
        </p:txBody>
      </p:sp>
      <p:sp>
        <p:nvSpPr>
          <p:cNvPr id="72" name="TextBox 71"/>
          <p:cNvSpPr txBox="1"/>
          <p:nvPr/>
        </p:nvSpPr>
        <p:spPr>
          <a:xfrm>
            <a:off x="10378440" y="6492240"/>
            <a:ext cx="1307592" cy="237744"/>
          </a:xfrm>
          <a:prstGeom prst="rect">
            <a:avLst/>
          </a:prstGeom>
          <a:noFill/>
        </p:spPr>
        <p:txBody>
          <a:bodyPr wrap="square" lIns="0" rIns="0" tIns="0" bIns="0" anchor="t">
            <a:spAutoFit/>
          </a:bodyPr>
          <a:lstStyle/>
          <a:p>
            <a:pPr algn="r">
              <a:lnSpc>
                <a:spcPct val="100000"/>
              </a:lnSpc>
              <a:spcBef>
                <a:spcPts val="0"/>
              </a:spcBef>
              <a:spcAft>
                <a:spcPts val="0"/>
              </a:spcAft>
            </a:pPr>
            <a:r>
              <a:rPr sz="850" b="1" i="0">
                <a:solidFill>
                  <a:srgbClr val="FFFFFF"/>
                </a:solidFill>
                <a:latin typeface="Segoe UI"/>
              </a:rPr>
              <a:t>08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502920" y="384048"/>
            <a:ext cx="91440" cy="274320"/>
          </a:xfrm>
          <a:prstGeom prst="roundRect">
            <a:avLst>
              <a:gd name="adj" fmla="val 50000"/>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85800" y="397764"/>
            <a:ext cx="7863840" cy="274320"/>
          </a:xfrm>
          <a:prstGeom prst="rect">
            <a:avLst/>
          </a:prstGeom>
          <a:noFill/>
        </p:spPr>
        <p:txBody>
          <a:bodyPr wrap="square" lIns="0" rIns="0" tIns="0" bIns="0" anchor="ctr">
            <a:spAutoFit/>
          </a:bodyPr>
          <a:lstStyle/>
          <a:p>
            <a:pPr algn="l">
              <a:lnSpc>
                <a:spcPct val="100000"/>
              </a:lnSpc>
              <a:spcBef>
                <a:spcPts val="0"/>
              </a:spcBef>
              <a:spcAft>
                <a:spcPts val="0"/>
              </a:spcAft>
            </a:pPr>
            <a:r>
              <a:rPr sz="1050" b="1" i="0">
                <a:solidFill>
                  <a:srgbClr val="FFAA16"/>
                </a:solidFill>
                <a:latin typeface="Segoe UI"/>
              </a:rPr>
              <a:t>08  ·  FUTURE SCOPE &amp; DEVELOPMENT ROADMAP</a:t>
            </a:r>
          </a:p>
        </p:txBody>
      </p:sp>
      <p:sp>
        <p:nvSpPr>
          <p:cNvPr id="6" name="TextBox 5"/>
          <p:cNvSpPr txBox="1"/>
          <p:nvPr/>
        </p:nvSpPr>
        <p:spPr>
          <a:xfrm>
            <a:off x="502920" y="749808"/>
            <a:ext cx="11155680" cy="566928"/>
          </a:xfrm>
          <a:prstGeom prst="rect">
            <a:avLst/>
          </a:prstGeom>
          <a:noFill/>
        </p:spPr>
        <p:txBody>
          <a:bodyPr wrap="square" lIns="0" rIns="0" tIns="0" bIns="0" anchor="t">
            <a:spAutoFit/>
          </a:bodyPr>
          <a:lstStyle/>
          <a:p>
            <a:pPr algn="l">
              <a:lnSpc>
                <a:spcPct val="100000"/>
              </a:lnSpc>
              <a:spcBef>
                <a:spcPts val="0"/>
              </a:spcBef>
              <a:spcAft>
                <a:spcPts val="0"/>
              </a:spcAft>
            </a:pPr>
            <a:r>
              <a:rPr sz="2600" b="1" i="0">
                <a:solidFill>
                  <a:srgbClr val="0719C8"/>
                </a:solidFill>
                <a:latin typeface="Segoe UI"/>
              </a:rPr>
              <a:t>From Prototype to Real-World Healthcare Coordination</a:t>
            </a:r>
          </a:p>
        </p:txBody>
      </p:sp>
      <p:sp>
        <p:nvSpPr>
          <p:cNvPr id="7" name="TextBox 6"/>
          <p:cNvSpPr txBox="1"/>
          <p:nvPr/>
        </p:nvSpPr>
        <p:spPr>
          <a:xfrm>
            <a:off x="502920" y="1353312"/>
            <a:ext cx="10607040" cy="310896"/>
          </a:xfrm>
          <a:prstGeom prst="rect">
            <a:avLst/>
          </a:prstGeom>
          <a:noFill/>
        </p:spPr>
        <p:txBody>
          <a:bodyPr wrap="square" lIns="0" rIns="0" tIns="0" bIns="0" anchor="t">
            <a:spAutoFit/>
          </a:bodyPr>
          <a:lstStyle/>
          <a:p>
            <a:pPr algn="l">
              <a:lnSpc>
                <a:spcPct val="100000"/>
              </a:lnSpc>
              <a:spcBef>
                <a:spcPts val="0"/>
              </a:spcBef>
              <a:spcAft>
                <a:spcPts val="0"/>
              </a:spcAft>
            </a:pPr>
            <a:r>
              <a:rPr sz="1250" b="0" i="0">
                <a:solidFill>
                  <a:srgbClr val="3A3F52"/>
                </a:solidFill>
                <a:latin typeface="Segoe UI"/>
              </a:rPr>
              <a:t>Three phases — each clearly separated from what exists today.</a:t>
            </a:r>
          </a:p>
        </p:txBody>
      </p:sp>
      <p:sp>
        <p:nvSpPr>
          <p:cNvPr id="8" name="Rounded Rectangle 7"/>
          <p:cNvSpPr/>
          <p:nvPr/>
        </p:nvSpPr>
        <p:spPr>
          <a:xfrm>
            <a:off x="502920" y="1773936"/>
            <a:ext cx="3669487" cy="2432304"/>
          </a:xfrm>
          <a:prstGeom prst="roundRect">
            <a:avLst>
              <a:gd name="adj" fmla="val 6000"/>
            </a:avLst>
          </a:prstGeom>
          <a:solidFill>
            <a:srgbClr val="EEF1FB"/>
          </a:solidFill>
          <a:ln w="17780">
            <a:solidFill>
              <a:srgbClr val="0719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704088" y="1938528"/>
            <a:ext cx="841248" cy="256032"/>
          </a:xfrm>
          <a:prstGeom prst="roundRect">
            <a:avLst>
              <a:gd name="adj" fmla="val 50000"/>
            </a:avLst>
          </a:prstGeom>
          <a:solidFill>
            <a:srgbClr val="FFD2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04088" y="1938528"/>
            <a:ext cx="841248" cy="256032"/>
          </a:xfrm>
          <a:prstGeom prst="rect">
            <a:avLst/>
          </a:prstGeom>
          <a:noFill/>
        </p:spPr>
        <p:txBody>
          <a:bodyPr wrap="square" lIns="0" rIns="0" tIns="0" bIns="0" anchor="ctr">
            <a:spAutoFit/>
          </a:bodyPr>
          <a:lstStyle/>
          <a:p>
            <a:pPr algn="ctr">
              <a:lnSpc>
                <a:spcPct val="100000"/>
              </a:lnSpc>
              <a:spcBef>
                <a:spcPts val="0"/>
              </a:spcBef>
              <a:spcAft>
                <a:spcPts val="0"/>
              </a:spcAft>
            </a:pPr>
            <a:r>
              <a:rPr sz="860" b="1" i="0">
                <a:solidFill>
                  <a:srgbClr val="080808"/>
                </a:solidFill>
                <a:latin typeface="Segoe UI"/>
              </a:rPr>
              <a:t>PHASE 1</a:t>
            </a:r>
          </a:p>
        </p:txBody>
      </p:sp>
      <p:sp>
        <p:nvSpPr>
          <p:cNvPr id="11" name="TextBox 10"/>
          <p:cNvSpPr txBox="1"/>
          <p:nvPr/>
        </p:nvSpPr>
        <p:spPr>
          <a:xfrm>
            <a:off x="722376" y="2267712"/>
            <a:ext cx="3246120" cy="274320"/>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0719C8"/>
                </a:solidFill>
                <a:latin typeface="Segoe UI"/>
              </a:rPr>
              <a:t>Strengthen the prototype</a:t>
            </a:r>
          </a:p>
        </p:txBody>
      </p:sp>
      <p:sp>
        <p:nvSpPr>
          <p:cNvPr id="12" name="TextBox 11"/>
          <p:cNvSpPr txBox="1"/>
          <p:nvPr/>
        </p:nvSpPr>
        <p:spPr>
          <a:xfrm>
            <a:off x="722376" y="2596896"/>
            <a:ext cx="3246120" cy="1517904"/>
          </a:xfrm>
          <a:prstGeom prst="rect">
            <a:avLst/>
          </a:prstGeom>
          <a:noFill/>
        </p:spPr>
        <p:txBody>
          <a:bodyPr wrap="square" lIns="0" rIns="0" tIns="0" bIns="0" anchor="t">
            <a:spAutoFit/>
          </a:bodyPr>
          <a:lstStyle/>
          <a:p>
            <a:pPr algn="l">
              <a:lnSpc>
                <a:spcPct val="100000"/>
              </a:lnSpc>
              <a:spcBef>
                <a:spcPts val="0"/>
              </a:spcBef>
              <a:spcAft>
                <a:spcPts val="400"/>
              </a:spcAft>
            </a:pPr>
            <a:r>
              <a:rPr sz="919" b="1" i="0">
                <a:solidFill>
                  <a:srgbClr val="0719C8"/>
                </a:solidFill>
                <a:latin typeface="Segoe UI"/>
              </a:rPr>
              <a:t>•  </a:t>
            </a:r>
            <a:r>
              <a:rPr sz="919" b="0" i="0">
                <a:solidFill>
                  <a:srgbClr val="080808"/>
                </a:solidFill>
                <a:latin typeface="Segoe UI"/>
              </a:rPr>
              <a:t>Improve validation &amp; automated tests</a:t>
            </a:r>
          </a:p>
          <a:p>
            <a:pPr algn="l">
              <a:lnSpc>
                <a:spcPct val="100000"/>
              </a:lnSpc>
              <a:spcBef>
                <a:spcPts val="0"/>
              </a:spcBef>
              <a:spcAft>
                <a:spcPts val="400"/>
              </a:spcAft>
            </a:pPr>
            <a:r>
              <a:rPr sz="919" b="1" i="0">
                <a:solidFill>
                  <a:srgbClr val="0719C8"/>
                </a:solidFill>
                <a:latin typeface="Segoe UI"/>
              </a:rPr>
              <a:t>•  </a:t>
            </a:r>
            <a:r>
              <a:rPr sz="919" b="0" i="0">
                <a:solidFill>
                  <a:srgbClr val="080808"/>
                </a:solidFill>
                <a:latin typeface="Segoe UI"/>
              </a:rPr>
              <a:t>Review authorization &amp; security</a:t>
            </a:r>
          </a:p>
          <a:p>
            <a:pPr algn="l">
              <a:lnSpc>
                <a:spcPct val="100000"/>
              </a:lnSpc>
              <a:spcBef>
                <a:spcPts val="0"/>
              </a:spcBef>
              <a:spcAft>
                <a:spcPts val="400"/>
              </a:spcAft>
            </a:pPr>
            <a:r>
              <a:rPr sz="919" b="1" i="0">
                <a:solidFill>
                  <a:srgbClr val="0719C8"/>
                </a:solidFill>
                <a:latin typeface="Segoe UI"/>
              </a:rPr>
              <a:t>•  </a:t>
            </a:r>
            <a:r>
              <a:rPr sz="919" b="0" i="0">
                <a:solidFill>
                  <a:srgbClr val="080808"/>
                </a:solidFill>
                <a:latin typeface="Segoe UI"/>
              </a:rPr>
              <a:t>Replace fragile demo-state assumptions with robust persistence</a:t>
            </a:r>
          </a:p>
          <a:p>
            <a:pPr algn="l">
              <a:lnSpc>
                <a:spcPct val="100000"/>
              </a:lnSpc>
              <a:spcBef>
                <a:spcPts val="0"/>
              </a:spcBef>
              <a:spcAft>
                <a:spcPts val="400"/>
              </a:spcAft>
            </a:pPr>
            <a:r>
              <a:rPr sz="919" b="1" i="0">
                <a:solidFill>
                  <a:srgbClr val="0719C8"/>
                </a:solidFill>
                <a:latin typeface="Segoe UI"/>
              </a:rPr>
              <a:t>•  </a:t>
            </a:r>
            <a:r>
              <a:rPr sz="919" b="0" i="0">
                <a:solidFill>
                  <a:srgbClr val="080808"/>
                </a:solidFill>
                <a:latin typeface="Segoe UI"/>
              </a:rPr>
              <a:t>Improve auditability &amp; operational error handling</a:t>
            </a:r>
          </a:p>
        </p:txBody>
      </p:sp>
      <p:sp>
        <p:nvSpPr>
          <p:cNvPr id="13" name="Right Arrow 12"/>
          <p:cNvSpPr/>
          <p:nvPr/>
        </p:nvSpPr>
        <p:spPr>
          <a:xfrm>
            <a:off x="4183379" y="2916936"/>
            <a:ext cx="69494" cy="146304"/>
          </a:xfrm>
          <a:prstGeom prst="rightArrow">
            <a:avLst>
              <a:gd name="adj1" fmla="val 55000"/>
              <a:gd name="adj2" fmla="val 34000"/>
            </a:avLst>
          </a:prstGeom>
          <a:solidFill>
            <a:srgbClr val="0719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4263847" y="1773936"/>
            <a:ext cx="3669487" cy="2432304"/>
          </a:xfrm>
          <a:prstGeom prst="roundRect">
            <a:avLst>
              <a:gd name="adj" fmla="val 6000"/>
            </a:avLst>
          </a:prstGeom>
          <a:solidFill>
            <a:srgbClr val="F2EDF8"/>
          </a:solidFill>
          <a:ln w="17780">
            <a:solidFill>
              <a:srgbClr val="683C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4465015" y="1938528"/>
            <a:ext cx="841248" cy="256032"/>
          </a:xfrm>
          <a:prstGeom prst="roundRect">
            <a:avLst>
              <a:gd name="adj" fmla="val 50000"/>
            </a:avLst>
          </a:prstGeom>
          <a:solidFill>
            <a:srgbClr val="FFD2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465015" y="1938528"/>
            <a:ext cx="841248" cy="256032"/>
          </a:xfrm>
          <a:prstGeom prst="rect">
            <a:avLst/>
          </a:prstGeom>
          <a:noFill/>
        </p:spPr>
        <p:txBody>
          <a:bodyPr wrap="square" lIns="0" rIns="0" tIns="0" bIns="0" anchor="ctr">
            <a:spAutoFit/>
          </a:bodyPr>
          <a:lstStyle/>
          <a:p>
            <a:pPr algn="ctr">
              <a:lnSpc>
                <a:spcPct val="100000"/>
              </a:lnSpc>
              <a:spcBef>
                <a:spcPts val="0"/>
              </a:spcBef>
              <a:spcAft>
                <a:spcPts val="0"/>
              </a:spcAft>
            </a:pPr>
            <a:r>
              <a:rPr sz="860" b="1" i="0">
                <a:solidFill>
                  <a:srgbClr val="080808"/>
                </a:solidFill>
                <a:latin typeface="Segoe UI"/>
              </a:rPr>
              <a:t>PHASE 2</a:t>
            </a:r>
          </a:p>
        </p:txBody>
      </p:sp>
      <p:sp>
        <p:nvSpPr>
          <p:cNvPr id="17" name="TextBox 16"/>
          <p:cNvSpPr txBox="1"/>
          <p:nvPr/>
        </p:nvSpPr>
        <p:spPr>
          <a:xfrm>
            <a:off x="4483303" y="2267712"/>
            <a:ext cx="3246120" cy="274320"/>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683C9E"/>
                </a:solidFill>
                <a:latin typeface="Segoe UI"/>
              </a:rPr>
              <a:t>Connect real healthcare systems</a:t>
            </a:r>
          </a:p>
        </p:txBody>
      </p:sp>
      <p:sp>
        <p:nvSpPr>
          <p:cNvPr id="18" name="TextBox 17"/>
          <p:cNvSpPr txBox="1"/>
          <p:nvPr/>
        </p:nvSpPr>
        <p:spPr>
          <a:xfrm>
            <a:off x="4483303" y="2596896"/>
            <a:ext cx="3246120" cy="1517904"/>
          </a:xfrm>
          <a:prstGeom prst="rect">
            <a:avLst/>
          </a:prstGeom>
          <a:noFill/>
        </p:spPr>
        <p:txBody>
          <a:bodyPr wrap="square" lIns="0" rIns="0" tIns="0" bIns="0" anchor="t">
            <a:spAutoFit/>
          </a:bodyPr>
          <a:lstStyle/>
          <a:p>
            <a:pPr algn="l">
              <a:lnSpc>
                <a:spcPct val="100000"/>
              </a:lnSpc>
              <a:spcBef>
                <a:spcPts val="0"/>
              </a:spcBef>
              <a:spcAft>
                <a:spcPts val="400"/>
              </a:spcAft>
            </a:pPr>
            <a:r>
              <a:rPr sz="919" b="1" i="0">
                <a:solidFill>
                  <a:srgbClr val="683C9E"/>
                </a:solidFill>
                <a:latin typeface="Segoe UI"/>
              </a:rPr>
              <a:t>•  </a:t>
            </a:r>
            <a:r>
              <a:rPr sz="919" b="0" i="0">
                <a:solidFill>
                  <a:srgbClr val="080808"/>
                </a:solidFill>
                <a:latin typeface="Segoe UI"/>
              </a:rPr>
              <a:t>Integrate verified hospital bed availability</a:t>
            </a:r>
          </a:p>
          <a:p>
            <a:pPr algn="l">
              <a:lnSpc>
                <a:spcPct val="100000"/>
              </a:lnSpc>
              <a:spcBef>
                <a:spcPts val="0"/>
              </a:spcBef>
              <a:spcAft>
                <a:spcPts val="400"/>
              </a:spcAft>
            </a:pPr>
            <a:r>
              <a:rPr sz="919" b="1" i="0">
                <a:solidFill>
                  <a:srgbClr val="683C9E"/>
                </a:solidFill>
                <a:latin typeface="Segoe UI"/>
              </a:rPr>
              <a:t>•  </a:t>
            </a:r>
            <a:r>
              <a:rPr sz="919" b="0" i="0">
                <a:solidFill>
                  <a:srgbClr val="080808"/>
                </a:solidFill>
                <a:latin typeface="Segoe UI"/>
              </a:rPr>
              <a:t>Add accurate location &amp; routing services</a:t>
            </a:r>
          </a:p>
          <a:p>
            <a:pPr algn="l">
              <a:lnSpc>
                <a:spcPct val="100000"/>
              </a:lnSpc>
              <a:spcBef>
                <a:spcPts val="0"/>
              </a:spcBef>
              <a:spcAft>
                <a:spcPts val="400"/>
              </a:spcAft>
            </a:pPr>
            <a:r>
              <a:rPr sz="919" b="1" i="0">
                <a:solidFill>
                  <a:srgbClr val="683C9E"/>
                </a:solidFill>
                <a:latin typeface="Segoe UI"/>
              </a:rPr>
              <a:t>•  </a:t>
            </a:r>
            <a:r>
              <a:rPr sz="919" b="0" i="0">
                <a:solidFill>
                  <a:srgbClr val="080808"/>
                </a:solidFill>
                <a:latin typeface="Segoe UI"/>
              </a:rPr>
              <a:t>Real-time updates via a push-based architecture</a:t>
            </a:r>
          </a:p>
          <a:p>
            <a:pPr algn="l">
              <a:lnSpc>
                <a:spcPct val="100000"/>
              </a:lnSpc>
              <a:spcBef>
                <a:spcPts val="0"/>
              </a:spcBef>
              <a:spcAft>
                <a:spcPts val="400"/>
              </a:spcAft>
            </a:pPr>
            <a:r>
              <a:rPr sz="919" b="1" i="0">
                <a:solidFill>
                  <a:srgbClr val="683C9E"/>
                </a:solidFill>
                <a:latin typeface="Segoe UI"/>
              </a:rPr>
              <a:t>•  </a:t>
            </a:r>
            <a:r>
              <a:rPr sz="919" b="0" i="0">
                <a:solidFill>
                  <a:srgbClr val="080808"/>
                </a:solidFill>
                <a:latin typeface="Segoe UI"/>
              </a:rPr>
              <a:t>Add reliable notifications</a:t>
            </a:r>
          </a:p>
          <a:p>
            <a:pPr algn="l">
              <a:lnSpc>
                <a:spcPct val="100000"/>
              </a:lnSpc>
              <a:spcBef>
                <a:spcPts val="0"/>
              </a:spcBef>
              <a:spcAft>
                <a:spcPts val="400"/>
              </a:spcAft>
            </a:pPr>
            <a:r>
              <a:rPr sz="919" b="1" i="0">
                <a:solidFill>
                  <a:srgbClr val="683C9E"/>
                </a:solidFill>
                <a:latin typeface="Segoe UI"/>
              </a:rPr>
              <a:t>•  </a:t>
            </a:r>
            <a:r>
              <a:rPr sz="919" b="0" i="0">
                <a:solidFill>
                  <a:srgbClr val="080808"/>
                </a:solidFill>
                <a:latin typeface="Segoe UI"/>
              </a:rPr>
              <a:t>Data-sharing agreements &amp; access controls</a:t>
            </a:r>
          </a:p>
        </p:txBody>
      </p:sp>
      <p:sp>
        <p:nvSpPr>
          <p:cNvPr id="19" name="Right Arrow 18"/>
          <p:cNvSpPr/>
          <p:nvPr/>
        </p:nvSpPr>
        <p:spPr>
          <a:xfrm>
            <a:off x="7944307" y="2916936"/>
            <a:ext cx="69494" cy="146304"/>
          </a:xfrm>
          <a:prstGeom prst="rightArrow">
            <a:avLst>
              <a:gd name="adj1" fmla="val 55000"/>
              <a:gd name="adj2" fmla="val 34000"/>
            </a:avLst>
          </a:prstGeom>
          <a:solidFill>
            <a:srgbClr val="683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8024774" y="1773936"/>
            <a:ext cx="3669487" cy="2432304"/>
          </a:xfrm>
          <a:prstGeom prst="roundRect">
            <a:avLst>
              <a:gd name="adj" fmla="val 6000"/>
            </a:avLst>
          </a:prstGeom>
          <a:solidFill>
            <a:srgbClr val="FFF6E5"/>
          </a:solidFill>
          <a:ln w="17780">
            <a:solidFill>
              <a:srgbClr val="FFAA1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8225942" y="1938528"/>
            <a:ext cx="841248" cy="256032"/>
          </a:xfrm>
          <a:prstGeom prst="roundRect">
            <a:avLst>
              <a:gd name="adj" fmla="val 50000"/>
            </a:avLst>
          </a:prstGeom>
          <a:solidFill>
            <a:srgbClr val="FFD2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225942" y="1938528"/>
            <a:ext cx="841248" cy="256032"/>
          </a:xfrm>
          <a:prstGeom prst="rect">
            <a:avLst/>
          </a:prstGeom>
          <a:noFill/>
        </p:spPr>
        <p:txBody>
          <a:bodyPr wrap="square" lIns="0" rIns="0" tIns="0" bIns="0" anchor="ctr">
            <a:spAutoFit/>
          </a:bodyPr>
          <a:lstStyle/>
          <a:p>
            <a:pPr algn="ctr">
              <a:lnSpc>
                <a:spcPct val="100000"/>
              </a:lnSpc>
              <a:spcBef>
                <a:spcPts val="0"/>
              </a:spcBef>
              <a:spcAft>
                <a:spcPts val="0"/>
              </a:spcAft>
            </a:pPr>
            <a:r>
              <a:rPr sz="860" b="1" i="0">
                <a:solidFill>
                  <a:srgbClr val="080808"/>
                </a:solidFill>
                <a:latin typeface="Segoe UI"/>
              </a:rPr>
              <a:t>PHASE 3</a:t>
            </a:r>
          </a:p>
        </p:txBody>
      </p:sp>
      <p:sp>
        <p:nvSpPr>
          <p:cNvPr id="23" name="TextBox 22"/>
          <p:cNvSpPr txBox="1"/>
          <p:nvPr/>
        </p:nvSpPr>
        <p:spPr>
          <a:xfrm>
            <a:off x="8244230" y="2267712"/>
            <a:ext cx="3246120" cy="274320"/>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FFAA16"/>
                </a:solidFill>
                <a:latin typeface="Segoe UI"/>
              </a:rPr>
              <a:t>Intelligent coordination</a:t>
            </a:r>
          </a:p>
        </p:txBody>
      </p:sp>
      <p:sp>
        <p:nvSpPr>
          <p:cNvPr id="24" name="TextBox 23"/>
          <p:cNvSpPr txBox="1"/>
          <p:nvPr/>
        </p:nvSpPr>
        <p:spPr>
          <a:xfrm>
            <a:off x="8244230" y="2596896"/>
            <a:ext cx="3246120" cy="1517904"/>
          </a:xfrm>
          <a:prstGeom prst="rect">
            <a:avLst/>
          </a:prstGeom>
          <a:noFill/>
        </p:spPr>
        <p:txBody>
          <a:bodyPr wrap="square" lIns="0" rIns="0" tIns="0" bIns="0" anchor="t">
            <a:spAutoFit/>
          </a:bodyPr>
          <a:lstStyle/>
          <a:p>
            <a:pPr algn="l">
              <a:lnSpc>
                <a:spcPct val="100000"/>
              </a:lnSpc>
              <a:spcBef>
                <a:spcPts val="0"/>
              </a:spcBef>
              <a:spcAft>
                <a:spcPts val="400"/>
              </a:spcAft>
            </a:pPr>
            <a:r>
              <a:rPr sz="919" b="1" i="0">
                <a:solidFill>
                  <a:srgbClr val="FFAA16"/>
                </a:solidFill>
                <a:latin typeface="Segoe UI"/>
              </a:rPr>
              <a:t>•  </a:t>
            </a:r>
            <a:r>
              <a:rPr sz="919" b="0" i="0">
                <a:solidFill>
                  <a:srgbClr val="080808"/>
                </a:solidFill>
                <a:latin typeface="Segoe UI"/>
              </a:rPr>
              <a:t>Explore demand forecasting</a:t>
            </a:r>
          </a:p>
          <a:p>
            <a:pPr algn="l">
              <a:lnSpc>
                <a:spcPct val="100000"/>
              </a:lnSpc>
              <a:spcBef>
                <a:spcPts val="0"/>
              </a:spcBef>
              <a:spcAft>
                <a:spcPts val="400"/>
              </a:spcAft>
            </a:pPr>
            <a:r>
              <a:rPr sz="919" b="1" i="0">
                <a:solidFill>
                  <a:srgbClr val="FFAA16"/>
                </a:solidFill>
                <a:latin typeface="Segoe UI"/>
              </a:rPr>
              <a:t>•  </a:t>
            </a:r>
            <a:r>
              <a:rPr sz="919" b="0" i="0">
                <a:solidFill>
                  <a:srgbClr val="080808"/>
                </a:solidFill>
                <a:latin typeface="Segoe UI"/>
              </a:rPr>
              <a:t>Investigate discharge prediction</a:t>
            </a:r>
          </a:p>
          <a:p>
            <a:pPr algn="l">
              <a:lnSpc>
                <a:spcPct val="100000"/>
              </a:lnSpc>
              <a:spcBef>
                <a:spcPts val="0"/>
              </a:spcBef>
              <a:spcAft>
                <a:spcPts val="400"/>
              </a:spcAft>
            </a:pPr>
            <a:r>
              <a:rPr sz="919" b="1" i="0">
                <a:solidFill>
                  <a:srgbClr val="FFAA16"/>
                </a:solidFill>
                <a:latin typeface="Segoe UI"/>
              </a:rPr>
              <a:t>•  </a:t>
            </a:r>
            <a:r>
              <a:rPr sz="919" b="0" i="0">
                <a:solidFill>
                  <a:srgbClr val="080808"/>
                </a:solidFill>
                <a:latin typeface="Segoe UI"/>
              </a:rPr>
              <a:t>Evaluate optimization algorithms for matching</a:t>
            </a:r>
          </a:p>
          <a:p>
            <a:pPr algn="l">
              <a:lnSpc>
                <a:spcPct val="100000"/>
              </a:lnSpc>
              <a:spcBef>
                <a:spcPts val="0"/>
              </a:spcBef>
              <a:spcAft>
                <a:spcPts val="400"/>
              </a:spcAft>
            </a:pPr>
            <a:r>
              <a:rPr sz="919" b="1" i="0">
                <a:solidFill>
                  <a:srgbClr val="FFAA16"/>
                </a:solidFill>
                <a:latin typeface="Segoe UI"/>
              </a:rPr>
              <a:t>•  </a:t>
            </a:r>
            <a:r>
              <a:rPr sz="919" b="0" i="0">
                <a:solidFill>
                  <a:srgbClr val="080808"/>
                </a:solidFill>
                <a:latin typeface="Segoe UI"/>
              </a:rPr>
              <a:t>Develop authorized reporting integrations</a:t>
            </a:r>
          </a:p>
          <a:p>
            <a:pPr algn="l">
              <a:lnSpc>
                <a:spcPct val="100000"/>
              </a:lnSpc>
              <a:spcBef>
                <a:spcPts val="0"/>
              </a:spcBef>
              <a:spcAft>
                <a:spcPts val="400"/>
              </a:spcAft>
            </a:pPr>
            <a:r>
              <a:rPr sz="919" b="1" i="0">
                <a:solidFill>
                  <a:srgbClr val="FFAA16"/>
                </a:solidFill>
                <a:latin typeface="Segoe UI"/>
              </a:rPr>
              <a:t>•  </a:t>
            </a:r>
            <a:r>
              <a:rPr sz="919" b="0" i="0">
                <a:solidFill>
                  <a:srgbClr val="080808"/>
                </a:solidFill>
                <a:latin typeface="Segoe UI"/>
              </a:rPr>
              <a:t>Pilot with participating hospitals &amp; measure outcomes</a:t>
            </a:r>
          </a:p>
        </p:txBody>
      </p:sp>
      <p:sp>
        <p:nvSpPr>
          <p:cNvPr id="25" name="Rounded Rectangle 24"/>
          <p:cNvSpPr/>
          <p:nvPr/>
        </p:nvSpPr>
        <p:spPr>
          <a:xfrm>
            <a:off x="502920" y="4370831"/>
            <a:ext cx="5486400" cy="1700784"/>
          </a:xfrm>
          <a:prstGeom prst="roundRect">
            <a:avLst>
              <a:gd name="adj" fmla="val 6000"/>
            </a:avLst>
          </a:prstGeom>
          <a:solidFill>
            <a:srgbClr val="EAF7F1"/>
          </a:solidFill>
          <a:ln w="17780">
            <a:solidFill>
              <a:srgbClr val="58BE9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22376" y="4498847"/>
            <a:ext cx="5029200" cy="237744"/>
          </a:xfrm>
          <a:prstGeom prst="rect">
            <a:avLst/>
          </a:prstGeom>
          <a:noFill/>
        </p:spPr>
        <p:txBody>
          <a:bodyPr wrap="square" lIns="0" rIns="0" tIns="0" bIns="0" anchor="t">
            <a:spAutoFit/>
          </a:bodyPr>
          <a:lstStyle/>
          <a:p>
            <a:pPr algn="l">
              <a:lnSpc>
                <a:spcPct val="100000"/>
              </a:lnSpc>
              <a:spcBef>
                <a:spcPts val="0"/>
              </a:spcBef>
              <a:spcAft>
                <a:spcPts val="0"/>
              </a:spcAft>
            </a:pPr>
            <a:r>
              <a:rPr sz="1050" b="1" i="0">
                <a:solidFill>
                  <a:srgbClr val="080808"/>
                </a:solidFill>
                <a:latin typeface="Segoe UI"/>
              </a:rPr>
              <a:t>CURRENT PROTOTYPE — TODAY</a:t>
            </a:r>
          </a:p>
        </p:txBody>
      </p:sp>
      <p:sp>
        <p:nvSpPr>
          <p:cNvPr id="27" name="Rounded Rectangle 26"/>
          <p:cNvSpPr/>
          <p:nvPr/>
        </p:nvSpPr>
        <p:spPr>
          <a:xfrm>
            <a:off x="722376" y="4828031"/>
            <a:ext cx="1408176" cy="256032"/>
          </a:xfrm>
          <a:prstGeom prst="roundRect">
            <a:avLst>
              <a:gd name="adj" fmla="val 50000"/>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22376" y="4828031"/>
            <a:ext cx="1408176" cy="256032"/>
          </a:xfrm>
          <a:prstGeom prst="rect">
            <a:avLst/>
          </a:prstGeom>
          <a:noFill/>
        </p:spPr>
        <p:txBody>
          <a:bodyPr wrap="square" lIns="0" rIns="0" tIns="0" bIns="0" anchor="ctr">
            <a:spAutoFit/>
          </a:bodyPr>
          <a:lstStyle/>
          <a:p>
            <a:pPr algn="ctr">
              <a:lnSpc>
                <a:spcPct val="100000"/>
              </a:lnSpc>
              <a:spcBef>
                <a:spcPts val="0"/>
              </a:spcBef>
              <a:spcAft>
                <a:spcPts val="0"/>
              </a:spcAft>
            </a:pPr>
            <a:r>
              <a:rPr sz="819" b="1" i="0">
                <a:solidFill>
                  <a:srgbClr val="080808"/>
                </a:solidFill>
                <a:latin typeface="Segoe UI"/>
              </a:rPr>
              <a:t>Seeded hospital data</a:t>
            </a:r>
          </a:p>
        </p:txBody>
      </p:sp>
      <p:sp>
        <p:nvSpPr>
          <p:cNvPr id="29" name="Rounded Rectangle 28"/>
          <p:cNvSpPr/>
          <p:nvPr/>
        </p:nvSpPr>
        <p:spPr>
          <a:xfrm>
            <a:off x="2240280" y="4828031"/>
            <a:ext cx="1351483" cy="256032"/>
          </a:xfrm>
          <a:prstGeom prst="roundRect">
            <a:avLst>
              <a:gd name="adj" fmla="val 50000"/>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2240280" y="4828031"/>
            <a:ext cx="1351483" cy="256032"/>
          </a:xfrm>
          <a:prstGeom prst="rect">
            <a:avLst/>
          </a:prstGeom>
          <a:noFill/>
        </p:spPr>
        <p:txBody>
          <a:bodyPr wrap="square" lIns="0" rIns="0" tIns="0" bIns="0" anchor="ctr">
            <a:spAutoFit/>
          </a:bodyPr>
          <a:lstStyle/>
          <a:p>
            <a:pPr algn="ctr">
              <a:lnSpc>
                <a:spcPct val="100000"/>
              </a:lnSpc>
              <a:spcBef>
                <a:spcPts val="0"/>
              </a:spcBef>
              <a:spcAft>
                <a:spcPts val="0"/>
              </a:spcAft>
            </a:pPr>
            <a:r>
              <a:rPr sz="819" b="1" i="0">
                <a:solidFill>
                  <a:srgbClr val="080808"/>
                </a:solidFill>
                <a:latin typeface="Segoe UI"/>
              </a:rPr>
              <a:t>Five demo hospitals</a:t>
            </a:r>
          </a:p>
        </p:txBody>
      </p:sp>
      <p:sp>
        <p:nvSpPr>
          <p:cNvPr id="31" name="Rounded Rectangle 30"/>
          <p:cNvSpPr/>
          <p:nvPr/>
        </p:nvSpPr>
        <p:spPr>
          <a:xfrm>
            <a:off x="3701491" y="4828031"/>
            <a:ext cx="1124712" cy="256032"/>
          </a:xfrm>
          <a:prstGeom prst="roundRect">
            <a:avLst>
              <a:gd name="adj" fmla="val 50000"/>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3701491" y="4828031"/>
            <a:ext cx="1124712" cy="256032"/>
          </a:xfrm>
          <a:prstGeom prst="rect">
            <a:avLst/>
          </a:prstGeom>
          <a:noFill/>
        </p:spPr>
        <p:txBody>
          <a:bodyPr wrap="square" lIns="0" rIns="0" tIns="0" bIns="0" anchor="ctr">
            <a:spAutoFit/>
          </a:bodyPr>
          <a:lstStyle/>
          <a:p>
            <a:pPr algn="ctr">
              <a:lnSpc>
                <a:spcPct val="100000"/>
              </a:lnSpc>
              <a:spcBef>
                <a:spcPts val="0"/>
              </a:spcBef>
              <a:spcAft>
                <a:spcPts val="0"/>
              </a:spcAft>
            </a:pPr>
            <a:r>
              <a:rPr sz="819" b="1" i="0">
                <a:solidFill>
                  <a:srgbClr val="080808"/>
                </a:solidFill>
                <a:latin typeface="Segoe UI"/>
              </a:rPr>
              <a:t>Fixed distances</a:t>
            </a:r>
          </a:p>
        </p:txBody>
      </p:sp>
      <p:sp>
        <p:nvSpPr>
          <p:cNvPr id="33" name="Rounded Rectangle 32"/>
          <p:cNvSpPr/>
          <p:nvPr/>
        </p:nvSpPr>
        <p:spPr>
          <a:xfrm>
            <a:off x="722376" y="5157216"/>
            <a:ext cx="1408176" cy="256032"/>
          </a:xfrm>
          <a:prstGeom prst="roundRect">
            <a:avLst>
              <a:gd name="adj" fmla="val 50000"/>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722376" y="5157216"/>
            <a:ext cx="1408176" cy="256032"/>
          </a:xfrm>
          <a:prstGeom prst="rect">
            <a:avLst/>
          </a:prstGeom>
          <a:noFill/>
        </p:spPr>
        <p:txBody>
          <a:bodyPr wrap="square" lIns="0" rIns="0" tIns="0" bIns="0" anchor="ctr">
            <a:spAutoFit/>
          </a:bodyPr>
          <a:lstStyle/>
          <a:p>
            <a:pPr algn="ctr">
              <a:lnSpc>
                <a:spcPct val="100000"/>
              </a:lnSpc>
              <a:spcBef>
                <a:spcPts val="0"/>
              </a:spcBef>
              <a:spcAft>
                <a:spcPts val="0"/>
              </a:spcAft>
            </a:pPr>
            <a:r>
              <a:rPr sz="819" b="1" i="0">
                <a:solidFill>
                  <a:srgbClr val="080808"/>
                </a:solidFill>
                <a:latin typeface="Segoe UI"/>
              </a:rPr>
              <a:t>JSON emergency state</a:t>
            </a:r>
          </a:p>
        </p:txBody>
      </p:sp>
      <p:sp>
        <p:nvSpPr>
          <p:cNvPr id="35" name="Rounded Rectangle 34"/>
          <p:cNvSpPr/>
          <p:nvPr/>
        </p:nvSpPr>
        <p:spPr>
          <a:xfrm>
            <a:off x="2240280" y="5157216"/>
            <a:ext cx="1124712" cy="256032"/>
          </a:xfrm>
          <a:prstGeom prst="roundRect">
            <a:avLst>
              <a:gd name="adj" fmla="val 50000"/>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2240280" y="5157216"/>
            <a:ext cx="1124712" cy="256032"/>
          </a:xfrm>
          <a:prstGeom prst="rect">
            <a:avLst/>
          </a:prstGeom>
          <a:noFill/>
        </p:spPr>
        <p:txBody>
          <a:bodyPr wrap="square" lIns="0" rIns="0" tIns="0" bIns="0" anchor="ctr">
            <a:spAutoFit/>
          </a:bodyPr>
          <a:lstStyle/>
          <a:p>
            <a:pPr algn="ctr">
              <a:lnSpc>
                <a:spcPct val="100000"/>
              </a:lnSpc>
              <a:spcBef>
                <a:spcPts val="0"/>
              </a:spcBef>
              <a:spcAft>
                <a:spcPts val="0"/>
              </a:spcAft>
            </a:pPr>
            <a:r>
              <a:rPr sz="819" b="1" i="0">
                <a:solidFill>
                  <a:srgbClr val="080808"/>
                </a:solidFill>
                <a:latin typeface="Segoe UI"/>
              </a:rPr>
              <a:t>Browser polling</a:t>
            </a:r>
          </a:p>
        </p:txBody>
      </p:sp>
      <p:sp>
        <p:nvSpPr>
          <p:cNvPr id="37" name="Rounded Rectangle 36"/>
          <p:cNvSpPr/>
          <p:nvPr/>
        </p:nvSpPr>
        <p:spPr>
          <a:xfrm>
            <a:off x="3474720" y="5157216"/>
            <a:ext cx="1975103" cy="256032"/>
          </a:xfrm>
          <a:prstGeom prst="roundRect">
            <a:avLst>
              <a:gd name="adj" fmla="val 50000"/>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3474720" y="5157216"/>
            <a:ext cx="1975103" cy="256032"/>
          </a:xfrm>
          <a:prstGeom prst="rect">
            <a:avLst/>
          </a:prstGeom>
          <a:noFill/>
        </p:spPr>
        <p:txBody>
          <a:bodyPr wrap="square" lIns="0" rIns="0" tIns="0" bIns="0" anchor="ctr">
            <a:spAutoFit/>
          </a:bodyPr>
          <a:lstStyle/>
          <a:p>
            <a:pPr algn="ctr">
              <a:lnSpc>
                <a:spcPct val="100000"/>
              </a:lnSpc>
              <a:spcBef>
                <a:spcPts val="0"/>
              </a:spcBef>
              <a:spcAft>
                <a:spcPts val="0"/>
              </a:spcAft>
            </a:pPr>
            <a:r>
              <a:rPr sz="819" b="1" i="0">
                <a:solidFill>
                  <a:srgbClr val="080808"/>
                </a:solidFill>
                <a:latin typeface="Segoe UI"/>
              </a:rPr>
              <a:t>Rule-based matching &amp; priority</a:t>
            </a:r>
          </a:p>
        </p:txBody>
      </p:sp>
      <p:sp>
        <p:nvSpPr>
          <p:cNvPr id="39" name="Rounded Rectangle 38"/>
          <p:cNvSpPr/>
          <p:nvPr/>
        </p:nvSpPr>
        <p:spPr>
          <a:xfrm>
            <a:off x="6199632" y="4370831"/>
            <a:ext cx="5477256" cy="1700784"/>
          </a:xfrm>
          <a:prstGeom prst="roundRect">
            <a:avLst>
              <a:gd name="adj" fmla="val 6000"/>
            </a:avLst>
          </a:prstGeom>
          <a:solidFill>
            <a:srgbClr val="FFFBE6"/>
          </a:solidFill>
          <a:ln w="17780">
            <a:solidFill>
              <a:srgbClr val="FFD21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419088" y="4498847"/>
            <a:ext cx="3291840" cy="237744"/>
          </a:xfrm>
          <a:prstGeom prst="rect">
            <a:avLst/>
          </a:prstGeom>
          <a:noFill/>
        </p:spPr>
        <p:txBody>
          <a:bodyPr wrap="square" lIns="0" rIns="0" tIns="0" bIns="0" anchor="t">
            <a:spAutoFit/>
          </a:bodyPr>
          <a:lstStyle/>
          <a:p>
            <a:pPr algn="l">
              <a:lnSpc>
                <a:spcPct val="100000"/>
              </a:lnSpc>
              <a:spcBef>
                <a:spcPts val="0"/>
              </a:spcBef>
              <a:spcAft>
                <a:spcPts val="0"/>
              </a:spcAft>
            </a:pPr>
            <a:r>
              <a:rPr sz="1050" b="1" i="0">
                <a:solidFill>
                  <a:srgbClr val="080808"/>
                </a:solidFill>
                <a:latin typeface="Segoe UI"/>
              </a:rPr>
              <a:t>FUTURE ENHANCEMENTS</a:t>
            </a:r>
          </a:p>
        </p:txBody>
      </p:sp>
      <p:sp>
        <p:nvSpPr>
          <p:cNvPr id="41" name="Rounded Rectangle 40"/>
          <p:cNvSpPr/>
          <p:nvPr/>
        </p:nvSpPr>
        <p:spPr>
          <a:xfrm>
            <a:off x="9646920" y="4480559"/>
            <a:ext cx="1874519" cy="256032"/>
          </a:xfrm>
          <a:prstGeom prst="roundRect">
            <a:avLst>
              <a:gd name="adj" fmla="val 50000"/>
            </a:avLst>
          </a:prstGeom>
          <a:solidFill>
            <a:srgbClr val="F326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9646920" y="4480559"/>
            <a:ext cx="1874519" cy="256032"/>
          </a:xfrm>
          <a:prstGeom prst="rect">
            <a:avLst/>
          </a:prstGeom>
          <a:noFill/>
        </p:spPr>
        <p:txBody>
          <a:bodyPr wrap="square" lIns="0" rIns="0" tIns="0" bIns="0" anchor="ctr">
            <a:spAutoFit/>
          </a:bodyPr>
          <a:lstStyle/>
          <a:p>
            <a:pPr algn="ctr">
              <a:lnSpc>
                <a:spcPct val="100000"/>
              </a:lnSpc>
              <a:spcBef>
                <a:spcPts val="0"/>
              </a:spcBef>
              <a:spcAft>
                <a:spcPts val="0"/>
              </a:spcAft>
            </a:pPr>
            <a:r>
              <a:rPr sz="800" b="1" i="0">
                <a:solidFill>
                  <a:srgbClr val="FFFFFF"/>
                </a:solidFill>
                <a:latin typeface="Segoe UI"/>
              </a:rPr>
              <a:t>PLANNED — NOT IMPLEMENTED</a:t>
            </a:r>
          </a:p>
        </p:txBody>
      </p:sp>
      <p:sp>
        <p:nvSpPr>
          <p:cNvPr id="43" name="Rounded Rectangle 42"/>
          <p:cNvSpPr/>
          <p:nvPr/>
        </p:nvSpPr>
        <p:spPr>
          <a:xfrm>
            <a:off x="6419088" y="4828031"/>
            <a:ext cx="1748332" cy="256032"/>
          </a:xfrm>
          <a:prstGeom prst="roundRect">
            <a:avLst>
              <a:gd name="adj" fmla="val 50000"/>
            </a:avLst>
          </a:prstGeom>
          <a:solidFill>
            <a:srgbClr val="FFD2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419088" y="4828031"/>
            <a:ext cx="1748332" cy="256032"/>
          </a:xfrm>
          <a:prstGeom prst="rect">
            <a:avLst/>
          </a:prstGeom>
          <a:noFill/>
        </p:spPr>
        <p:txBody>
          <a:bodyPr wrap="square" lIns="0" rIns="0" tIns="0" bIns="0" anchor="ctr">
            <a:spAutoFit/>
          </a:bodyPr>
          <a:lstStyle/>
          <a:p>
            <a:pPr algn="ctr">
              <a:lnSpc>
                <a:spcPct val="100000"/>
              </a:lnSpc>
              <a:spcBef>
                <a:spcPts val="0"/>
              </a:spcBef>
              <a:spcAft>
                <a:spcPts val="0"/>
              </a:spcAft>
            </a:pPr>
            <a:r>
              <a:rPr sz="819" b="1" i="0">
                <a:solidFill>
                  <a:srgbClr val="080808"/>
                </a:solidFill>
                <a:latin typeface="Segoe UI"/>
              </a:rPr>
              <a:t>Live hospital integrations</a:t>
            </a:r>
          </a:p>
        </p:txBody>
      </p:sp>
      <p:sp>
        <p:nvSpPr>
          <p:cNvPr id="45" name="Rounded Rectangle 44"/>
          <p:cNvSpPr/>
          <p:nvPr/>
        </p:nvSpPr>
        <p:spPr>
          <a:xfrm>
            <a:off x="8277148" y="4828031"/>
            <a:ext cx="1238097" cy="256032"/>
          </a:xfrm>
          <a:prstGeom prst="roundRect">
            <a:avLst>
              <a:gd name="adj" fmla="val 50000"/>
            </a:avLst>
          </a:prstGeom>
          <a:solidFill>
            <a:srgbClr val="FFD2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8277148" y="4828031"/>
            <a:ext cx="1238097" cy="256032"/>
          </a:xfrm>
          <a:prstGeom prst="rect">
            <a:avLst/>
          </a:prstGeom>
          <a:noFill/>
        </p:spPr>
        <p:txBody>
          <a:bodyPr wrap="square" lIns="0" rIns="0" tIns="0" bIns="0" anchor="ctr">
            <a:spAutoFit/>
          </a:bodyPr>
          <a:lstStyle/>
          <a:p>
            <a:pPr algn="ctr">
              <a:lnSpc>
                <a:spcPct val="100000"/>
              </a:lnSpc>
              <a:spcBef>
                <a:spcPts val="0"/>
              </a:spcBef>
              <a:spcAft>
                <a:spcPts val="0"/>
              </a:spcAft>
            </a:pPr>
            <a:r>
              <a:rPr sz="819" b="1" i="0">
                <a:solidFill>
                  <a:srgbClr val="080808"/>
                </a:solidFill>
                <a:latin typeface="Segoe UI"/>
              </a:rPr>
              <a:t>GPS-based routing</a:t>
            </a:r>
          </a:p>
        </p:txBody>
      </p:sp>
      <p:sp>
        <p:nvSpPr>
          <p:cNvPr id="47" name="Rounded Rectangle 46"/>
          <p:cNvSpPr/>
          <p:nvPr/>
        </p:nvSpPr>
        <p:spPr>
          <a:xfrm>
            <a:off x="9624974" y="4828031"/>
            <a:ext cx="1521561" cy="256032"/>
          </a:xfrm>
          <a:prstGeom prst="roundRect">
            <a:avLst>
              <a:gd name="adj" fmla="val 50000"/>
            </a:avLst>
          </a:prstGeom>
          <a:solidFill>
            <a:srgbClr val="FFD2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9624974" y="4828031"/>
            <a:ext cx="1521561" cy="256032"/>
          </a:xfrm>
          <a:prstGeom prst="rect">
            <a:avLst/>
          </a:prstGeom>
          <a:noFill/>
        </p:spPr>
        <p:txBody>
          <a:bodyPr wrap="square" lIns="0" rIns="0" tIns="0" bIns="0" anchor="ctr">
            <a:spAutoFit/>
          </a:bodyPr>
          <a:lstStyle/>
          <a:p>
            <a:pPr algn="ctr">
              <a:lnSpc>
                <a:spcPct val="100000"/>
              </a:lnSpc>
              <a:spcBef>
                <a:spcPts val="0"/>
              </a:spcBef>
              <a:spcAft>
                <a:spcPts val="0"/>
              </a:spcAft>
            </a:pPr>
            <a:r>
              <a:rPr sz="819" b="1" i="0">
                <a:solidFill>
                  <a:srgbClr val="080808"/>
                </a:solidFill>
                <a:latin typeface="Segoe UI"/>
              </a:rPr>
              <a:t>Real-time push updates</a:t>
            </a:r>
          </a:p>
        </p:txBody>
      </p:sp>
      <p:sp>
        <p:nvSpPr>
          <p:cNvPr id="49" name="Rounded Rectangle 48"/>
          <p:cNvSpPr/>
          <p:nvPr/>
        </p:nvSpPr>
        <p:spPr>
          <a:xfrm>
            <a:off x="6419088" y="5157216"/>
            <a:ext cx="1861718" cy="256032"/>
          </a:xfrm>
          <a:prstGeom prst="roundRect">
            <a:avLst>
              <a:gd name="adj" fmla="val 50000"/>
            </a:avLst>
          </a:prstGeom>
          <a:solidFill>
            <a:srgbClr val="FFD2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6419088" y="5157216"/>
            <a:ext cx="1861718" cy="256032"/>
          </a:xfrm>
          <a:prstGeom prst="rect">
            <a:avLst/>
          </a:prstGeom>
          <a:noFill/>
        </p:spPr>
        <p:txBody>
          <a:bodyPr wrap="square" lIns="0" rIns="0" tIns="0" bIns="0" anchor="ctr">
            <a:spAutoFit/>
          </a:bodyPr>
          <a:lstStyle/>
          <a:p>
            <a:pPr algn="ctr">
              <a:lnSpc>
                <a:spcPct val="100000"/>
              </a:lnSpc>
              <a:spcBef>
                <a:spcPts val="0"/>
              </a:spcBef>
              <a:spcAft>
                <a:spcPts val="0"/>
              </a:spcAft>
            </a:pPr>
            <a:r>
              <a:rPr sz="819" b="1" i="0">
                <a:solidFill>
                  <a:srgbClr val="080808"/>
                </a:solidFill>
                <a:latin typeface="Segoe UI"/>
              </a:rPr>
              <a:t>Machine-learning predictions</a:t>
            </a:r>
          </a:p>
        </p:txBody>
      </p:sp>
      <p:sp>
        <p:nvSpPr>
          <p:cNvPr id="51" name="Rounded Rectangle 50"/>
          <p:cNvSpPr/>
          <p:nvPr/>
        </p:nvSpPr>
        <p:spPr>
          <a:xfrm>
            <a:off x="8390534" y="5157216"/>
            <a:ext cx="2031796" cy="256032"/>
          </a:xfrm>
          <a:prstGeom prst="roundRect">
            <a:avLst>
              <a:gd name="adj" fmla="val 50000"/>
            </a:avLst>
          </a:prstGeom>
          <a:solidFill>
            <a:srgbClr val="FFD2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8390534" y="5157216"/>
            <a:ext cx="2031796" cy="256032"/>
          </a:xfrm>
          <a:prstGeom prst="rect">
            <a:avLst/>
          </a:prstGeom>
          <a:noFill/>
        </p:spPr>
        <p:txBody>
          <a:bodyPr wrap="square" lIns="0" rIns="0" tIns="0" bIns="0" anchor="ctr">
            <a:spAutoFit/>
          </a:bodyPr>
          <a:lstStyle/>
          <a:p>
            <a:pPr algn="ctr">
              <a:lnSpc>
                <a:spcPct val="100000"/>
              </a:lnSpc>
              <a:spcBef>
                <a:spcPts val="0"/>
              </a:spcBef>
              <a:spcAft>
                <a:spcPts val="0"/>
              </a:spcAft>
            </a:pPr>
            <a:r>
              <a:rPr sz="819" b="1" i="0">
                <a:solidFill>
                  <a:srgbClr val="080808"/>
                </a:solidFill>
                <a:latin typeface="Segoe UI"/>
              </a:rPr>
              <a:t>Authorized government reporting</a:t>
            </a:r>
          </a:p>
        </p:txBody>
      </p:sp>
      <p:sp>
        <p:nvSpPr>
          <p:cNvPr id="53" name="TextBox 52"/>
          <p:cNvSpPr txBox="1"/>
          <p:nvPr/>
        </p:nvSpPr>
        <p:spPr>
          <a:xfrm>
            <a:off x="6419088" y="5760719"/>
            <a:ext cx="5120640" cy="237744"/>
          </a:xfrm>
          <a:prstGeom prst="rect">
            <a:avLst/>
          </a:prstGeom>
          <a:noFill/>
        </p:spPr>
        <p:txBody>
          <a:bodyPr wrap="square" lIns="0" rIns="0" tIns="0" bIns="0" anchor="t">
            <a:spAutoFit/>
          </a:bodyPr>
          <a:lstStyle/>
          <a:p>
            <a:pPr algn="l">
              <a:lnSpc>
                <a:spcPct val="100000"/>
              </a:lnSpc>
              <a:spcBef>
                <a:spcPts val="0"/>
              </a:spcBef>
              <a:spcAft>
                <a:spcPts val="0"/>
              </a:spcAft>
            </a:pPr>
            <a:r>
              <a:rPr sz="840" b="0" i="1">
                <a:solidFill>
                  <a:srgbClr val="3A3F52"/>
                </a:solidFill>
                <a:latin typeface="Segoe UI"/>
              </a:rPr>
              <a:t>Every future item is a proposal — nothing above the line is claimed as built.</a:t>
            </a:r>
          </a:p>
        </p:txBody>
      </p:sp>
      <p:sp>
        <p:nvSpPr>
          <p:cNvPr id="54" name="TextBox 53"/>
          <p:cNvSpPr txBox="1"/>
          <p:nvPr/>
        </p:nvSpPr>
        <p:spPr>
          <a:xfrm>
            <a:off x="502920" y="6492240"/>
            <a:ext cx="7315200" cy="237744"/>
          </a:xfrm>
          <a:prstGeom prst="rect">
            <a:avLst/>
          </a:prstGeom>
          <a:noFill/>
        </p:spPr>
        <p:txBody>
          <a:bodyPr wrap="square" lIns="0" rIns="0" tIns="0" bIns="0" anchor="t">
            <a:spAutoFit/>
          </a:bodyPr>
          <a:lstStyle/>
          <a:p>
            <a:pPr algn="l">
              <a:lnSpc>
                <a:spcPct val="100000"/>
              </a:lnSpc>
              <a:spcBef>
                <a:spcPts val="0"/>
              </a:spcBef>
              <a:spcAft>
                <a:spcPts val="0"/>
              </a:spcAft>
            </a:pPr>
            <a:r>
              <a:rPr sz="850" b="0" i="0">
                <a:solidFill>
                  <a:srgbClr val="8A90A6"/>
                </a:solidFill>
                <a:latin typeface="Segoe UI"/>
              </a:rPr>
              <a:t>CareRoute — Emergency Bed Coordination System   ·   Team Tech Head</a:t>
            </a:r>
          </a:p>
        </p:txBody>
      </p:sp>
      <p:sp>
        <p:nvSpPr>
          <p:cNvPr id="55" name="TextBox 54"/>
          <p:cNvSpPr txBox="1"/>
          <p:nvPr/>
        </p:nvSpPr>
        <p:spPr>
          <a:xfrm>
            <a:off x="10378440" y="6492240"/>
            <a:ext cx="1307592" cy="237744"/>
          </a:xfrm>
          <a:prstGeom prst="rect">
            <a:avLst/>
          </a:prstGeom>
          <a:noFill/>
        </p:spPr>
        <p:txBody>
          <a:bodyPr wrap="square" lIns="0" rIns="0" tIns="0" bIns="0" anchor="t">
            <a:spAutoFit/>
          </a:bodyPr>
          <a:lstStyle/>
          <a:p>
            <a:pPr algn="r">
              <a:lnSpc>
                <a:spcPct val="100000"/>
              </a:lnSpc>
              <a:spcBef>
                <a:spcPts val="0"/>
              </a:spcBef>
              <a:spcAft>
                <a:spcPts val="0"/>
              </a:spcAft>
            </a:pPr>
            <a:r>
              <a:rPr sz="850" b="1" i="0">
                <a:solidFill>
                  <a:srgbClr val="8A90A6"/>
                </a:solidFill>
                <a:latin typeface="Segoe UI"/>
              </a:rPr>
              <a:t>09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osing_norm.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7635240" cy="6858000"/>
          </a:xfrm>
          <a:prstGeom prst="rect">
            <a:avLst/>
          </a:prstGeom>
          <a:solidFill>
            <a:srgbClr val="0719C8">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635240" y="0"/>
            <a:ext cx="4556455" cy="6858000"/>
          </a:xfrm>
          <a:prstGeom prst="rect">
            <a:avLst/>
          </a:prstGeom>
          <a:solidFill>
            <a:srgbClr val="0719C8">
              <a:alpha val="5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7589520" y="0"/>
            <a:ext cx="54864" cy="6858000"/>
          </a:xfrm>
          <a:prstGeom prst="rect">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502920" y="420624"/>
            <a:ext cx="1444752" cy="292608"/>
          </a:xfrm>
          <a:prstGeom prst="roundRect">
            <a:avLst>
              <a:gd name="adj" fmla="val 50000"/>
            </a:avLst>
          </a:prstGeom>
          <a:solidFill>
            <a:srgbClr val="FFD2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02920" y="420624"/>
            <a:ext cx="1444752" cy="292608"/>
          </a:xfrm>
          <a:prstGeom prst="rect">
            <a:avLst/>
          </a:prstGeom>
          <a:noFill/>
        </p:spPr>
        <p:txBody>
          <a:bodyPr wrap="square" lIns="0" rIns="0" tIns="0" bIns="0" anchor="ctr">
            <a:spAutoFit/>
          </a:bodyPr>
          <a:lstStyle/>
          <a:p>
            <a:pPr algn="ctr">
              <a:lnSpc>
                <a:spcPct val="100000"/>
              </a:lnSpc>
              <a:spcBef>
                <a:spcPts val="0"/>
              </a:spcBef>
              <a:spcAft>
                <a:spcPts val="0"/>
              </a:spcAft>
            </a:pPr>
            <a:r>
              <a:rPr sz="900" b="1" i="0">
                <a:solidFill>
                  <a:srgbClr val="080808"/>
                </a:solidFill>
                <a:latin typeface="Segoe UI"/>
              </a:rPr>
              <a:t>TEAM TECH HEAD</a:t>
            </a:r>
          </a:p>
        </p:txBody>
      </p:sp>
      <p:sp>
        <p:nvSpPr>
          <p:cNvPr id="8" name="TextBox 7"/>
          <p:cNvSpPr txBox="1"/>
          <p:nvPr/>
        </p:nvSpPr>
        <p:spPr>
          <a:xfrm>
            <a:off x="2066543" y="420624"/>
            <a:ext cx="5120640" cy="292608"/>
          </a:xfrm>
          <a:prstGeom prst="rect">
            <a:avLst/>
          </a:prstGeom>
          <a:noFill/>
        </p:spPr>
        <p:txBody>
          <a:bodyPr wrap="square" lIns="0" rIns="0" tIns="0" bIns="0" anchor="ctr">
            <a:spAutoFit/>
          </a:bodyPr>
          <a:lstStyle/>
          <a:p>
            <a:pPr algn="l">
              <a:lnSpc>
                <a:spcPct val="100000"/>
              </a:lnSpc>
              <a:spcBef>
                <a:spcPts val="0"/>
              </a:spcBef>
              <a:spcAft>
                <a:spcPts val="0"/>
              </a:spcAft>
            </a:pPr>
            <a:r>
              <a:rPr sz="880" b="1" i="0">
                <a:solidFill>
                  <a:srgbClr val="C9D2F7"/>
                </a:solidFill>
                <a:latin typeface="Segoe UI"/>
              </a:rPr>
              <a:t>CAREROUTE  ·  HACKATHON PRESENTATION</a:t>
            </a:r>
          </a:p>
        </p:txBody>
      </p:sp>
      <p:sp>
        <p:nvSpPr>
          <p:cNvPr id="9" name="TextBox 8"/>
          <p:cNvSpPr txBox="1"/>
          <p:nvPr/>
        </p:nvSpPr>
        <p:spPr>
          <a:xfrm>
            <a:off x="502920" y="859536"/>
            <a:ext cx="6766560" cy="969264"/>
          </a:xfrm>
          <a:prstGeom prst="rect">
            <a:avLst/>
          </a:prstGeom>
          <a:noFill/>
        </p:spPr>
        <p:txBody>
          <a:bodyPr wrap="square" lIns="0" rIns="0" tIns="0" bIns="0" anchor="t">
            <a:spAutoFit/>
          </a:bodyPr>
          <a:lstStyle/>
          <a:p>
            <a:pPr algn="l">
              <a:lnSpc>
                <a:spcPct val="100000"/>
              </a:lnSpc>
              <a:spcBef>
                <a:spcPts val="0"/>
              </a:spcBef>
              <a:spcAft>
                <a:spcPts val="0"/>
              </a:spcAft>
            </a:pPr>
            <a:r>
              <a:rPr sz="3100" b="1" i="0">
                <a:solidFill>
                  <a:srgbClr val="FFFFFF"/>
                </a:solidFill>
                <a:latin typeface="Segoe UI"/>
              </a:rPr>
              <a:t>Better Coordination for Emergency Care</a:t>
            </a:r>
          </a:p>
        </p:txBody>
      </p:sp>
      <p:sp>
        <p:nvSpPr>
          <p:cNvPr id="10" name="Rectangle 9"/>
          <p:cNvSpPr/>
          <p:nvPr/>
        </p:nvSpPr>
        <p:spPr>
          <a:xfrm>
            <a:off x="521208" y="1847088"/>
            <a:ext cx="1188720" cy="64008"/>
          </a:xfrm>
          <a:prstGeom prst="rect">
            <a:avLst/>
          </a:prstGeom>
          <a:solidFill>
            <a:srgbClr val="F326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02920" y="2011680"/>
            <a:ext cx="50292" cy="621792"/>
          </a:xfrm>
          <a:prstGeom prst="rect">
            <a:avLst/>
          </a:prstGeom>
          <a:solidFill>
            <a:srgbClr val="F326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9224" y="2011680"/>
            <a:ext cx="3218688" cy="201168"/>
          </a:xfrm>
          <a:prstGeom prst="rect">
            <a:avLst/>
          </a:prstGeom>
          <a:noFill/>
        </p:spPr>
        <p:txBody>
          <a:bodyPr wrap="square" lIns="0" rIns="0" tIns="0" bIns="0" anchor="t">
            <a:spAutoFit/>
          </a:bodyPr>
          <a:lstStyle/>
          <a:p>
            <a:pPr algn="l">
              <a:lnSpc>
                <a:spcPct val="100000"/>
              </a:lnSpc>
              <a:spcBef>
                <a:spcPts val="0"/>
              </a:spcBef>
              <a:spcAft>
                <a:spcPts val="0"/>
              </a:spcAft>
            </a:pPr>
            <a:r>
              <a:rPr sz="840" b="1" i="0">
                <a:solidFill>
                  <a:srgbClr val="F3265B"/>
                </a:solidFill>
                <a:latin typeface="Segoe UI"/>
              </a:rPr>
              <a:t>THE PROBLEM</a:t>
            </a:r>
          </a:p>
        </p:txBody>
      </p:sp>
      <p:sp>
        <p:nvSpPr>
          <p:cNvPr id="13" name="TextBox 12"/>
          <p:cNvSpPr txBox="1"/>
          <p:nvPr/>
        </p:nvSpPr>
        <p:spPr>
          <a:xfrm>
            <a:off x="649224" y="2212848"/>
            <a:ext cx="3218688" cy="457200"/>
          </a:xfrm>
          <a:prstGeom prst="rect">
            <a:avLst/>
          </a:prstGeom>
          <a:noFill/>
        </p:spPr>
        <p:txBody>
          <a:bodyPr wrap="square" lIns="0" rIns="0" tIns="0" bIns="0" anchor="t">
            <a:spAutoFit/>
          </a:bodyPr>
          <a:lstStyle/>
          <a:p>
            <a:pPr algn="l">
              <a:lnSpc>
                <a:spcPct val="103000"/>
              </a:lnSpc>
              <a:spcBef>
                <a:spcPts val="0"/>
              </a:spcBef>
              <a:spcAft>
                <a:spcPts val="0"/>
              </a:spcAft>
            </a:pPr>
            <a:r>
              <a:rPr sz="840" b="0" i="0">
                <a:solidFill>
                  <a:srgbClr val="E8ECFB"/>
                </a:solidFill>
                <a:latin typeface="Segoe UI"/>
              </a:rPr>
              <a:t>Emergency bed coordination is hard when availability, care needs and priority lack a structured workflow.</a:t>
            </a:r>
          </a:p>
        </p:txBody>
      </p:sp>
      <p:sp>
        <p:nvSpPr>
          <p:cNvPr id="14" name="Rectangle 13"/>
          <p:cNvSpPr/>
          <p:nvPr/>
        </p:nvSpPr>
        <p:spPr>
          <a:xfrm>
            <a:off x="4050792" y="2011680"/>
            <a:ext cx="50292" cy="621792"/>
          </a:xfrm>
          <a:prstGeom prst="rect">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197096" y="2011680"/>
            <a:ext cx="3218688" cy="201168"/>
          </a:xfrm>
          <a:prstGeom prst="rect">
            <a:avLst/>
          </a:prstGeom>
          <a:noFill/>
        </p:spPr>
        <p:txBody>
          <a:bodyPr wrap="square" lIns="0" rIns="0" tIns="0" bIns="0" anchor="t">
            <a:spAutoFit/>
          </a:bodyPr>
          <a:lstStyle/>
          <a:p>
            <a:pPr algn="l">
              <a:lnSpc>
                <a:spcPct val="100000"/>
              </a:lnSpc>
              <a:spcBef>
                <a:spcPts val="0"/>
              </a:spcBef>
              <a:spcAft>
                <a:spcPts val="0"/>
              </a:spcAft>
            </a:pPr>
            <a:r>
              <a:rPr sz="840" b="1" i="0">
                <a:solidFill>
                  <a:srgbClr val="FFAA16"/>
                </a:solidFill>
                <a:latin typeface="Segoe UI"/>
              </a:rPr>
              <a:t>OUR SOLUTION</a:t>
            </a:r>
          </a:p>
        </p:txBody>
      </p:sp>
      <p:sp>
        <p:nvSpPr>
          <p:cNvPr id="16" name="TextBox 15"/>
          <p:cNvSpPr txBox="1"/>
          <p:nvPr/>
        </p:nvSpPr>
        <p:spPr>
          <a:xfrm>
            <a:off x="4197096" y="2212848"/>
            <a:ext cx="3218688" cy="457200"/>
          </a:xfrm>
          <a:prstGeom prst="rect">
            <a:avLst/>
          </a:prstGeom>
          <a:noFill/>
        </p:spPr>
        <p:txBody>
          <a:bodyPr wrap="square" lIns="0" rIns="0" tIns="0" bIns="0" anchor="t">
            <a:spAutoFit/>
          </a:bodyPr>
          <a:lstStyle/>
          <a:p>
            <a:pPr algn="l">
              <a:lnSpc>
                <a:spcPct val="103000"/>
              </a:lnSpc>
              <a:spcBef>
                <a:spcPts val="0"/>
              </a:spcBef>
              <a:spcAft>
                <a:spcPts val="0"/>
              </a:spcAft>
            </a:pPr>
            <a:r>
              <a:rPr sz="840" b="0" i="0">
                <a:solidFill>
                  <a:srgbClr val="E8ECFB"/>
                </a:solidFill>
                <a:latin typeface="Segoe UI"/>
              </a:rPr>
              <a:t>Coordinated requests, compatible hospital recommendations, operator verification, tracked bed-allocation states.</a:t>
            </a:r>
          </a:p>
        </p:txBody>
      </p:sp>
      <p:sp>
        <p:nvSpPr>
          <p:cNvPr id="17" name="Rectangle 16"/>
          <p:cNvSpPr/>
          <p:nvPr/>
        </p:nvSpPr>
        <p:spPr>
          <a:xfrm>
            <a:off x="502920" y="2734056"/>
            <a:ext cx="50292" cy="621792"/>
          </a:xfrm>
          <a:prstGeom prst="rect">
            <a:avLst/>
          </a:prstGeom>
          <a:solidFill>
            <a:srgbClr val="FFD2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9224" y="2734056"/>
            <a:ext cx="3218688" cy="201168"/>
          </a:xfrm>
          <a:prstGeom prst="rect">
            <a:avLst/>
          </a:prstGeom>
          <a:noFill/>
        </p:spPr>
        <p:txBody>
          <a:bodyPr wrap="square" lIns="0" rIns="0" tIns="0" bIns="0" anchor="t">
            <a:spAutoFit/>
          </a:bodyPr>
          <a:lstStyle/>
          <a:p>
            <a:pPr algn="l">
              <a:lnSpc>
                <a:spcPct val="100000"/>
              </a:lnSpc>
              <a:spcBef>
                <a:spcPts val="0"/>
              </a:spcBef>
              <a:spcAft>
                <a:spcPts val="0"/>
              </a:spcAft>
            </a:pPr>
            <a:r>
              <a:rPr sz="840" b="1" i="0">
                <a:solidFill>
                  <a:srgbClr val="FFD21A"/>
                </a:solidFill>
                <a:latin typeface="Segoe UI"/>
              </a:rPr>
              <a:t>OUR INNOVATION</a:t>
            </a:r>
          </a:p>
        </p:txBody>
      </p:sp>
      <p:sp>
        <p:nvSpPr>
          <p:cNvPr id="19" name="TextBox 18"/>
          <p:cNvSpPr txBox="1"/>
          <p:nvPr/>
        </p:nvSpPr>
        <p:spPr>
          <a:xfrm>
            <a:off x="649224" y="2935224"/>
            <a:ext cx="3218688" cy="457200"/>
          </a:xfrm>
          <a:prstGeom prst="rect">
            <a:avLst/>
          </a:prstGeom>
          <a:noFill/>
        </p:spPr>
        <p:txBody>
          <a:bodyPr wrap="square" lIns="0" rIns="0" tIns="0" bIns="0" anchor="t">
            <a:spAutoFit/>
          </a:bodyPr>
          <a:lstStyle/>
          <a:p>
            <a:pPr algn="l">
              <a:lnSpc>
                <a:spcPct val="103000"/>
              </a:lnSpc>
              <a:spcBef>
                <a:spcPts val="0"/>
              </a:spcBef>
              <a:spcAft>
                <a:spcPts val="0"/>
              </a:spcAft>
            </a:pPr>
            <a:r>
              <a:rPr sz="840" b="0" i="0">
                <a:solidFill>
                  <a:srgbClr val="E8ECFB"/>
                </a:solidFill>
                <a:latin typeface="Segoe UI"/>
              </a:rPr>
              <a:t>Compatibility matching · verified priority · temporary holds · protected reservations · role-based actions.</a:t>
            </a:r>
          </a:p>
        </p:txBody>
      </p:sp>
      <p:sp>
        <p:nvSpPr>
          <p:cNvPr id="20" name="Rectangle 19"/>
          <p:cNvSpPr/>
          <p:nvPr/>
        </p:nvSpPr>
        <p:spPr>
          <a:xfrm>
            <a:off x="4050792" y="2734056"/>
            <a:ext cx="50292" cy="621792"/>
          </a:xfrm>
          <a:prstGeom prst="rect">
            <a:avLst/>
          </a:prstGeom>
          <a:solidFill>
            <a:srgbClr val="683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197096" y="2734056"/>
            <a:ext cx="3218688" cy="201168"/>
          </a:xfrm>
          <a:prstGeom prst="rect">
            <a:avLst/>
          </a:prstGeom>
          <a:noFill/>
        </p:spPr>
        <p:txBody>
          <a:bodyPr wrap="square" lIns="0" rIns="0" tIns="0" bIns="0" anchor="t">
            <a:spAutoFit/>
          </a:bodyPr>
          <a:lstStyle/>
          <a:p>
            <a:pPr algn="l">
              <a:lnSpc>
                <a:spcPct val="100000"/>
              </a:lnSpc>
              <a:spcBef>
                <a:spcPts val="0"/>
              </a:spcBef>
              <a:spcAft>
                <a:spcPts val="0"/>
              </a:spcAft>
            </a:pPr>
            <a:r>
              <a:rPr sz="840" b="1" i="0">
                <a:solidFill>
                  <a:srgbClr val="683C9E"/>
                </a:solidFill>
                <a:latin typeface="Segoe UI"/>
              </a:rPr>
              <a:t>TECHNICAL FOUNDATION</a:t>
            </a:r>
          </a:p>
        </p:txBody>
      </p:sp>
      <p:sp>
        <p:nvSpPr>
          <p:cNvPr id="22" name="TextBox 21"/>
          <p:cNvSpPr txBox="1"/>
          <p:nvPr/>
        </p:nvSpPr>
        <p:spPr>
          <a:xfrm>
            <a:off x="4197096" y="2935224"/>
            <a:ext cx="3218688" cy="457200"/>
          </a:xfrm>
          <a:prstGeom prst="rect">
            <a:avLst/>
          </a:prstGeom>
          <a:noFill/>
        </p:spPr>
        <p:txBody>
          <a:bodyPr wrap="square" lIns="0" rIns="0" tIns="0" bIns="0" anchor="t">
            <a:spAutoFit/>
          </a:bodyPr>
          <a:lstStyle/>
          <a:p>
            <a:pPr algn="l">
              <a:lnSpc>
                <a:spcPct val="103000"/>
              </a:lnSpc>
              <a:spcBef>
                <a:spcPts val="0"/>
              </a:spcBef>
              <a:spcAft>
                <a:spcPts val="0"/>
              </a:spcAft>
            </a:pPr>
            <a:r>
              <a:rPr sz="840" b="0" i="0">
                <a:solidFill>
                  <a:srgbClr val="E8ECFB"/>
                </a:solidFill>
                <a:latin typeface="Segoe UI"/>
              </a:rPr>
              <a:t>Laravel · PHP · MySQL/MariaDB · JSON emergency state · role-based dashboards.</a:t>
            </a:r>
          </a:p>
        </p:txBody>
      </p:sp>
      <p:sp>
        <p:nvSpPr>
          <p:cNvPr id="23" name="Rectangle 22"/>
          <p:cNvSpPr/>
          <p:nvPr/>
        </p:nvSpPr>
        <p:spPr>
          <a:xfrm>
            <a:off x="502920" y="3456432"/>
            <a:ext cx="50292" cy="621792"/>
          </a:xfrm>
          <a:prstGeom prst="rect">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49224" y="3456432"/>
            <a:ext cx="3218688" cy="201168"/>
          </a:xfrm>
          <a:prstGeom prst="rect">
            <a:avLst/>
          </a:prstGeom>
          <a:noFill/>
        </p:spPr>
        <p:txBody>
          <a:bodyPr wrap="square" lIns="0" rIns="0" tIns="0" bIns="0" anchor="t">
            <a:spAutoFit/>
          </a:bodyPr>
          <a:lstStyle/>
          <a:p>
            <a:pPr algn="l">
              <a:lnSpc>
                <a:spcPct val="100000"/>
              </a:lnSpc>
              <a:spcBef>
                <a:spcPts val="0"/>
              </a:spcBef>
              <a:spcAft>
                <a:spcPts val="0"/>
              </a:spcAft>
            </a:pPr>
            <a:r>
              <a:rPr sz="840" b="1" i="0">
                <a:solidFill>
                  <a:srgbClr val="58BE98"/>
                </a:solidFill>
                <a:latin typeface="Segoe UI"/>
              </a:rPr>
              <a:t>BUSINESS OPPORTUNITY</a:t>
            </a:r>
          </a:p>
        </p:txBody>
      </p:sp>
      <p:sp>
        <p:nvSpPr>
          <p:cNvPr id="25" name="TextBox 24"/>
          <p:cNvSpPr txBox="1"/>
          <p:nvPr/>
        </p:nvSpPr>
        <p:spPr>
          <a:xfrm>
            <a:off x="649224" y="3657600"/>
            <a:ext cx="3218688" cy="457200"/>
          </a:xfrm>
          <a:prstGeom prst="rect">
            <a:avLst/>
          </a:prstGeom>
          <a:noFill/>
        </p:spPr>
        <p:txBody>
          <a:bodyPr wrap="square" lIns="0" rIns="0" tIns="0" bIns="0" anchor="t">
            <a:spAutoFit/>
          </a:bodyPr>
          <a:lstStyle/>
          <a:p>
            <a:pPr algn="l">
              <a:lnSpc>
                <a:spcPct val="103000"/>
              </a:lnSpc>
              <a:spcBef>
                <a:spcPts val="0"/>
              </a:spcBef>
              <a:spcAft>
                <a:spcPts val="0"/>
              </a:spcAft>
            </a:pPr>
            <a:r>
              <a:rPr sz="840" b="0" i="0">
                <a:solidFill>
                  <a:srgbClr val="E8ECFB"/>
                </a:solidFill>
                <a:latin typeface="Segoe UI"/>
              </a:rPr>
              <a:t>A hospital-facing SaaS &amp; integration platform — proposed, subject to validation and adoption.</a:t>
            </a:r>
          </a:p>
        </p:txBody>
      </p:sp>
      <p:sp>
        <p:nvSpPr>
          <p:cNvPr id="26" name="Rectangle 25"/>
          <p:cNvSpPr/>
          <p:nvPr/>
        </p:nvSpPr>
        <p:spPr>
          <a:xfrm>
            <a:off x="4050792" y="3456432"/>
            <a:ext cx="50292"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197096" y="3456432"/>
            <a:ext cx="3218688" cy="201168"/>
          </a:xfrm>
          <a:prstGeom prst="rect">
            <a:avLst/>
          </a:prstGeom>
          <a:noFill/>
        </p:spPr>
        <p:txBody>
          <a:bodyPr wrap="square" lIns="0" rIns="0" tIns="0" bIns="0" anchor="t">
            <a:spAutoFit/>
          </a:bodyPr>
          <a:lstStyle/>
          <a:p>
            <a:pPr algn="l">
              <a:lnSpc>
                <a:spcPct val="100000"/>
              </a:lnSpc>
              <a:spcBef>
                <a:spcPts val="0"/>
              </a:spcBef>
              <a:spcAft>
                <a:spcPts val="0"/>
              </a:spcAft>
            </a:pPr>
            <a:r>
              <a:rPr sz="840" b="1" i="0">
                <a:solidFill>
                  <a:srgbClr val="FFFFFF"/>
                </a:solidFill>
                <a:latin typeface="Segoe UI"/>
              </a:rPr>
              <a:t>OUR VISION</a:t>
            </a:r>
          </a:p>
        </p:txBody>
      </p:sp>
      <p:sp>
        <p:nvSpPr>
          <p:cNvPr id="28" name="TextBox 27"/>
          <p:cNvSpPr txBox="1"/>
          <p:nvPr/>
        </p:nvSpPr>
        <p:spPr>
          <a:xfrm>
            <a:off x="4197096" y="3657600"/>
            <a:ext cx="3218688" cy="457200"/>
          </a:xfrm>
          <a:prstGeom prst="rect">
            <a:avLst/>
          </a:prstGeom>
          <a:noFill/>
        </p:spPr>
        <p:txBody>
          <a:bodyPr wrap="square" lIns="0" rIns="0" tIns="0" bIns="0" anchor="t">
            <a:spAutoFit/>
          </a:bodyPr>
          <a:lstStyle/>
          <a:p>
            <a:pPr algn="l">
              <a:lnSpc>
                <a:spcPct val="103000"/>
              </a:lnSpc>
              <a:spcBef>
                <a:spcPts val="0"/>
              </a:spcBef>
              <a:spcAft>
                <a:spcPts val="0"/>
              </a:spcAft>
            </a:pPr>
            <a:r>
              <a:rPr sz="840" b="0" i="0">
                <a:solidFill>
                  <a:srgbClr val="E8ECFB"/>
                </a:solidFill>
                <a:latin typeface="Segoe UI"/>
              </a:rPr>
              <a:t>Verified, timely information helps providers coordinate emergency capacity more effectively.</a:t>
            </a:r>
          </a:p>
        </p:txBody>
      </p:sp>
      <p:sp>
        <p:nvSpPr>
          <p:cNvPr id="29" name="Rounded Rectangle 28"/>
          <p:cNvSpPr/>
          <p:nvPr/>
        </p:nvSpPr>
        <p:spPr>
          <a:xfrm>
            <a:off x="502920" y="4261104"/>
            <a:ext cx="6949440" cy="713232"/>
          </a:xfrm>
          <a:prstGeom prst="roundRect">
            <a:avLst>
              <a:gd name="adj" fmla="val 10000"/>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722376" y="4261104"/>
            <a:ext cx="6510528" cy="713232"/>
          </a:xfrm>
          <a:prstGeom prst="rect">
            <a:avLst/>
          </a:prstGeom>
          <a:noFill/>
        </p:spPr>
        <p:txBody>
          <a:bodyPr wrap="square" lIns="0" rIns="0" tIns="0" bIns="0" anchor="ctr">
            <a:spAutoFit/>
          </a:bodyPr>
          <a:lstStyle/>
          <a:p>
            <a:pPr algn="l">
              <a:lnSpc>
                <a:spcPct val="105000"/>
              </a:lnSpc>
              <a:spcBef>
                <a:spcPts val="0"/>
              </a:spcBef>
              <a:spcAft>
                <a:spcPts val="0"/>
              </a:spcAft>
            </a:pPr>
            <a:r>
              <a:rPr sz="1120" b="1" i="0">
                <a:solidFill>
                  <a:srgbClr val="080808"/>
                </a:solidFill>
                <a:latin typeface="Segoe UI"/>
              </a:rPr>
              <a:t>“CareRoute — helping the right emergency request reach the right available care facility through smarter coordination.”</a:t>
            </a:r>
          </a:p>
        </p:txBody>
      </p:sp>
      <p:sp>
        <p:nvSpPr>
          <p:cNvPr id="31" name="TextBox 30"/>
          <p:cNvSpPr txBox="1"/>
          <p:nvPr/>
        </p:nvSpPr>
        <p:spPr>
          <a:xfrm>
            <a:off x="502920" y="5084064"/>
            <a:ext cx="2743200" cy="237744"/>
          </a:xfrm>
          <a:prstGeom prst="rect">
            <a:avLst/>
          </a:prstGeom>
          <a:noFill/>
        </p:spPr>
        <p:txBody>
          <a:bodyPr wrap="square" lIns="0" rIns="0" tIns="0" bIns="0" anchor="t">
            <a:spAutoFit/>
          </a:bodyPr>
          <a:lstStyle/>
          <a:p>
            <a:pPr algn="l">
              <a:lnSpc>
                <a:spcPct val="100000"/>
              </a:lnSpc>
              <a:spcBef>
                <a:spcPts val="0"/>
              </a:spcBef>
              <a:spcAft>
                <a:spcPts val="0"/>
              </a:spcAft>
            </a:pPr>
            <a:r>
              <a:rPr sz="940" b="1" i="0">
                <a:solidFill>
                  <a:srgbClr val="FFD21A"/>
                </a:solidFill>
                <a:latin typeface="Segoe UI"/>
              </a:rPr>
              <a:t>TEAM TECH HEAD</a:t>
            </a:r>
          </a:p>
        </p:txBody>
      </p:sp>
      <p:sp>
        <p:nvSpPr>
          <p:cNvPr id="32" name="Oval 31"/>
          <p:cNvSpPr/>
          <p:nvPr/>
        </p:nvSpPr>
        <p:spPr>
          <a:xfrm>
            <a:off x="502920" y="5358384"/>
            <a:ext cx="365760" cy="365760"/>
          </a:xfrm>
          <a:prstGeom prst="ellipse">
            <a:avLst/>
          </a:prstGeom>
          <a:solidFill>
            <a:srgbClr val="FFAA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502920" y="5358384"/>
            <a:ext cx="365760" cy="365760"/>
          </a:xfrm>
          <a:prstGeom prst="rect">
            <a:avLst/>
          </a:prstGeom>
          <a:noFill/>
        </p:spPr>
        <p:txBody>
          <a:bodyPr wrap="square" lIns="0" rIns="0" tIns="0" bIns="0" anchor="ctr">
            <a:spAutoFit/>
          </a:bodyPr>
          <a:lstStyle/>
          <a:p>
            <a:pPr algn="ctr">
              <a:lnSpc>
                <a:spcPct val="100000"/>
              </a:lnSpc>
              <a:spcBef>
                <a:spcPts val="0"/>
              </a:spcBef>
              <a:spcAft>
                <a:spcPts val="0"/>
              </a:spcAft>
            </a:pPr>
            <a:r>
              <a:rPr sz="1050" b="1" i="0">
                <a:solidFill>
                  <a:srgbClr val="080808"/>
                </a:solidFill>
                <a:latin typeface="Segoe UI"/>
              </a:rPr>
              <a:t>TJ</a:t>
            </a:r>
          </a:p>
        </p:txBody>
      </p:sp>
      <p:sp>
        <p:nvSpPr>
          <p:cNvPr id="34" name="TextBox 33"/>
          <p:cNvSpPr txBox="1"/>
          <p:nvPr/>
        </p:nvSpPr>
        <p:spPr>
          <a:xfrm>
            <a:off x="941832" y="5358384"/>
            <a:ext cx="1298448" cy="365760"/>
          </a:xfrm>
          <a:prstGeom prst="rect">
            <a:avLst/>
          </a:prstGeom>
          <a:noFill/>
        </p:spPr>
        <p:txBody>
          <a:bodyPr wrap="square" lIns="0" rIns="0" tIns="0" bIns="0" anchor="ctr">
            <a:spAutoFit/>
          </a:bodyPr>
          <a:lstStyle/>
          <a:p>
            <a:pPr algn="l">
              <a:lnSpc>
                <a:spcPct val="100000"/>
              </a:lnSpc>
              <a:spcBef>
                <a:spcPts val="0"/>
              </a:spcBef>
              <a:spcAft>
                <a:spcPts val="0"/>
              </a:spcAft>
            </a:pPr>
            <a:r>
              <a:rPr sz="940" b="1" i="0">
                <a:solidFill>
                  <a:srgbClr val="FFFFFF"/>
                </a:solidFill>
                <a:latin typeface="Segoe UI"/>
              </a:rPr>
              <a:t>Tanay Jorihar</a:t>
            </a:r>
          </a:p>
        </p:txBody>
      </p:sp>
      <p:sp>
        <p:nvSpPr>
          <p:cNvPr id="35" name="Oval 34"/>
          <p:cNvSpPr/>
          <p:nvPr/>
        </p:nvSpPr>
        <p:spPr>
          <a:xfrm>
            <a:off x="2258568" y="5358384"/>
            <a:ext cx="365760" cy="365760"/>
          </a:xfrm>
          <a:prstGeom prst="ellipse">
            <a:avLst/>
          </a:prstGeom>
          <a:solidFill>
            <a:srgbClr val="F326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2258568" y="5358384"/>
            <a:ext cx="365760" cy="365760"/>
          </a:xfrm>
          <a:prstGeom prst="rect">
            <a:avLst/>
          </a:prstGeom>
          <a:noFill/>
        </p:spPr>
        <p:txBody>
          <a:bodyPr wrap="square" lIns="0" rIns="0" tIns="0" bIns="0" anchor="ctr">
            <a:spAutoFit/>
          </a:bodyPr>
          <a:lstStyle/>
          <a:p>
            <a:pPr algn="ctr">
              <a:lnSpc>
                <a:spcPct val="100000"/>
              </a:lnSpc>
              <a:spcBef>
                <a:spcPts val="0"/>
              </a:spcBef>
              <a:spcAft>
                <a:spcPts val="0"/>
              </a:spcAft>
            </a:pPr>
            <a:r>
              <a:rPr sz="1050" b="1" i="0">
                <a:solidFill>
                  <a:srgbClr val="FFFFFF"/>
                </a:solidFill>
                <a:latin typeface="Segoe UI"/>
              </a:rPr>
              <a:t>PV</a:t>
            </a:r>
          </a:p>
        </p:txBody>
      </p:sp>
      <p:sp>
        <p:nvSpPr>
          <p:cNvPr id="37" name="TextBox 36"/>
          <p:cNvSpPr txBox="1"/>
          <p:nvPr/>
        </p:nvSpPr>
        <p:spPr>
          <a:xfrm>
            <a:off x="2697479" y="5358384"/>
            <a:ext cx="1298448" cy="365760"/>
          </a:xfrm>
          <a:prstGeom prst="rect">
            <a:avLst/>
          </a:prstGeom>
          <a:noFill/>
        </p:spPr>
        <p:txBody>
          <a:bodyPr wrap="square" lIns="0" rIns="0" tIns="0" bIns="0" anchor="ctr">
            <a:spAutoFit/>
          </a:bodyPr>
          <a:lstStyle/>
          <a:p>
            <a:pPr algn="l">
              <a:lnSpc>
                <a:spcPct val="100000"/>
              </a:lnSpc>
              <a:spcBef>
                <a:spcPts val="0"/>
              </a:spcBef>
              <a:spcAft>
                <a:spcPts val="0"/>
              </a:spcAft>
            </a:pPr>
            <a:r>
              <a:rPr sz="940" b="1" i="0">
                <a:solidFill>
                  <a:srgbClr val="FFFFFF"/>
                </a:solidFill>
                <a:latin typeface="Segoe UI"/>
              </a:rPr>
              <a:t>Puneet K. Verma</a:t>
            </a:r>
          </a:p>
        </p:txBody>
      </p:sp>
      <p:sp>
        <p:nvSpPr>
          <p:cNvPr id="38" name="Oval 37"/>
          <p:cNvSpPr/>
          <p:nvPr/>
        </p:nvSpPr>
        <p:spPr>
          <a:xfrm>
            <a:off x="4014215" y="5358384"/>
            <a:ext cx="365760" cy="365760"/>
          </a:xfrm>
          <a:prstGeom prst="ellipse">
            <a:avLst/>
          </a:prstGeom>
          <a:solidFill>
            <a:srgbClr val="58BE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4014215" y="5358384"/>
            <a:ext cx="365760" cy="365760"/>
          </a:xfrm>
          <a:prstGeom prst="rect">
            <a:avLst/>
          </a:prstGeom>
          <a:noFill/>
        </p:spPr>
        <p:txBody>
          <a:bodyPr wrap="square" lIns="0" rIns="0" tIns="0" bIns="0" anchor="ctr">
            <a:spAutoFit/>
          </a:bodyPr>
          <a:lstStyle/>
          <a:p>
            <a:pPr algn="ctr">
              <a:lnSpc>
                <a:spcPct val="100000"/>
              </a:lnSpc>
              <a:spcBef>
                <a:spcPts val="0"/>
              </a:spcBef>
              <a:spcAft>
                <a:spcPts val="0"/>
              </a:spcAft>
            </a:pPr>
            <a:r>
              <a:rPr sz="1050" b="1" i="0">
                <a:solidFill>
                  <a:srgbClr val="080808"/>
                </a:solidFill>
                <a:latin typeface="Segoe UI"/>
              </a:rPr>
              <a:t>SS</a:t>
            </a:r>
          </a:p>
        </p:txBody>
      </p:sp>
      <p:sp>
        <p:nvSpPr>
          <p:cNvPr id="40" name="TextBox 39"/>
          <p:cNvSpPr txBox="1"/>
          <p:nvPr/>
        </p:nvSpPr>
        <p:spPr>
          <a:xfrm>
            <a:off x="4453127" y="5358384"/>
            <a:ext cx="1298448" cy="365760"/>
          </a:xfrm>
          <a:prstGeom prst="rect">
            <a:avLst/>
          </a:prstGeom>
          <a:noFill/>
        </p:spPr>
        <p:txBody>
          <a:bodyPr wrap="square" lIns="0" rIns="0" tIns="0" bIns="0" anchor="ctr">
            <a:spAutoFit/>
          </a:bodyPr>
          <a:lstStyle/>
          <a:p>
            <a:pPr algn="l">
              <a:lnSpc>
                <a:spcPct val="100000"/>
              </a:lnSpc>
              <a:spcBef>
                <a:spcPts val="0"/>
              </a:spcBef>
              <a:spcAft>
                <a:spcPts val="0"/>
              </a:spcAft>
            </a:pPr>
            <a:r>
              <a:rPr sz="940" b="1" i="0">
                <a:solidFill>
                  <a:srgbClr val="FFFFFF"/>
                </a:solidFill>
                <a:latin typeface="Segoe UI"/>
              </a:rPr>
              <a:t>Shraddha Shetty</a:t>
            </a:r>
          </a:p>
        </p:txBody>
      </p:sp>
      <p:sp>
        <p:nvSpPr>
          <p:cNvPr id="41" name="Oval 40"/>
          <p:cNvSpPr/>
          <p:nvPr/>
        </p:nvSpPr>
        <p:spPr>
          <a:xfrm>
            <a:off x="5769864" y="5358384"/>
            <a:ext cx="365760" cy="365760"/>
          </a:xfrm>
          <a:prstGeom prst="ellipse">
            <a:avLst/>
          </a:prstGeom>
          <a:solidFill>
            <a:srgbClr val="FFD2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5769864" y="5358384"/>
            <a:ext cx="365760" cy="365760"/>
          </a:xfrm>
          <a:prstGeom prst="rect">
            <a:avLst/>
          </a:prstGeom>
          <a:noFill/>
        </p:spPr>
        <p:txBody>
          <a:bodyPr wrap="square" lIns="0" rIns="0" tIns="0" bIns="0" anchor="ctr">
            <a:spAutoFit/>
          </a:bodyPr>
          <a:lstStyle/>
          <a:p>
            <a:pPr algn="ctr">
              <a:lnSpc>
                <a:spcPct val="100000"/>
              </a:lnSpc>
              <a:spcBef>
                <a:spcPts val="0"/>
              </a:spcBef>
              <a:spcAft>
                <a:spcPts val="0"/>
              </a:spcAft>
            </a:pPr>
            <a:r>
              <a:rPr sz="1050" b="1" i="0">
                <a:solidFill>
                  <a:srgbClr val="080808"/>
                </a:solidFill>
                <a:latin typeface="Segoe UI"/>
              </a:rPr>
              <a:t>LB</a:t>
            </a:r>
          </a:p>
        </p:txBody>
      </p:sp>
      <p:sp>
        <p:nvSpPr>
          <p:cNvPr id="43" name="TextBox 42"/>
          <p:cNvSpPr txBox="1"/>
          <p:nvPr/>
        </p:nvSpPr>
        <p:spPr>
          <a:xfrm>
            <a:off x="6208775" y="5358384"/>
            <a:ext cx="1298448" cy="365760"/>
          </a:xfrm>
          <a:prstGeom prst="rect">
            <a:avLst/>
          </a:prstGeom>
          <a:noFill/>
        </p:spPr>
        <p:txBody>
          <a:bodyPr wrap="square" lIns="0" rIns="0" tIns="0" bIns="0" anchor="ctr">
            <a:spAutoFit/>
          </a:bodyPr>
          <a:lstStyle/>
          <a:p>
            <a:pPr algn="l">
              <a:lnSpc>
                <a:spcPct val="100000"/>
              </a:lnSpc>
              <a:spcBef>
                <a:spcPts val="0"/>
              </a:spcBef>
              <a:spcAft>
                <a:spcPts val="0"/>
              </a:spcAft>
            </a:pPr>
            <a:r>
              <a:rPr sz="940" b="1" i="0">
                <a:solidFill>
                  <a:srgbClr val="FFFFFF"/>
                </a:solidFill>
                <a:latin typeface="Segoe UI"/>
              </a:rPr>
              <a:t>Lalit Bist</a:t>
            </a:r>
          </a:p>
        </p:txBody>
      </p:sp>
      <p:sp>
        <p:nvSpPr>
          <p:cNvPr id="44" name="TextBox 43"/>
          <p:cNvSpPr txBox="1"/>
          <p:nvPr/>
        </p:nvSpPr>
        <p:spPr>
          <a:xfrm>
            <a:off x="502920" y="5833872"/>
            <a:ext cx="4206240" cy="566928"/>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FFFFFF"/>
                </a:solidFill>
                <a:latin typeface="Segoe UI"/>
              </a:rPr>
              <a:t>Thank You</a:t>
            </a:r>
          </a:p>
        </p:txBody>
      </p:sp>
      <p:sp>
        <p:nvSpPr>
          <p:cNvPr id="45" name="Rounded Rectangle 44"/>
          <p:cNvSpPr/>
          <p:nvPr/>
        </p:nvSpPr>
        <p:spPr>
          <a:xfrm>
            <a:off x="3977639" y="5943600"/>
            <a:ext cx="1481328" cy="365760"/>
          </a:xfrm>
          <a:prstGeom prst="roundRect">
            <a:avLst>
              <a:gd name="adj" fmla="val 50000"/>
            </a:avLst>
          </a:prstGeom>
          <a:noFill/>
          <a:ln w="20320">
            <a:solidFill>
              <a:srgbClr val="FFD21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3977639" y="5943600"/>
            <a:ext cx="1481328" cy="365760"/>
          </a:xfrm>
          <a:prstGeom prst="rect">
            <a:avLst/>
          </a:prstGeom>
          <a:noFill/>
        </p:spPr>
        <p:txBody>
          <a:bodyPr wrap="square" lIns="0" rIns="0" tIns="0" bIns="0" anchor="ctr">
            <a:spAutoFit/>
          </a:bodyPr>
          <a:lstStyle/>
          <a:p>
            <a:pPr algn="ctr">
              <a:lnSpc>
                <a:spcPct val="100000"/>
              </a:lnSpc>
              <a:spcBef>
                <a:spcPts val="0"/>
              </a:spcBef>
              <a:spcAft>
                <a:spcPts val="0"/>
              </a:spcAft>
            </a:pPr>
            <a:r>
              <a:rPr sz="1200" b="1" i="0">
                <a:solidFill>
                  <a:srgbClr val="FFD21A"/>
                </a:solidFill>
                <a:latin typeface="Segoe UI"/>
              </a:rPr>
              <a:t>Questions?</a:t>
            </a:r>
          </a:p>
        </p:txBody>
      </p:sp>
      <p:sp>
        <p:nvSpPr>
          <p:cNvPr id="47" name="TextBox 46"/>
          <p:cNvSpPr txBox="1"/>
          <p:nvPr/>
        </p:nvSpPr>
        <p:spPr>
          <a:xfrm>
            <a:off x="502920" y="6492240"/>
            <a:ext cx="7315200" cy="237744"/>
          </a:xfrm>
          <a:prstGeom prst="rect">
            <a:avLst/>
          </a:prstGeom>
          <a:noFill/>
        </p:spPr>
        <p:txBody>
          <a:bodyPr wrap="square" lIns="0" rIns="0" tIns="0" bIns="0" anchor="t">
            <a:spAutoFit/>
          </a:bodyPr>
          <a:lstStyle/>
          <a:p>
            <a:pPr algn="l">
              <a:lnSpc>
                <a:spcPct val="100000"/>
              </a:lnSpc>
              <a:spcBef>
                <a:spcPts val="0"/>
              </a:spcBef>
              <a:spcAft>
                <a:spcPts val="0"/>
              </a:spcAft>
            </a:pPr>
            <a:r>
              <a:rPr sz="850" b="0" i="0">
                <a:solidFill>
                  <a:srgbClr val="FFFFFF"/>
                </a:solidFill>
                <a:latin typeface="Segoe UI"/>
              </a:rPr>
              <a:t>CareRoute — Emergency Bed Coordination System   ·   Team Tech Head</a:t>
            </a:r>
          </a:p>
        </p:txBody>
      </p:sp>
      <p:sp>
        <p:nvSpPr>
          <p:cNvPr id="48" name="TextBox 47"/>
          <p:cNvSpPr txBox="1"/>
          <p:nvPr/>
        </p:nvSpPr>
        <p:spPr>
          <a:xfrm>
            <a:off x="10378440" y="6492240"/>
            <a:ext cx="1307592" cy="237744"/>
          </a:xfrm>
          <a:prstGeom prst="rect">
            <a:avLst/>
          </a:prstGeom>
          <a:noFill/>
        </p:spPr>
        <p:txBody>
          <a:bodyPr wrap="square" lIns="0" rIns="0" tIns="0" bIns="0" anchor="t">
            <a:spAutoFit/>
          </a:bodyPr>
          <a:lstStyle/>
          <a:p>
            <a:pPr algn="r">
              <a:lnSpc>
                <a:spcPct val="100000"/>
              </a:lnSpc>
              <a:spcBef>
                <a:spcPts val="0"/>
              </a:spcBef>
              <a:spcAft>
                <a:spcPts val="0"/>
              </a:spcAft>
            </a:pPr>
            <a:r>
              <a:rPr sz="850" b="1" i="0">
                <a:solidFill>
                  <a:srgbClr val="FFFFFF"/>
                </a:solidFill>
                <a:latin typeface="Segoe UI"/>
              </a:rP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